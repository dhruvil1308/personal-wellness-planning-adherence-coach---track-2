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7211C"/>
                </a:solidFill>
                <a:latin typeface="Arial"/>
              </a:defRPr>
            </a:pPr>
            <a:r>
              <a:rPr sz="1200" b="0" i="0" u="none" strike="noStrike">
                <a:solidFill>
                  <a:srgbClr val="17211C"/>
                </a:solidFill>
                <a:latin typeface="Arial"/>
              </a:rPr>
              <a:t>Daily adherence — one bar per planned day</a:t>
            </a:r>
          </a:p>
        </c:rich>
      </c:tx>
      <c:layout/>
      <c:overlay val="0"/>
    </c:title>
    <c:autoTitleDeleted val="0"/>
    <c:plotArea>
      <c:layout/>
      <c:barChart>
        <c:barDir val="col"/>
        <c:grouping val="clustered"/>
        <c:varyColors val="0"/>
        <c:ser>
          <c:idx val="0"/>
          <c:order val="0"/>
          <c:tx>
            <c:strRef>
              <c:f>Sheet1!$B$1</c:f>
              <c:strCache>
                <c:ptCount val="1"/>
                <c:pt idx="0">
                  <c:v>Adherence</c:v>
                </c:pt>
              </c:strCache>
            </c:strRef>
          </c:tx>
          <c:spPr>
            <a:solidFill>
              <a:srgbClr val="B4452F"/>
            </a:solidFill>
            <a:effectLst/>
          </c:spPr>
          <c:invertIfNegative val="0"/>
          <c:dLbls>
            <c:numFmt formatCode="#,##0" sourceLinked="0"/>
            <c:txPr>
              <a:bodyPr/>
              <a:lstStyle/>
              <a:p>
                <a:pPr>
                  <a:defRPr b="0" i="0" strike="noStrike" sz="900" u="none">
                    <a:solidFill>
                      <a:srgbClr val="64726A"/>
                    </a:solidFill>
                    <a:latin typeface="Arial"/>
                  </a:defRPr>
                </a:pPr>
              </a:p>
            </c:txPr>
            <c:showLegendKey val="0"/>
            <c:showVal val="1"/>
            <c:showCatName val="0"/>
            <c:showSerName val="0"/>
            <c:showPercent val="0"/>
            <c:showBubbleSize val="0"/>
            <c:showLeaderLines val="0"/>
          </c:dLbls>
          <c:dPt>
            <c:idx val="0"/>
            <c:invertIfNegative val="0"/>
            <c:bubble3D val="0"/>
            <c:spPr>
              <a:solidFill>
                <a:srgbClr val="B4452F"/>
              </a:solidFill>
              <a:effectLst/>
            </c:spPr>
          </c:dPt>
          <c:dPt>
            <c:idx val="1"/>
            <c:invertIfNegative val="0"/>
            <c:bubble3D val="0"/>
            <c:spPr>
              <a:solidFill>
                <a:srgbClr val="B4452F"/>
              </a:solidFill>
              <a:effectLst/>
            </c:spPr>
          </c:dPt>
          <c:dPt>
            <c:idx val="2"/>
            <c:invertIfNegative val="0"/>
            <c:bubble3D val="0"/>
            <c:spPr>
              <a:solidFill>
                <a:srgbClr val="B4452F"/>
              </a:solidFill>
              <a:effectLst/>
            </c:spPr>
          </c:dPt>
          <c:dPt>
            <c:idx val="3"/>
            <c:invertIfNegative val="0"/>
            <c:bubble3D val="0"/>
            <c:spPr>
              <a:solidFill>
                <a:srgbClr val="9A6A17"/>
              </a:solidFill>
              <a:effectLst/>
            </c:spPr>
          </c:dPt>
          <c:dPt>
            <c:idx val="4"/>
            <c:invertIfNegative val="0"/>
            <c:bubble3D val="0"/>
            <c:spPr>
              <a:solidFill>
                <a:srgbClr val="1F6F4A"/>
              </a:solidFill>
              <a:effectLst/>
            </c:spPr>
          </c:dPt>
          <c:cat>
            <c:multiLvlStrRef>
              <c:f>Sheet1!$A$2:$A$6</c:f>
              <c:multiLvlStrCache>
                <c:ptCount val="5"/>
                <c:lvl>
                  <c:pt idx="0">
                    <c:v>Thu</c:v>
                  </c:pt>
                  <c:pt idx="1">
                    <c:v>Fri</c:v>
                  </c:pt>
                  <c:pt idx="2">
                    <c:v>Sat</c:v>
                  </c:pt>
                  <c:pt idx="3">
                    <c:v>Sun</c:v>
                  </c:pt>
                  <c:pt idx="4">
                    <c:v>Mon</c:v>
                  </c:pt>
                </c:lvl>
              </c:multiLvlStrCache>
            </c:multiLvlStrRef>
          </c:cat>
          <c:val>
            <c:numRef>
              <c:f>Sheet1!$B$2:$B$6</c:f>
              <c:numCache>
                <c:formatCode>General</c:formatCode>
                <c:ptCount val="5"/>
                <c:pt idx="0">
                  <c:v>41</c:v>
                </c:pt>
                <c:pt idx="1">
                  <c:v>43</c:v>
                </c:pt>
                <c:pt idx="2">
                  <c:v>22</c:v>
                </c:pt>
                <c:pt idx="3">
                  <c:v>68</c:v>
                </c:pt>
                <c:pt idx="4">
                  <c:v>86</c:v>
                </c:pt>
              </c:numCache>
            </c:numRef>
          </c:val>
        </c:ser>
        <c:dLbls>
          <c:numFmt formatCode="#,##0" sourceLinked="0"/>
          <c:txPr>
            <a:bodyPr/>
            <a:lstStyle/>
            <a:p>
              <a:pPr>
                <a:defRPr b="0" i="0" strike="noStrike" sz="900" u="none">
                  <a:solidFill>
                    <a:srgbClr val="64726A"/>
                  </a:solidFill>
                  <a:latin typeface="Arial"/>
                </a:defRPr>
              </a:pPr>
            </a:p>
          </c:txPr>
          <c:showLegendKey val="0"/>
          <c:showVal val="1"/>
          <c:showCatName val="0"/>
          <c:showSerName val="0"/>
          <c:showPercent val="0"/>
          <c:showBubbleSize val="0"/>
          <c:showLeaderLines val="0"/>
        </c:dLbls>
        <c:gapWidth val="12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64726A"/>
                </a:solidFill>
                <a:latin typeface="Arial"/>
              </a:defRPr>
            </a:pPr>
            <a:endParaRPr lang="en-US"/>
          </a:p>
        </c:txPr>
        <c:crossAx val="2094734552"/>
        <c:crosses val="autoZero"/>
        <c:auto val="1"/>
        <c:lblAlgn val="ctr"/>
        <c:noMultiLvlLbl val="1"/>
      </c:catAx>
      <c:valAx>
        <c:axId val="2094734552"/>
        <c:scaling>
          <c:orientation val="minMax"/>
          <c:max val="10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64726A"/>
                </a:solidFill>
                <a:latin typeface="Arial"/>
              </a:defRPr>
            </a:pPr>
            <a:endParaRPr lang="en-US"/>
          </a:p>
        </c:txPr>
        <c:crossAx val="2094734554"/>
        <c:crosses val="autoZero"/>
        <c:crossBetween val="between"/>
        <c:majorUnit val="25"/>
      </c:valAx>
      <c:spPr>
        <a:solidFill>
          <a:srgbClr val="FFFFFF"/>
        </a:solidFill>
        <a:ln w="12700" cap="flat">
          <a:solidFill>
            <a:srgbClr val="E2E6D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D28"/>
        </a:solidFill>
      </p:bgPr>
    </p:bg>
    <p:spTree>
      <p:nvGrpSpPr>
        <p:cNvPr id="1" name=""/>
        <p:cNvGrpSpPr/>
        <p:nvPr/>
      </p:nvGrpSpPr>
      <p:grpSpPr>
        <a:xfrm>
          <a:off x="0" y="0"/>
          <a:ext cx="0" cy="0"/>
          <a:chOff x="0" y="0"/>
          <a:chExt cx="0" cy="0"/>
        </a:xfrm>
      </p:grpSpPr>
      <p:sp>
        <p:nvSpPr>
          <p:cNvPr id="2" name="Shape 0"/>
          <p:cNvSpPr/>
          <p:nvPr/>
        </p:nvSpPr>
        <p:spPr>
          <a:xfrm>
            <a:off x="7863840" y="-2011680"/>
            <a:ext cx="6949440" cy="6949440"/>
          </a:xfrm>
          <a:prstGeom prst="ellipse">
            <a:avLst/>
          </a:prstGeom>
          <a:solidFill>
            <a:srgbClr val="1F6F4A"/>
          </a:solidFill>
          <a:ln w="12700">
            <a:solidFill>
              <a:srgbClr val="333333"/>
            </a:solidFill>
            <a:prstDash val="solid"/>
          </a:ln>
        </p:spPr>
      </p:sp>
      <p:sp>
        <p:nvSpPr>
          <p:cNvPr id="3" name="Shape 1"/>
          <p:cNvSpPr/>
          <p:nvPr/>
        </p:nvSpPr>
        <p:spPr>
          <a:xfrm>
            <a:off x="9235440" y="2651760"/>
            <a:ext cx="5120640" cy="5120640"/>
          </a:xfrm>
          <a:prstGeom prst="ellipse">
            <a:avLst/>
          </a:prstGeom>
          <a:solidFill>
            <a:srgbClr val="17573A"/>
          </a:solidFill>
          <a:ln w="12700">
            <a:solidFill>
              <a:srgbClr val="333333"/>
            </a:solidFill>
            <a:prstDash val="solid"/>
          </a:ln>
        </p:spPr>
      </p:sp>
      <p:sp>
        <p:nvSpPr>
          <p:cNvPr id="4" name="Shape 2"/>
          <p:cNvSpPr/>
          <p:nvPr/>
        </p:nvSpPr>
        <p:spPr>
          <a:xfrm>
            <a:off x="7699248" y="1170432"/>
            <a:ext cx="310896" cy="310896"/>
          </a:xfrm>
          <a:prstGeom prst="ellipse">
            <a:avLst/>
          </a:prstGeom>
          <a:solidFill>
            <a:srgbClr val="E8F2EC"/>
          </a:solidFill>
          <a:ln w="12700">
            <a:solidFill>
              <a:srgbClr val="333333"/>
            </a:solidFill>
            <a:prstDash val="solid"/>
          </a:ln>
        </p:spPr>
      </p:sp>
      <p:sp>
        <p:nvSpPr>
          <p:cNvPr id="5" name="Text 3"/>
          <p:cNvSpPr/>
          <p:nvPr/>
        </p:nvSpPr>
        <p:spPr>
          <a:xfrm>
            <a:off x="777240" y="1051560"/>
            <a:ext cx="8229600" cy="274320"/>
          </a:xfrm>
          <a:prstGeom prst="rect">
            <a:avLst/>
          </a:prstGeom>
          <a:noFill/>
          <a:ln/>
        </p:spPr>
        <p:txBody>
          <a:bodyPr wrap="square" rtlCol="0" anchor="t"/>
          <a:lstStyle/>
          <a:p>
            <a:pPr indent="0" marL="0">
              <a:buNone/>
            </a:pPr>
            <a:r>
              <a:rPr lang="en-US" sz="1200" b="1" spc="180" kern="0" dirty="0">
                <a:solidFill>
                  <a:srgbClr val="9FD3B8"/>
                </a:solidFill>
                <a:latin typeface="Segoe UI" pitchFamily="34" charset="0"/>
                <a:ea typeface="Segoe UI" pitchFamily="34" charset="-122"/>
                <a:cs typeface="Segoe UI" pitchFamily="34" charset="-120"/>
              </a:rPr>
              <a:t>HACK THE STACK  ·  AUGUST 2026  ·  TRACK 2</a:t>
            </a:r>
            <a:endParaRPr lang="en-US" sz="1200" dirty="0"/>
          </a:p>
        </p:txBody>
      </p:sp>
      <p:sp>
        <p:nvSpPr>
          <p:cNvPr id="6" name="Text 4"/>
          <p:cNvSpPr/>
          <p:nvPr/>
        </p:nvSpPr>
        <p:spPr>
          <a:xfrm>
            <a:off x="731520" y="1481328"/>
            <a:ext cx="8412480" cy="1051560"/>
          </a:xfrm>
          <a:prstGeom prst="rect">
            <a:avLst/>
          </a:prstGeom>
          <a:noFill/>
          <a:ln/>
        </p:spPr>
        <p:txBody>
          <a:bodyPr wrap="square" rtlCol="0" anchor="t"/>
          <a:lstStyle/>
          <a:p>
            <a:pPr indent="0" marL="0">
              <a:buNone/>
            </a:pPr>
            <a:r>
              <a:rPr lang="en-US" sz="6000" b="1" dirty="0">
                <a:solidFill>
                  <a:srgbClr val="FFFFFF"/>
                </a:solidFill>
                <a:latin typeface="Segoe UI" pitchFamily="34" charset="0"/>
                <a:ea typeface="Segoe UI" pitchFamily="34" charset="-122"/>
                <a:cs typeface="Segoe UI" pitchFamily="34" charset="-120"/>
              </a:rPr>
              <a:t>WellPath AI</a:t>
            </a:r>
            <a:endParaRPr lang="en-US" sz="6000" dirty="0"/>
          </a:p>
        </p:txBody>
      </p:sp>
      <p:sp>
        <p:nvSpPr>
          <p:cNvPr id="7" name="Text 5"/>
          <p:cNvSpPr/>
          <p:nvPr/>
        </p:nvSpPr>
        <p:spPr>
          <a:xfrm>
            <a:off x="749808" y="2487168"/>
            <a:ext cx="8412480" cy="457200"/>
          </a:xfrm>
          <a:prstGeom prst="rect">
            <a:avLst/>
          </a:prstGeom>
          <a:noFill/>
          <a:ln/>
        </p:spPr>
        <p:txBody>
          <a:bodyPr wrap="square" rtlCol="0" anchor="t"/>
          <a:lstStyle/>
          <a:p>
            <a:pPr indent="0" marL="0">
              <a:buNone/>
            </a:pPr>
            <a:r>
              <a:rPr lang="en-US" sz="2100" dirty="0">
                <a:solidFill>
                  <a:srgbClr val="C7E4D4"/>
                </a:solidFill>
                <a:latin typeface="Segoe UI" pitchFamily="34" charset="0"/>
                <a:ea typeface="Segoe UI" pitchFamily="34" charset="-122"/>
                <a:cs typeface="Segoe UI" pitchFamily="34" charset="-120"/>
              </a:rPr>
              <a:t>Personal Wellness Planning &amp; Adherence Coach</a:t>
            </a:r>
            <a:endParaRPr lang="en-US" sz="2100" dirty="0"/>
          </a:p>
        </p:txBody>
      </p:sp>
      <p:sp>
        <p:nvSpPr>
          <p:cNvPr id="8" name="Shape 6"/>
          <p:cNvSpPr/>
          <p:nvPr/>
        </p:nvSpPr>
        <p:spPr>
          <a:xfrm>
            <a:off x="777240" y="3154680"/>
            <a:ext cx="1371600" cy="41148"/>
          </a:xfrm>
          <a:prstGeom prst="rect">
            <a:avLst/>
          </a:prstGeom>
          <a:solidFill>
            <a:srgbClr val="5FAE86"/>
          </a:solidFill>
          <a:ln w="12700">
            <a:solidFill>
              <a:srgbClr val="333333"/>
            </a:solidFill>
            <a:prstDash val="solid"/>
          </a:ln>
        </p:spPr>
      </p:sp>
      <p:sp>
        <p:nvSpPr>
          <p:cNvPr id="9" name="Text 7"/>
          <p:cNvSpPr/>
          <p:nvPr/>
        </p:nvSpPr>
        <p:spPr>
          <a:xfrm>
            <a:off x="749808" y="3429000"/>
            <a:ext cx="7680960" cy="914400"/>
          </a:xfrm>
          <a:prstGeom prst="rect">
            <a:avLst/>
          </a:prstGeom>
          <a:noFill/>
          <a:ln/>
        </p:spPr>
        <p:txBody>
          <a:bodyPr wrap="square" rtlCol="0" anchor="t"/>
          <a:lstStyle/>
          <a:p>
            <a:pPr indent="0" marL="0">
              <a:lnSpc>
                <a:spcPts val="2600"/>
              </a:lnSpc>
              <a:buNone/>
            </a:pPr>
            <a:r>
              <a:rPr lang="en-US" sz="1700" dirty="0">
                <a:solidFill>
                  <a:srgbClr val="FFFFFF"/>
                </a:solidFill>
                <a:latin typeface="Segoe UI" pitchFamily="34" charset="0"/>
                <a:ea typeface="Segoe UI" pitchFamily="34" charset="-122"/>
                <a:cs typeface="Segoe UI" pitchFamily="34" charset="-120"/>
              </a:rPr>
              <a:t>A plan that rewrites itself from what you actually did —</a:t>
            </a:r>
            <a:endParaRPr lang="en-US" sz="1700" dirty="0"/>
          </a:p>
          <a:p>
            <a:pPr indent="0" marL="0">
              <a:lnSpc>
                <a:spcPts val="2600"/>
              </a:lnSpc>
              <a:buNone/>
            </a:pPr>
            <a:r>
              <a:rPr lang="en-US" sz="1700" dirty="0">
                <a:solidFill>
                  <a:srgbClr val="FFFFFF"/>
                </a:solidFill>
                <a:latin typeface="Segoe UI" pitchFamily="34" charset="0"/>
                <a:ea typeface="Segoe UI" pitchFamily="34" charset="-122"/>
                <a:cs typeface="Segoe UI" pitchFamily="34" charset="-120"/>
              </a:rPr>
              <a:t>then phones you in Gujarati to make sure you do it.</a:t>
            </a:r>
            <a:endParaRPr lang="en-US" sz="1700" dirty="0"/>
          </a:p>
        </p:txBody>
      </p:sp>
      <p:sp>
        <p:nvSpPr>
          <p:cNvPr id="10" name="Shape 8"/>
          <p:cNvSpPr/>
          <p:nvPr/>
        </p:nvSpPr>
        <p:spPr>
          <a:xfrm>
            <a:off x="777240" y="4709160"/>
            <a:ext cx="1779422" cy="384048"/>
          </a:xfrm>
          <a:prstGeom prst="roundRect">
            <a:avLst>
              <a:gd name="adj" fmla="val 50000"/>
            </a:avLst>
          </a:prstGeom>
          <a:solidFill>
            <a:srgbClr val="17573A"/>
          </a:solidFill>
          <a:ln w="12700">
            <a:solidFill>
              <a:srgbClr val="3E8C63"/>
            </a:solidFill>
            <a:prstDash val="solid"/>
          </a:ln>
        </p:spPr>
      </p:sp>
      <p:sp>
        <p:nvSpPr>
          <p:cNvPr id="11" name="Text 9"/>
          <p:cNvSpPr/>
          <p:nvPr/>
        </p:nvSpPr>
        <p:spPr>
          <a:xfrm>
            <a:off x="777240" y="4786884"/>
            <a:ext cx="1779422" cy="237744"/>
          </a:xfrm>
          <a:prstGeom prst="rect">
            <a:avLst/>
          </a:prstGeom>
          <a:noFill/>
          <a:ln/>
        </p:spPr>
        <p:txBody>
          <a:bodyPr wrap="square" rtlCol="0" anchor="t"/>
          <a:lstStyle/>
          <a:p>
            <a:pPr algn="ctr" indent="0" marL="0">
              <a:buNone/>
            </a:pPr>
            <a:r>
              <a:rPr lang="en-US" sz="1100" dirty="0">
                <a:solidFill>
                  <a:srgbClr val="C7E4D4"/>
                </a:solidFill>
                <a:latin typeface="Segoe UI" pitchFamily="34" charset="0"/>
                <a:ea typeface="Segoe UI" pitchFamily="34" charset="-122"/>
                <a:cs typeface="Segoe UI" pitchFamily="34" charset="-120"/>
              </a:rPr>
              <a:t>Health &amp; Wellness</a:t>
            </a:r>
            <a:endParaRPr lang="en-US" sz="1100" dirty="0"/>
          </a:p>
        </p:txBody>
      </p:sp>
      <p:sp>
        <p:nvSpPr>
          <p:cNvPr id="12" name="Shape 10"/>
          <p:cNvSpPr/>
          <p:nvPr/>
        </p:nvSpPr>
        <p:spPr>
          <a:xfrm>
            <a:off x="2702966" y="4709160"/>
            <a:ext cx="1420978" cy="384048"/>
          </a:xfrm>
          <a:prstGeom prst="roundRect">
            <a:avLst>
              <a:gd name="adj" fmla="val 50000"/>
            </a:avLst>
          </a:prstGeom>
          <a:solidFill>
            <a:srgbClr val="17573A"/>
          </a:solidFill>
          <a:ln w="12700">
            <a:solidFill>
              <a:srgbClr val="3E8C63"/>
            </a:solidFill>
            <a:prstDash val="solid"/>
          </a:ln>
        </p:spPr>
      </p:sp>
      <p:sp>
        <p:nvSpPr>
          <p:cNvPr id="13" name="Text 11"/>
          <p:cNvSpPr/>
          <p:nvPr/>
        </p:nvSpPr>
        <p:spPr>
          <a:xfrm>
            <a:off x="2702966" y="4786884"/>
            <a:ext cx="1420978" cy="237744"/>
          </a:xfrm>
          <a:prstGeom prst="rect">
            <a:avLst/>
          </a:prstGeom>
          <a:noFill/>
          <a:ln/>
        </p:spPr>
        <p:txBody>
          <a:bodyPr wrap="square" rtlCol="0" anchor="t"/>
          <a:lstStyle/>
          <a:p>
            <a:pPr algn="ctr" indent="0" marL="0">
              <a:buNone/>
            </a:pPr>
            <a:r>
              <a:rPr lang="en-US" sz="1100" dirty="0">
                <a:solidFill>
                  <a:srgbClr val="C7E4D4"/>
                </a:solidFill>
                <a:latin typeface="Segoe UI" pitchFamily="34" charset="0"/>
                <a:ea typeface="Segoe UI" pitchFamily="34" charset="-122"/>
                <a:cs typeface="Segoe UI" pitchFamily="34" charset="-120"/>
              </a:rPr>
              <a:t>Social Impact</a:t>
            </a:r>
            <a:endParaRPr lang="en-US" sz="1100" dirty="0"/>
          </a:p>
        </p:txBody>
      </p:sp>
      <p:sp>
        <p:nvSpPr>
          <p:cNvPr id="14" name="Shape 12"/>
          <p:cNvSpPr/>
          <p:nvPr/>
        </p:nvSpPr>
        <p:spPr>
          <a:xfrm>
            <a:off x="4270248" y="4709160"/>
            <a:ext cx="2496312" cy="384048"/>
          </a:xfrm>
          <a:prstGeom prst="roundRect">
            <a:avLst>
              <a:gd name="adj" fmla="val 50000"/>
            </a:avLst>
          </a:prstGeom>
          <a:solidFill>
            <a:srgbClr val="17573A"/>
          </a:solidFill>
          <a:ln w="12700">
            <a:solidFill>
              <a:srgbClr val="3E8C63"/>
            </a:solidFill>
            <a:prstDash val="solid"/>
          </a:ln>
        </p:spPr>
      </p:sp>
      <p:sp>
        <p:nvSpPr>
          <p:cNvPr id="15" name="Text 13"/>
          <p:cNvSpPr/>
          <p:nvPr/>
        </p:nvSpPr>
        <p:spPr>
          <a:xfrm>
            <a:off x="4270248" y="4786884"/>
            <a:ext cx="2496312" cy="237744"/>
          </a:xfrm>
          <a:prstGeom prst="rect">
            <a:avLst/>
          </a:prstGeom>
          <a:noFill/>
          <a:ln/>
        </p:spPr>
        <p:txBody>
          <a:bodyPr wrap="square" rtlCol="0" anchor="t"/>
          <a:lstStyle/>
          <a:p>
            <a:pPr algn="ctr" indent="0" marL="0">
              <a:buNone/>
            </a:pPr>
            <a:r>
              <a:rPr lang="en-US" sz="1100" dirty="0">
                <a:solidFill>
                  <a:srgbClr val="C7E4D4"/>
                </a:solidFill>
                <a:latin typeface="Segoe UI" pitchFamily="34" charset="0"/>
                <a:ea typeface="Segoe UI" pitchFamily="34" charset="-122"/>
                <a:cs typeface="Segoe UI" pitchFamily="34" charset="-120"/>
              </a:rPr>
              <a:t>Next.js · Prisma · SQLite</a:t>
            </a:r>
            <a:endParaRPr lang="en-US" sz="1100" dirty="0"/>
          </a:p>
        </p:txBody>
      </p:sp>
      <p:sp>
        <p:nvSpPr>
          <p:cNvPr id="16" name="Shape 14"/>
          <p:cNvSpPr/>
          <p:nvPr/>
        </p:nvSpPr>
        <p:spPr>
          <a:xfrm>
            <a:off x="6912864" y="4709160"/>
            <a:ext cx="2765146" cy="384048"/>
          </a:xfrm>
          <a:prstGeom prst="roundRect">
            <a:avLst>
              <a:gd name="adj" fmla="val 50000"/>
            </a:avLst>
          </a:prstGeom>
          <a:solidFill>
            <a:srgbClr val="17573A"/>
          </a:solidFill>
          <a:ln w="12700">
            <a:solidFill>
              <a:srgbClr val="3E8C63"/>
            </a:solidFill>
            <a:prstDash val="solid"/>
          </a:ln>
        </p:spPr>
      </p:sp>
      <p:sp>
        <p:nvSpPr>
          <p:cNvPr id="17" name="Text 15"/>
          <p:cNvSpPr/>
          <p:nvPr/>
        </p:nvSpPr>
        <p:spPr>
          <a:xfrm>
            <a:off x="6912864" y="4786884"/>
            <a:ext cx="2765146" cy="237744"/>
          </a:xfrm>
          <a:prstGeom prst="rect">
            <a:avLst/>
          </a:prstGeom>
          <a:noFill/>
          <a:ln/>
        </p:spPr>
        <p:txBody>
          <a:bodyPr wrap="square" rtlCol="0" anchor="t"/>
          <a:lstStyle/>
          <a:p>
            <a:pPr algn="ctr" indent="0" marL="0">
              <a:buNone/>
            </a:pPr>
            <a:r>
              <a:rPr lang="en-US" sz="1100" dirty="0">
                <a:solidFill>
                  <a:srgbClr val="C7E4D4"/>
                </a:solidFill>
                <a:latin typeface="Segoe UI" pitchFamily="34" charset="0"/>
                <a:ea typeface="Segoe UI" pitchFamily="34" charset="-122"/>
                <a:cs typeface="Segoe UI" pitchFamily="34" charset="-120"/>
              </a:rPr>
              <a:t>GPT-4o-mini · Sarvam · Vobiz</a:t>
            </a:r>
            <a:endParaRPr lang="en-US" sz="1100" dirty="0"/>
          </a:p>
        </p:txBody>
      </p:sp>
      <p:sp>
        <p:nvSpPr>
          <p:cNvPr id="18" name="Text 16"/>
          <p:cNvSpPr/>
          <p:nvPr/>
        </p:nvSpPr>
        <p:spPr>
          <a:xfrm>
            <a:off x="777240" y="5806440"/>
            <a:ext cx="9601200" cy="274320"/>
          </a:xfrm>
          <a:prstGeom prst="rect">
            <a:avLst/>
          </a:prstGeom>
          <a:noFill/>
          <a:ln/>
        </p:spPr>
        <p:txBody>
          <a:bodyPr wrap="square" rtlCol="0" anchor="t"/>
          <a:lstStyle/>
          <a:p>
            <a:pPr indent="0" marL="0">
              <a:buNone/>
            </a:pPr>
            <a:r>
              <a:rPr lang="en-US" sz="1150" b="1" dirty="0">
                <a:solidFill>
                  <a:srgbClr val="7FC2A0"/>
                </a:solidFill>
                <a:latin typeface="Segoe UI" pitchFamily="34" charset="0"/>
                <a:ea typeface="Segoe UI" pitchFamily="34" charset="-122"/>
                <a:cs typeface="Segoe UI" pitchFamily="34" charset="-120"/>
              </a:rPr>
              <a:t>GENERAL WELLNESS ONLY — no diagnosis, no medication, no substitute for a professional.</a:t>
            </a:r>
            <a:endParaRPr lang="en-US" sz="1150" dirty="0"/>
          </a:p>
        </p:txBody>
      </p:sp>
      <p:sp>
        <p:nvSpPr>
          <p:cNvPr id="19" name="Text 17"/>
          <p:cNvSpPr/>
          <p:nvPr/>
        </p:nvSpPr>
        <p:spPr>
          <a:xfrm>
            <a:off x="777240" y="6108192"/>
            <a:ext cx="9601200" cy="274320"/>
          </a:xfrm>
          <a:prstGeom prst="rect">
            <a:avLst/>
          </a:prstGeom>
          <a:noFill/>
          <a:ln/>
        </p:spPr>
        <p:txBody>
          <a:bodyPr wrap="square" rtlCol="0" anchor="t"/>
          <a:lstStyle/>
          <a:p>
            <a:pPr indent="0" marL="0">
              <a:buNone/>
            </a:pPr>
            <a:r>
              <a:rPr lang="en-US" sz="1050" dirty="0">
                <a:solidFill>
                  <a:srgbClr val="6BA588"/>
                </a:solidFill>
                <a:latin typeface="Segoe UI" pitchFamily="34" charset="0"/>
                <a:ea typeface="Segoe UI" pitchFamily="34" charset="-122"/>
                <a:cs typeface="Segoe UI" pitchFamily="34" charset="-120"/>
              </a:rPr>
              <a:t>github.com/Dhruvil1308/Personal-Wellness-Planning-Adherence-Coach---Track-2</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THE PROBLEM</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Good plans die at execution</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Generic diet and activity plans ignore the day the person is actually living.</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2</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691640"/>
            <a:ext cx="3456432" cy="2514600"/>
          </a:xfrm>
          <a:prstGeom prst="roundRect">
            <a:avLst>
              <a:gd name="adj" fmla="val 3273"/>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Shape 7"/>
          <p:cNvSpPr/>
          <p:nvPr/>
        </p:nvSpPr>
        <p:spPr>
          <a:xfrm>
            <a:off x="822960" y="1938528"/>
            <a:ext cx="50292" cy="402336"/>
          </a:xfrm>
          <a:prstGeom prst="roundRect">
            <a:avLst>
              <a:gd name="adj" fmla="val 909091"/>
            </a:avLst>
          </a:prstGeom>
          <a:solidFill>
            <a:srgbClr val="C2703B"/>
          </a:solidFill>
          <a:ln w="12700">
            <a:solidFill>
              <a:srgbClr val="333333"/>
            </a:solidFill>
            <a:prstDash val="solid"/>
          </a:ln>
        </p:spPr>
      </p:sp>
      <p:sp>
        <p:nvSpPr>
          <p:cNvPr id="10" name="Text 8"/>
          <p:cNvSpPr/>
          <p:nvPr/>
        </p:nvSpPr>
        <p:spPr>
          <a:xfrm>
            <a:off x="1024128" y="1920240"/>
            <a:ext cx="914400" cy="310896"/>
          </a:xfrm>
          <a:prstGeom prst="rect">
            <a:avLst/>
          </a:prstGeom>
          <a:noFill/>
          <a:ln/>
        </p:spPr>
        <p:txBody>
          <a:bodyPr wrap="square" rtlCol="0" anchor="t"/>
          <a:lstStyle/>
          <a:p>
            <a:pPr indent="0" marL="0">
              <a:buNone/>
            </a:pPr>
            <a:r>
              <a:rPr lang="en-US" sz="1500" b="1" dirty="0">
                <a:solidFill>
                  <a:srgbClr val="C2703B"/>
                </a:solidFill>
                <a:latin typeface="Segoe UI" pitchFamily="34" charset="0"/>
                <a:ea typeface="Segoe UI" pitchFamily="34" charset="-122"/>
                <a:cs typeface="Segoe UI" pitchFamily="34" charset="-120"/>
              </a:rPr>
              <a:t>01</a:t>
            </a:r>
            <a:endParaRPr lang="en-US" sz="1500" dirty="0"/>
          </a:p>
        </p:txBody>
      </p:sp>
      <p:sp>
        <p:nvSpPr>
          <p:cNvPr id="11" name="Text 9"/>
          <p:cNvSpPr/>
          <p:nvPr/>
        </p:nvSpPr>
        <p:spPr>
          <a:xfrm>
            <a:off x="822960" y="2450592"/>
            <a:ext cx="2971800" cy="566928"/>
          </a:xfrm>
          <a:prstGeom prst="rect">
            <a:avLst/>
          </a:prstGeom>
          <a:noFill/>
          <a:ln/>
        </p:spPr>
        <p:txBody>
          <a:bodyPr wrap="square" rtlCol="0" anchor="t"/>
          <a:lstStyle/>
          <a:p>
            <a:pPr indent="0" marL="0">
              <a:buNone/>
            </a:pPr>
            <a:r>
              <a:rPr lang="en-US" sz="1650" b="1" dirty="0">
                <a:solidFill>
                  <a:srgbClr val="17211C"/>
                </a:solidFill>
                <a:latin typeface="Segoe UI" pitchFamily="34" charset="0"/>
                <a:ea typeface="Segoe UI" pitchFamily="34" charset="-122"/>
                <a:cs typeface="Segoe UI" pitchFamily="34" charset="-120"/>
              </a:rPr>
              <a:t>The plan ignores the person</a:t>
            </a:r>
            <a:endParaRPr lang="en-US" sz="1650" dirty="0"/>
          </a:p>
        </p:txBody>
      </p:sp>
      <p:sp>
        <p:nvSpPr>
          <p:cNvPr id="12" name="Text 10"/>
          <p:cNvSpPr/>
          <p:nvPr/>
        </p:nvSpPr>
        <p:spPr>
          <a:xfrm>
            <a:off x="822960" y="3035808"/>
            <a:ext cx="2971800" cy="1097280"/>
          </a:xfrm>
          <a:prstGeom prst="rect">
            <a:avLst/>
          </a:prstGeom>
          <a:noFill/>
          <a:ln/>
        </p:spPr>
        <p:txBody>
          <a:bodyPr wrap="square" rtlCol="0" anchor="t"/>
          <a:lstStyle/>
          <a:p>
            <a:pPr indent="0" marL="0">
              <a:lnSpc>
                <a:spcPts val="1700"/>
              </a:lnSpc>
              <a:buNone/>
            </a:pPr>
            <a:r>
              <a:rPr lang="en-US" sz="1180" dirty="0">
                <a:solidFill>
                  <a:srgbClr val="64726A"/>
                </a:solidFill>
                <a:latin typeface="Segoe UI" pitchFamily="34" charset="0"/>
                <a:ea typeface="Segoe UI" pitchFamily="34" charset="-122"/>
                <a:cs typeface="Segoe UI" pitchFamily="34" charset="-120"/>
              </a:rPr>
              <a:t>Age, schedule, cuisine, allergies, a bad knee, 25 free minutes — none of it reaches a generic plan. So it never fits, and it gets abandoned in week one.</a:t>
            </a:r>
            <a:endParaRPr lang="en-US" sz="1180" dirty="0"/>
          </a:p>
        </p:txBody>
      </p:sp>
      <p:sp>
        <p:nvSpPr>
          <p:cNvPr id="13" name="Shape 11"/>
          <p:cNvSpPr/>
          <p:nvPr/>
        </p:nvSpPr>
        <p:spPr>
          <a:xfrm>
            <a:off x="4279392" y="1691640"/>
            <a:ext cx="3456432" cy="2514600"/>
          </a:xfrm>
          <a:prstGeom prst="roundRect">
            <a:avLst>
              <a:gd name="adj" fmla="val 3273"/>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4" name="Shape 12"/>
          <p:cNvSpPr/>
          <p:nvPr/>
        </p:nvSpPr>
        <p:spPr>
          <a:xfrm>
            <a:off x="4535424" y="1938528"/>
            <a:ext cx="50292" cy="402336"/>
          </a:xfrm>
          <a:prstGeom prst="roundRect">
            <a:avLst>
              <a:gd name="adj" fmla="val 909091"/>
            </a:avLst>
          </a:prstGeom>
          <a:solidFill>
            <a:srgbClr val="2B7FA8"/>
          </a:solidFill>
          <a:ln w="12700">
            <a:solidFill>
              <a:srgbClr val="333333"/>
            </a:solidFill>
            <a:prstDash val="solid"/>
          </a:ln>
        </p:spPr>
      </p:sp>
      <p:sp>
        <p:nvSpPr>
          <p:cNvPr id="15" name="Text 13"/>
          <p:cNvSpPr/>
          <p:nvPr/>
        </p:nvSpPr>
        <p:spPr>
          <a:xfrm>
            <a:off x="4736592" y="1920240"/>
            <a:ext cx="914400" cy="310896"/>
          </a:xfrm>
          <a:prstGeom prst="rect">
            <a:avLst/>
          </a:prstGeom>
          <a:noFill/>
          <a:ln/>
        </p:spPr>
        <p:txBody>
          <a:bodyPr wrap="square" rtlCol="0" anchor="t"/>
          <a:lstStyle/>
          <a:p>
            <a:pPr indent="0" marL="0">
              <a:buNone/>
            </a:pPr>
            <a:r>
              <a:rPr lang="en-US" sz="1500" b="1" dirty="0">
                <a:solidFill>
                  <a:srgbClr val="2B7FA8"/>
                </a:solidFill>
                <a:latin typeface="Segoe UI" pitchFamily="34" charset="0"/>
                <a:ea typeface="Segoe UI" pitchFamily="34" charset="-122"/>
                <a:cs typeface="Segoe UI" pitchFamily="34" charset="-120"/>
              </a:rPr>
              <a:t>02</a:t>
            </a:r>
            <a:endParaRPr lang="en-US" sz="1500" dirty="0"/>
          </a:p>
        </p:txBody>
      </p:sp>
      <p:sp>
        <p:nvSpPr>
          <p:cNvPr id="16" name="Text 14"/>
          <p:cNvSpPr/>
          <p:nvPr/>
        </p:nvSpPr>
        <p:spPr>
          <a:xfrm>
            <a:off x="4535424" y="2450592"/>
            <a:ext cx="2971800" cy="566928"/>
          </a:xfrm>
          <a:prstGeom prst="rect">
            <a:avLst/>
          </a:prstGeom>
          <a:noFill/>
          <a:ln/>
        </p:spPr>
        <p:txBody>
          <a:bodyPr wrap="square" rtlCol="0" anchor="t"/>
          <a:lstStyle/>
          <a:p>
            <a:pPr indent="0" marL="0">
              <a:buNone/>
            </a:pPr>
            <a:r>
              <a:rPr lang="en-US" sz="1650" b="1" dirty="0">
                <a:solidFill>
                  <a:srgbClr val="17211C"/>
                </a:solidFill>
                <a:latin typeface="Segoe UI" pitchFamily="34" charset="0"/>
                <a:ea typeface="Segoe UI" pitchFamily="34" charset="-122"/>
                <a:cs typeface="Segoe UI" pitchFamily="34" charset="-120"/>
              </a:rPr>
              <a:t>Execution is invisible</a:t>
            </a:r>
            <a:endParaRPr lang="en-US" sz="1650" dirty="0"/>
          </a:p>
        </p:txBody>
      </p:sp>
      <p:sp>
        <p:nvSpPr>
          <p:cNvPr id="17" name="Text 15"/>
          <p:cNvSpPr/>
          <p:nvPr/>
        </p:nvSpPr>
        <p:spPr>
          <a:xfrm>
            <a:off x="4535424" y="3035808"/>
            <a:ext cx="2971800" cy="1097280"/>
          </a:xfrm>
          <a:prstGeom prst="rect">
            <a:avLst/>
          </a:prstGeom>
          <a:noFill/>
          <a:ln/>
        </p:spPr>
        <p:txBody>
          <a:bodyPr wrap="square" rtlCol="0" anchor="t"/>
          <a:lstStyle/>
          <a:p>
            <a:pPr indent="0" marL="0">
              <a:lnSpc>
                <a:spcPts val="1700"/>
              </a:lnSpc>
              <a:buNone/>
            </a:pPr>
            <a:r>
              <a:rPr lang="en-US" sz="1180" dirty="0">
                <a:solidFill>
                  <a:srgbClr val="64726A"/>
                </a:solidFill>
                <a:latin typeface="Segoe UI" pitchFamily="34" charset="0"/>
                <a:ea typeface="Segoe UI" pitchFamily="34" charset="-122"/>
                <a:cs typeface="Segoe UI" pitchFamily="34" charset="-120"/>
              </a:rPr>
              <a:t>Nobody records what was actually eaten, drunk or skipped. Without that record there is no honest signal — only a plan and a vague sense of failure.</a:t>
            </a:r>
            <a:endParaRPr lang="en-US" sz="1180" dirty="0"/>
          </a:p>
        </p:txBody>
      </p:sp>
      <p:sp>
        <p:nvSpPr>
          <p:cNvPr id="18" name="Shape 16"/>
          <p:cNvSpPr/>
          <p:nvPr/>
        </p:nvSpPr>
        <p:spPr>
          <a:xfrm>
            <a:off x="7991856" y="1691640"/>
            <a:ext cx="3456432" cy="2514600"/>
          </a:xfrm>
          <a:prstGeom prst="roundRect">
            <a:avLst>
              <a:gd name="adj" fmla="val 3273"/>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9" name="Shape 17"/>
          <p:cNvSpPr/>
          <p:nvPr/>
        </p:nvSpPr>
        <p:spPr>
          <a:xfrm>
            <a:off x="8247888" y="1938528"/>
            <a:ext cx="50292" cy="402336"/>
          </a:xfrm>
          <a:prstGeom prst="roundRect">
            <a:avLst>
              <a:gd name="adj" fmla="val 909091"/>
            </a:avLst>
          </a:prstGeom>
          <a:solidFill>
            <a:srgbClr val="9C3F6D"/>
          </a:solidFill>
          <a:ln w="12700">
            <a:solidFill>
              <a:srgbClr val="333333"/>
            </a:solidFill>
            <a:prstDash val="solid"/>
          </a:ln>
        </p:spPr>
      </p:sp>
      <p:sp>
        <p:nvSpPr>
          <p:cNvPr id="20" name="Text 18"/>
          <p:cNvSpPr/>
          <p:nvPr/>
        </p:nvSpPr>
        <p:spPr>
          <a:xfrm>
            <a:off x="8449056" y="1920240"/>
            <a:ext cx="914400" cy="310896"/>
          </a:xfrm>
          <a:prstGeom prst="rect">
            <a:avLst/>
          </a:prstGeom>
          <a:noFill/>
          <a:ln/>
        </p:spPr>
        <p:txBody>
          <a:bodyPr wrap="square" rtlCol="0" anchor="t"/>
          <a:lstStyle/>
          <a:p>
            <a:pPr indent="0" marL="0">
              <a:buNone/>
            </a:pPr>
            <a:r>
              <a:rPr lang="en-US" sz="1500" b="1" dirty="0">
                <a:solidFill>
                  <a:srgbClr val="9C3F6D"/>
                </a:solidFill>
                <a:latin typeface="Segoe UI" pitchFamily="34" charset="0"/>
                <a:ea typeface="Segoe UI" pitchFamily="34" charset="-122"/>
                <a:cs typeface="Segoe UI" pitchFamily="34" charset="-120"/>
              </a:rPr>
              <a:t>03</a:t>
            </a:r>
            <a:endParaRPr lang="en-US" sz="1500" dirty="0"/>
          </a:p>
        </p:txBody>
      </p:sp>
      <p:sp>
        <p:nvSpPr>
          <p:cNvPr id="21" name="Text 19"/>
          <p:cNvSpPr/>
          <p:nvPr/>
        </p:nvSpPr>
        <p:spPr>
          <a:xfrm>
            <a:off x="8247888" y="2450592"/>
            <a:ext cx="2971800" cy="566928"/>
          </a:xfrm>
          <a:prstGeom prst="rect">
            <a:avLst/>
          </a:prstGeom>
          <a:noFill/>
          <a:ln/>
        </p:spPr>
        <p:txBody>
          <a:bodyPr wrap="square" rtlCol="0" anchor="t"/>
          <a:lstStyle/>
          <a:p>
            <a:pPr indent="0" marL="0">
              <a:buNone/>
            </a:pPr>
            <a:r>
              <a:rPr lang="en-US" sz="1650" b="1" dirty="0">
                <a:solidFill>
                  <a:srgbClr val="17211C"/>
                </a:solidFill>
                <a:latin typeface="Segoe UI" pitchFamily="34" charset="0"/>
                <a:ea typeface="Segoe UI" pitchFamily="34" charset="-122"/>
                <a:cs typeface="Segoe UI" pitchFamily="34" charset="-120"/>
              </a:rPr>
              <a:t>Nothing ever adapts</a:t>
            </a:r>
            <a:endParaRPr lang="en-US" sz="1650" dirty="0"/>
          </a:p>
        </p:txBody>
      </p:sp>
      <p:sp>
        <p:nvSpPr>
          <p:cNvPr id="22" name="Text 20"/>
          <p:cNvSpPr/>
          <p:nvPr/>
        </p:nvSpPr>
        <p:spPr>
          <a:xfrm>
            <a:off x="8247888" y="3035808"/>
            <a:ext cx="2971800" cy="1097280"/>
          </a:xfrm>
          <a:prstGeom prst="rect">
            <a:avLst/>
          </a:prstGeom>
          <a:noFill/>
          <a:ln/>
        </p:spPr>
        <p:txBody>
          <a:bodyPr wrap="square" rtlCol="0" anchor="t"/>
          <a:lstStyle/>
          <a:p>
            <a:pPr indent="0" marL="0">
              <a:lnSpc>
                <a:spcPts val="1700"/>
              </a:lnSpc>
              <a:buNone/>
            </a:pPr>
            <a:r>
              <a:rPr lang="en-US" sz="1180" dirty="0">
                <a:solidFill>
                  <a:srgbClr val="64726A"/>
                </a:solidFill>
                <a:latin typeface="Segoe UI" pitchFamily="34" charset="0"/>
                <a:ea typeface="Segoe UI" pitchFamily="34" charset="-122"/>
                <a:cs typeface="Segoe UI" pitchFamily="34" charset="-120"/>
              </a:rPr>
              <a:t>The 6 a.m. workout you have skipped four times is on the plan again tomorrow. The plan does not learn, so the same item keeps failing.</a:t>
            </a:r>
            <a:endParaRPr lang="en-US" sz="1180" dirty="0"/>
          </a:p>
        </p:txBody>
      </p:sp>
      <p:sp>
        <p:nvSpPr>
          <p:cNvPr id="23" name="Shape 21"/>
          <p:cNvSpPr/>
          <p:nvPr/>
        </p:nvSpPr>
        <p:spPr>
          <a:xfrm>
            <a:off x="566928" y="4498848"/>
            <a:ext cx="11064240" cy="1417320"/>
          </a:xfrm>
          <a:prstGeom prst="roundRect">
            <a:avLst>
              <a:gd name="adj" fmla="val 5806"/>
            </a:avLst>
          </a:prstGeom>
          <a:solidFill>
            <a:srgbClr val="E8F2EC"/>
          </a:solidFill>
          <a:ln w="12700">
            <a:solidFill>
              <a:srgbClr val="E8F2EC"/>
            </a:solidFill>
            <a:prstDash val="solid"/>
          </a:ln>
          <a:effectLst>
            <a:outerShdw sx="100000" sy="100000" kx="0" ky="0" algn="bl" rotWithShape="0" blurRad="101600" dist="50800" dir="16200000">
              <a:srgbClr val="000000">
                <a:alpha val="75000"/>
              </a:srgbClr>
            </a:outerShdw>
          </a:effectLst>
        </p:spPr>
      </p:sp>
      <p:sp>
        <p:nvSpPr>
          <p:cNvPr id="24" name="Text 22"/>
          <p:cNvSpPr/>
          <p:nvPr/>
        </p:nvSpPr>
        <p:spPr>
          <a:xfrm>
            <a:off x="914400" y="4709160"/>
            <a:ext cx="10424160" cy="365760"/>
          </a:xfrm>
          <a:prstGeom prst="rect">
            <a:avLst/>
          </a:prstGeom>
          <a:noFill/>
          <a:ln/>
        </p:spPr>
        <p:txBody>
          <a:bodyPr wrap="square" rtlCol="0" anchor="t"/>
          <a:lstStyle/>
          <a:p>
            <a:pPr indent="0" marL="0">
              <a:buNone/>
            </a:pPr>
            <a:r>
              <a:rPr lang="en-US" sz="1700" b="1" dirty="0">
                <a:solidFill>
                  <a:srgbClr val="0F3D28"/>
                </a:solidFill>
                <a:latin typeface="Segoe UI" pitchFamily="34" charset="0"/>
                <a:ea typeface="Segoe UI" pitchFamily="34" charset="-122"/>
                <a:cs typeface="Segoe UI" pitchFamily="34" charset="-120"/>
              </a:rPr>
              <a:t>So the real problem is not the plan. It is the loop around it.</a:t>
            </a:r>
            <a:endParaRPr lang="en-US" sz="1700" dirty="0"/>
          </a:p>
        </p:txBody>
      </p:sp>
      <p:sp>
        <p:nvSpPr>
          <p:cNvPr id="25" name="Text 23"/>
          <p:cNvSpPr/>
          <p:nvPr/>
        </p:nvSpPr>
        <p:spPr>
          <a:xfrm>
            <a:off x="914400" y="5120640"/>
            <a:ext cx="10332720" cy="685800"/>
          </a:xfrm>
          <a:prstGeom prst="rect">
            <a:avLst/>
          </a:prstGeom>
          <a:noFill/>
          <a:ln/>
        </p:spPr>
        <p:txBody>
          <a:bodyPr wrap="square" rtlCol="0" anchor="t"/>
          <a:lstStyle/>
          <a:p>
            <a:pPr indent="0" marL="0">
              <a:lnSpc>
                <a:spcPts val="1800"/>
              </a:lnSpc>
              <a:buNone/>
            </a:pPr>
            <a:r>
              <a:rPr lang="en-US" sz="1250" dirty="0">
                <a:solidFill>
                  <a:srgbClr val="0F3D28"/>
                </a:solidFill>
                <a:latin typeface="Segoe UI" pitchFamily="34" charset="0"/>
                <a:ea typeface="Segoe UI" pitchFamily="34" charset="-122"/>
                <a:cs typeface="Segoe UI" pitchFamily="34" charset="-120"/>
              </a:rPr>
              <a:t>A plan is a one-off guess. What changes behaviour is the cycle: personalise it → record what actually happened → explain the gap → rewrite tomorrow from the evidence → and be there at the moment the task is due.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THE SOLUTION</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A closed loop, not a one-off plan</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WellPath runs the whole cycle — and every step is visible to the user.</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3</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783080"/>
            <a:ext cx="2542032" cy="2395728"/>
          </a:xfrm>
          <a:prstGeom prst="roundRect">
            <a:avLst>
              <a:gd name="adj" fmla="val 3435"/>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Shape 7"/>
          <p:cNvSpPr/>
          <p:nvPr/>
        </p:nvSpPr>
        <p:spPr>
          <a:xfrm>
            <a:off x="804672" y="2011680"/>
            <a:ext cx="566928" cy="566928"/>
          </a:xfrm>
          <a:prstGeom prst="roundRect">
            <a:avLst>
              <a:gd name="adj" fmla="val 22581"/>
            </a:avLst>
          </a:prstGeom>
          <a:solidFill>
            <a:srgbClr val="1F6F4A"/>
          </a:solidFill>
          <a:ln w="12700">
            <a:solidFill>
              <a:srgbClr val="333333"/>
            </a:solidFill>
            <a:prstDash val="solid"/>
          </a:ln>
        </p:spPr>
      </p:sp>
      <p:sp>
        <p:nvSpPr>
          <p:cNvPr id="10" name="Text 8"/>
          <p:cNvSpPr/>
          <p:nvPr/>
        </p:nvSpPr>
        <p:spPr>
          <a:xfrm>
            <a:off x="804672" y="2157984"/>
            <a:ext cx="566928" cy="274320"/>
          </a:xfrm>
          <a:prstGeom prst="rect">
            <a:avLst/>
          </a:prstGeom>
          <a:noFill/>
          <a:ln/>
        </p:spPr>
        <p:txBody>
          <a:bodyPr wrap="square"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01</a:t>
            </a:r>
            <a:endParaRPr lang="en-US" sz="1400" dirty="0"/>
          </a:p>
        </p:txBody>
      </p:sp>
      <p:sp>
        <p:nvSpPr>
          <p:cNvPr id="11" name="Text 9"/>
          <p:cNvSpPr/>
          <p:nvPr/>
        </p:nvSpPr>
        <p:spPr>
          <a:xfrm>
            <a:off x="804672" y="2743200"/>
            <a:ext cx="2103120" cy="329184"/>
          </a:xfrm>
          <a:prstGeom prst="rect">
            <a:avLst/>
          </a:prstGeom>
          <a:noFill/>
          <a:ln/>
        </p:spPr>
        <p:txBody>
          <a:bodyPr wrap="square" rtlCol="0" anchor="t"/>
          <a:lstStyle/>
          <a:p>
            <a:pPr indent="0" marL="0">
              <a:buNone/>
            </a:pPr>
            <a:r>
              <a:rPr lang="en-US" sz="1600" b="1" dirty="0">
                <a:solidFill>
                  <a:srgbClr val="17211C"/>
                </a:solidFill>
                <a:latin typeface="Segoe UI" pitchFamily="34" charset="0"/>
                <a:ea typeface="Segoe UI" pitchFamily="34" charset="-122"/>
                <a:cs typeface="Segoe UI" pitchFamily="34" charset="-120"/>
              </a:rPr>
              <a:t>Profile</a:t>
            </a:r>
            <a:endParaRPr lang="en-US" sz="1600" dirty="0"/>
          </a:p>
        </p:txBody>
      </p:sp>
      <p:sp>
        <p:nvSpPr>
          <p:cNvPr id="12" name="Text 10"/>
          <p:cNvSpPr/>
          <p:nvPr/>
        </p:nvSpPr>
        <p:spPr>
          <a:xfrm>
            <a:off x="804672" y="3127248"/>
            <a:ext cx="2103120" cy="960120"/>
          </a:xfrm>
          <a:prstGeom prst="rect">
            <a:avLst/>
          </a:prstGeom>
          <a:noFill/>
          <a:ln/>
        </p:spPr>
        <p:txBody>
          <a:bodyPr wrap="square" rtlCol="0" anchor="t"/>
          <a:lstStyle/>
          <a:p>
            <a:pPr indent="0" marL="0">
              <a:lnSpc>
                <a:spcPts val="1600"/>
              </a:lnSpc>
              <a:buNone/>
            </a:pPr>
            <a:r>
              <a:rPr lang="en-US" sz="1130" dirty="0">
                <a:solidFill>
                  <a:srgbClr val="64726A"/>
                </a:solidFill>
                <a:latin typeface="Segoe UI" pitchFamily="34" charset="0"/>
                <a:ea typeface="Segoe UI" pitchFamily="34" charset="-122"/>
                <a:cs typeface="Segoe UI" pitchFamily="34" charset="-120"/>
              </a:rPr>
              <a:t>Age, weight, goal, diet, cuisine, allergies, limitations, wake / sleep, free minutes — and the mobile number.</a:t>
            </a:r>
            <a:endParaRPr lang="en-US" sz="1130" dirty="0"/>
          </a:p>
        </p:txBody>
      </p:sp>
      <p:sp>
        <p:nvSpPr>
          <p:cNvPr id="13" name="Shape 11"/>
          <p:cNvSpPr/>
          <p:nvPr/>
        </p:nvSpPr>
        <p:spPr>
          <a:xfrm>
            <a:off x="3182112" y="2880360"/>
            <a:ext cx="219456" cy="201168"/>
          </a:xfrm>
          <a:prstGeom prst="rightArrow">
            <a:avLst/>
          </a:prstGeom>
          <a:solidFill>
            <a:srgbClr val="E2E6DF"/>
          </a:solidFill>
          <a:ln w="12700">
            <a:solidFill>
              <a:srgbClr val="333333"/>
            </a:solidFill>
            <a:prstDash val="solid"/>
          </a:ln>
        </p:spPr>
      </p:sp>
      <p:sp>
        <p:nvSpPr>
          <p:cNvPr id="14" name="Shape 12"/>
          <p:cNvSpPr/>
          <p:nvPr/>
        </p:nvSpPr>
        <p:spPr>
          <a:xfrm>
            <a:off x="3447288" y="1783080"/>
            <a:ext cx="2542032" cy="2395728"/>
          </a:xfrm>
          <a:prstGeom prst="roundRect">
            <a:avLst>
              <a:gd name="adj" fmla="val 3435"/>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5" name="Shape 13"/>
          <p:cNvSpPr/>
          <p:nvPr/>
        </p:nvSpPr>
        <p:spPr>
          <a:xfrm>
            <a:off x="3685032" y="2011680"/>
            <a:ext cx="566928" cy="566928"/>
          </a:xfrm>
          <a:prstGeom prst="roundRect">
            <a:avLst>
              <a:gd name="adj" fmla="val 22581"/>
            </a:avLst>
          </a:prstGeom>
          <a:solidFill>
            <a:srgbClr val="C2703B"/>
          </a:solidFill>
          <a:ln w="12700">
            <a:solidFill>
              <a:srgbClr val="333333"/>
            </a:solidFill>
            <a:prstDash val="solid"/>
          </a:ln>
        </p:spPr>
      </p:sp>
      <p:sp>
        <p:nvSpPr>
          <p:cNvPr id="16" name="Text 14"/>
          <p:cNvSpPr/>
          <p:nvPr/>
        </p:nvSpPr>
        <p:spPr>
          <a:xfrm>
            <a:off x="3685032" y="2157984"/>
            <a:ext cx="566928" cy="274320"/>
          </a:xfrm>
          <a:prstGeom prst="rect">
            <a:avLst/>
          </a:prstGeom>
          <a:noFill/>
          <a:ln/>
        </p:spPr>
        <p:txBody>
          <a:bodyPr wrap="square"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02</a:t>
            </a:r>
            <a:endParaRPr lang="en-US" sz="1400" dirty="0"/>
          </a:p>
        </p:txBody>
      </p:sp>
      <p:sp>
        <p:nvSpPr>
          <p:cNvPr id="17" name="Text 15"/>
          <p:cNvSpPr/>
          <p:nvPr/>
        </p:nvSpPr>
        <p:spPr>
          <a:xfrm>
            <a:off x="3685032" y="2743200"/>
            <a:ext cx="2103120" cy="329184"/>
          </a:xfrm>
          <a:prstGeom prst="rect">
            <a:avLst/>
          </a:prstGeom>
          <a:noFill/>
          <a:ln/>
        </p:spPr>
        <p:txBody>
          <a:bodyPr wrap="square" rtlCol="0" anchor="t"/>
          <a:lstStyle/>
          <a:p>
            <a:pPr indent="0" marL="0">
              <a:buNone/>
            </a:pPr>
            <a:r>
              <a:rPr lang="en-US" sz="1600" b="1" dirty="0">
                <a:solidFill>
                  <a:srgbClr val="17211C"/>
                </a:solidFill>
                <a:latin typeface="Segoe UI" pitchFamily="34" charset="0"/>
                <a:ea typeface="Segoe UI" pitchFamily="34" charset="-122"/>
                <a:cs typeface="Segoe UI" pitchFamily="34" charset="-120"/>
              </a:rPr>
              <a:t>Explainable plan</a:t>
            </a:r>
            <a:endParaRPr lang="en-US" sz="1600" dirty="0"/>
          </a:p>
        </p:txBody>
      </p:sp>
      <p:sp>
        <p:nvSpPr>
          <p:cNvPr id="18" name="Text 16"/>
          <p:cNvSpPr/>
          <p:nvPr/>
        </p:nvSpPr>
        <p:spPr>
          <a:xfrm>
            <a:off x="3685032" y="3127248"/>
            <a:ext cx="2103120" cy="960120"/>
          </a:xfrm>
          <a:prstGeom prst="rect">
            <a:avLst/>
          </a:prstGeom>
          <a:noFill/>
          <a:ln/>
        </p:spPr>
        <p:txBody>
          <a:bodyPr wrap="square" rtlCol="0" anchor="t"/>
          <a:lstStyle/>
          <a:p>
            <a:pPr indent="0" marL="0">
              <a:lnSpc>
                <a:spcPts val="1600"/>
              </a:lnSpc>
              <a:buNone/>
            </a:pPr>
            <a:r>
              <a:rPr lang="en-US" sz="1130" dirty="0">
                <a:solidFill>
                  <a:srgbClr val="64726A"/>
                </a:solidFill>
                <a:latin typeface="Segoe UI" pitchFamily="34" charset="0"/>
                <a:ea typeface="Segoe UI" pitchFamily="34" charset="-122"/>
                <a:cs typeface="Segoe UI" pitchFamily="34" charset="-120"/>
              </a:rPr>
              <a:t>Meals, hydration and movement scheduled around the real day. Every item carries a Why this? line.</a:t>
            </a:r>
            <a:endParaRPr lang="en-US" sz="1130" dirty="0"/>
          </a:p>
        </p:txBody>
      </p:sp>
      <p:sp>
        <p:nvSpPr>
          <p:cNvPr id="19" name="Shape 17"/>
          <p:cNvSpPr/>
          <p:nvPr/>
        </p:nvSpPr>
        <p:spPr>
          <a:xfrm>
            <a:off x="6062472" y="2880360"/>
            <a:ext cx="219456" cy="201168"/>
          </a:xfrm>
          <a:prstGeom prst="rightArrow">
            <a:avLst/>
          </a:prstGeom>
          <a:solidFill>
            <a:srgbClr val="E2E6DF"/>
          </a:solidFill>
          <a:ln w="12700">
            <a:solidFill>
              <a:srgbClr val="333333"/>
            </a:solidFill>
            <a:prstDash val="solid"/>
          </a:ln>
        </p:spPr>
      </p:sp>
      <p:sp>
        <p:nvSpPr>
          <p:cNvPr id="20" name="Shape 18"/>
          <p:cNvSpPr/>
          <p:nvPr/>
        </p:nvSpPr>
        <p:spPr>
          <a:xfrm>
            <a:off x="6327648" y="1783080"/>
            <a:ext cx="2542032" cy="2395728"/>
          </a:xfrm>
          <a:prstGeom prst="roundRect">
            <a:avLst>
              <a:gd name="adj" fmla="val 3435"/>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1" name="Shape 19"/>
          <p:cNvSpPr/>
          <p:nvPr/>
        </p:nvSpPr>
        <p:spPr>
          <a:xfrm>
            <a:off x="6565392" y="2011680"/>
            <a:ext cx="566928" cy="566928"/>
          </a:xfrm>
          <a:prstGeom prst="roundRect">
            <a:avLst>
              <a:gd name="adj" fmla="val 22581"/>
            </a:avLst>
          </a:prstGeom>
          <a:solidFill>
            <a:srgbClr val="2B7FA8"/>
          </a:solidFill>
          <a:ln w="12700">
            <a:solidFill>
              <a:srgbClr val="333333"/>
            </a:solidFill>
            <a:prstDash val="solid"/>
          </a:ln>
        </p:spPr>
      </p:sp>
      <p:sp>
        <p:nvSpPr>
          <p:cNvPr id="22" name="Text 20"/>
          <p:cNvSpPr/>
          <p:nvPr/>
        </p:nvSpPr>
        <p:spPr>
          <a:xfrm>
            <a:off x="6565392" y="2157984"/>
            <a:ext cx="566928" cy="274320"/>
          </a:xfrm>
          <a:prstGeom prst="rect">
            <a:avLst/>
          </a:prstGeom>
          <a:noFill/>
          <a:ln/>
        </p:spPr>
        <p:txBody>
          <a:bodyPr wrap="square"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03</a:t>
            </a:r>
            <a:endParaRPr lang="en-US" sz="1400" dirty="0"/>
          </a:p>
        </p:txBody>
      </p:sp>
      <p:sp>
        <p:nvSpPr>
          <p:cNvPr id="23" name="Text 21"/>
          <p:cNvSpPr/>
          <p:nvPr/>
        </p:nvSpPr>
        <p:spPr>
          <a:xfrm>
            <a:off x="6565392" y="2743200"/>
            <a:ext cx="2103120" cy="329184"/>
          </a:xfrm>
          <a:prstGeom prst="rect">
            <a:avLst/>
          </a:prstGeom>
          <a:noFill/>
          <a:ln/>
        </p:spPr>
        <p:txBody>
          <a:bodyPr wrap="square" rtlCol="0" anchor="t"/>
          <a:lstStyle/>
          <a:p>
            <a:pPr indent="0" marL="0">
              <a:buNone/>
            </a:pPr>
            <a:r>
              <a:rPr lang="en-US" sz="1600" b="1" dirty="0">
                <a:solidFill>
                  <a:srgbClr val="17211C"/>
                </a:solidFill>
                <a:latin typeface="Segoe UI" pitchFamily="34" charset="0"/>
                <a:ea typeface="Segoe UI" pitchFamily="34" charset="-122"/>
                <a:cs typeface="Segoe UI" pitchFamily="34" charset="-120"/>
              </a:rPr>
              <a:t>Check-ins</a:t>
            </a:r>
            <a:endParaRPr lang="en-US" sz="1600" dirty="0"/>
          </a:p>
        </p:txBody>
      </p:sp>
      <p:sp>
        <p:nvSpPr>
          <p:cNvPr id="24" name="Text 22"/>
          <p:cNvSpPr/>
          <p:nvPr/>
        </p:nvSpPr>
        <p:spPr>
          <a:xfrm>
            <a:off x="6565392" y="3127248"/>
            <a:ext cx="2103120" cy="960120"/>
          </a:xfrm>
          <a:prstGeom prst="rect">
            <a:avLst/>
          </a:prstGeom>
          <a:noFill/>
          <a:ln/>
        </p:spPr>
        <p:txBody>
          <a:bodyPr wrap="square" rtlCol="0" anchor="t"/>
          <a:lstStyle/>
          <a:p>
            <a:pPr indent="0" marL="0">
              <a:lnSpc>
                <a:spcPts val="1600"/>
              </a:lnSpc>
              <a:buNone/>
            </a:pPr>
            <a:r>
              <a:rPr lang="en-US" sz="1130" dirty="0">
                <a:solidFill>
                  <a:srgbClr val="64726A"/>
                </a:solidFill>
                <a:latin typeface="Segoe UI" pitchFamily="34" charset="0"/>
                <a:ea typeface="Segoe UI" pitchFamily="34" charset="-122"/>
                <a:cs typeface="Segoe UI" pitchFamily="34" charset="-120"/>
              </a:rPr>
              <a:t>Done · partly · skipped. Water logs by the glass. A skip can carry a note — that note is evidence.</a:t>
            </a:r>
            <a:endParaRPr lang="en-US" sz="1130" dirty="0"/>
          </a:p>
        </p:txBody>
      </p:sp>
      <p:sp>
        <p:nvSpPr>
          <p:cNvPr id="25" name="Shape 23"/>
          <p:cNvSpPr/>
          <p:nvPr/>
        </p:nvSpPr>
        <p:spPr>
          <a:xfrm>
            <a:off x="8942832" y="2880360"/>
            <a:ext cx="219456" cy="201168"/>
          </a:xfrm>
          <a:prstGeom prst="rightArrow">
            <a:avLst/>
          </a:prstGeom>
          <a:solidFill>
            <a:srgbClr val="E2E6DF"/>
          </a:solidFill>
          <a:ln w="12700">
            <a:solidFill>
              <a:srgbClr val="333333"/>
            </a:solidFill>
            <a:prstDash val="solid"/>
          </a:ln>
        </p:spPr>
      </p:sp>
      <p:sp>
        <p:nvSpPr>
          <p:cNvPr id="26" name="Shape 24"/>
          <p:cNvSpPr/>
          <p:nvPr/>
        </p:nvSpPr>
        <p:spPr>
          <a:xfrm>
            <a:off x="9208008" y="1783080"/>
            <a:ext cx="2542032" cy="2395728"/>
          </a:xfrm>
          <a:prstGeom prst="roundRect">
            <a:avLst>
              <a:gd name="adj" fmla="val 3435"/>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7" name="Shape 25"/>
          <p:cNvSpPr/>
          <p:nvPr/>
        </p:nvSpPr>
        <p:spPr>
          <a:xfrm>
            <a:off x="9445752" y="2011680"/>
            <a:ext cx="566928" cy="566928"/>
          </a:xfrm>
          <a:prstGeom prst="roundRect">
            <a:avLst>
              <a:gd name="adj" fmla="val 22581"/>
            </a:avLst>
          </a:prstGeom>
          <a:solidFill>
            <a:srgbClr val="9C3F6D"/>
          </a:solidFill>
          <a:ln w="12700">
            <a:solidFill>
              <a:srgbClr val="333333"/>
            </a:solidFill>
            <a:prstDash val="solid"/>
          </a:ln>
        </p:spPr>
      </p:sp>
      <p:sp>
        <p:nvSpPr>
          <p:cNvPr id="28" name="Text 26"/>
          <p:cNvSpPr/>
          <p:nvPr/>
        </p:nvSpPr>
        <p:spPr>
          <a:xfrm>
            <a:off x="9445752" y="2157984"/>
            <a:ext cx="566928" cy="274320"/>
          </a:xfrm>
          <a:prstGeom prst="rect">
            <a:avLst/>
          </a:prstGeom>
          <a:noFill/>
          <a:ln/>
        </p:spPr>
        <p:txBody>
          <a:bodyPr wrap="square" rtlCol="0" anchor="t"/>
          <a:lstStyle/>
          <a:p>
            <a:pPr algn="ctr" indent="0" marL="0">
              <a:buNone/>
            </a:pPr>
            <a:r>
              <a:rPr lang="en-US" sz="1400" b="1" dirty="0">
                <a:solidFill>
                  <a:srgbClr val="FFFFFF"/>
                </a:solidFill>
                <a:latin typeface="Segoe UI" pitchFamily="34" charset="0"/>
                <a:ea typeface="Segoe UI" pitchFamily="34" charset="-122"/>
                <a:cs typeface="Segoe UI" pitchFamily="34" charset="-120"/>
              </a:rPr>
              <a:t>04</a:t>
            </a:r>
            <a:endParaRPr lang="en-US" sz="1400" dirty="0"/>
          </a:p>
        </p:txBody>
      </p:sp>
      <p:sp>
        <p:nvSpPr>
          <p:cNvPr id="29" name="Text 27"/>
          <p:cNvSpPr/>
          <p:nvPr/>
        </p:nvSpPr>
        <p:spPr>
          <a:xfrm>
            <a:off x="9445752" y="2743200"/>
            <a:ext cx="2103120" cy="329184"/>
          </a:xfrm>
          <a:prstGeom prst="rect">
            <a:avLst/>
          </a:prstGeom>
          <a:noFill/>
          <a:ln/>
        </p:spPr>
        <p:txBody>
          <a:bodyPr wrap="square" rtlCol="0" anchor="t"/>
          <a:lstStyle/>
          <a:p>
            <a:pPr indent="0" marL="0">
              <a:buNone/>
            </a:pPr>
            <a:r>
              <a:rPr lang="en-US" sz="1600" b="1" dirty="0">
                <a:solidFill>
                  <a:srgbClr val="17211C"/>
                </a:solidFill>
                <a:latin typeface="Segoe UI" pitchFamily="34" charset="0"/>
                <a:ea typeface="Segoe UI" pitchFamily="34" charset="-122"/>
                <a:cs typeface="Segoe UI" pitchFamily="34" charset="-120"/>
              </a:rPr>
              <a:t>Adjust &amp; call</a:t>
            </a:r>
            <a:endParaRPr lang="en-US" sz="1600" dirty="0"/>
          </a:p>
        </p:txBody>
      </p:sp>
      <p:sp>
        <p:nvSpPr>
          <p:cNvPr id="30" name="Text 28"/>
          <p:cNvSpPr/>
          <p:nvPr/>
        </p:nvSpPr>
        <p:spPr>
          <a:xfrm>
            <a:off x="9445752" y="3127248"/>
            <a:ext cx="2103120" cy="960120"/>
          </a:xfrm>
          <a:prstGeom prst="rect">
            <a:avLst/>
          </a:prstGeom>
          <a:noFill/>
          <a:ln/>
        </p:spPr>
        <p:txBody>
          <a:bodyPr wrap="square" rtlCol="0" anchor="t"/>
          <a:lstStyle/>
          <a:p>
            <a:pPr indent="0" marL="0">
              <a:lnSpc>
                <a:spcPts val="1600"/>
              </a:lnSpc>
              <a:buNone/>
            </a:pPr>
            <a:r>
              <a:rPr lang="en-US" sz="1130" dirty="0">
                <a:solidFill>
                  <a:srgbClr val="64726A"/>
                </a:solidFill>
                <a:latin typeface="Segoe UI" pitchFamily="34" charset="0"/>
                <a:ea typeface="Segoe UI" pitchFamily="34" charset="-122"/>
                <a:cs typeface="Segoe UI" pitchFamily="34" charset="-120"/>
              </a:rPr>
              <a:t>Tomorrow is rewritten from the record. At each due time the phone rings in Gujarati.</a:t>
            </a:r>
            <a:endParaRPr lang="en-US" sz="1130" dirty="0"/>
          </a:p>
        </p:txBody>
      </p:sp>
      <p:sp>
        <p:nvSpPr>
          <p:cNvPr id="31" name="Shape 29"/>
          <p:cNvSpPr/>
          <p:nvPr/>
        </p:nvSpPr>
        <p:spPr>
          <a:xfrm>
            <a:off x="566928" y="4370832"/>
            <a:ext cx="11064240" cy="457200"/>
          </a:xfrm>
          <a:prstGeom prst="roundRect">
            <a:avLst>
              <a:gd name="adj" fmla="val 24000"/>
            </a:avLst>
          </a:prstGeom>
          <a:solidFill>
            <a:srgbClr val="E8F2EC"/>
          </a:solidFill>
          <a:ln w="12700">
            <a:solidFill>
              <a:srgbClr val="333333"/>
            </a:solidFill>
            <a:prstDash val="solid"/>
          </a:ln>
        </p:spPr>
      </p:sp>
      <p:sp>
        <p:nvSpPr>
          <p:cNvPr id="32" name="Text 30"/>
          <p:cNvSpPr/>
          <p:nvPr/>
        </p:nvSpPr>
        <p:spPr>
          <a:xfrm>
            <a:off x="566928" y="4480560"/>
            <a:ext cx="11064240" cy="274320"/>
          </a:xfrm>
          <a:prstGeom prst="rect">
            <a:avLst/>
          </a:prstGeom>
          <a:noFill/>
          <a:ln/>
        </p:spPr>
        <p:txBody>
          <a:bodyPr wrap="square" rtlCol="0" anchor="t"/>
          <a:lstStyle/>
          <a:p>
            <a:pPr algn="ctr" indent="0" marL="0">
              <a:buNone/>
            </a:pPr>
            <a:r>
              <a:rPr lang="en-US" sz="1200" b="1" dirty="0">
                <a:solidFill>
                  <a:srgbClr val="0F3D28"/>
                </a:solidFill>
                <a:latin typeface="Segoe UI" pitchFamily="34" charset="0"/>
                <a:ea typeface="Segoe UI" pitchFamily="34" charset="-122"/>
                <a:cs typeface="Segoe UI" pitchFamily="34" charset="-120"/>
              </a:rPr>
              <a:t>◄   tomorrow's plan is built from steps 02 + 03 — the loop closes here</a:t>
            </a:r>
            <a:endParaRPr lang="en-US" sz="1200" dirty="0"/>
          </a:p>
        </p:txBody>
      </p:sp>
      <p:sp>
        <p:nvSpPr>
          <p:cNvPr id="33" name="Shape 31"/>
          <p:cNvSpPr/>
          <p:nvPr/>
        </p:nvSpPr>
        <p:spPr>
          <a:xfrm>
            <a:off x="566928" y="4983480"/>
            <a:ext cx="2651760" cy="1051560"/>
          </a:xfrm>
          <a:prstGeom prst="roundRect">
            <a:avLst>
              <a:gd name="adj" fmla="val 782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4" name="Text 32"/>
          <p:cNvSpPr/>
          <p:nvPr/>
        </p:nvSpPr>
        <p:spPr>
          <a:xfrm>
            <a:off x="768096" y="5102352"/>
            <a:ext cx="2286000" cy="411480"/>
          </a:xfrm>
          <a:prstGeom prst="rect">
            <a:avLst/>
          </a:prstGeom>
          <a:noFill/>
          <a:ln/>
        </p:spPr>
        <p:txBody>
          <a:bodyPr wrap="square" rtlCol="0" anchor="t"/>
          <a:lstStyle/>
          <a:p>
            <a:pPr indent="0" marL="0">
              <a:buNone/>
            </a:pPr>
            <a:r>
              <a:rPr lang="en-US" sz="2400" b="1" dirty="0">
                <a:solidFill>
                  <a:srgbClr val="1F6F4A"/>
                </a:solidFill>
                <a:latin typeface="Segoe UI" pitchFamily="34" charset="0"/>
                <a:ea typeface="Segoe UI" pitchFamily="34" charset="-122"/>
                <a:cs typeface="Segoe UI" pitchFamily="34" charset="-120"/>
              </a:rPr>
              <a:t>4</a:t>
            </a:r>
            <a:endParaRPr lang="en-US" sz="2400" dirty="0"/>
          </a:p>
        </p:txBody>
      </p:sp>
      <p:sp>
        <p:nvSpPr>
          <p:cNvPr id="35" name="Text 33"/>
          <p:cNvSpPr/>
          <p:nvPr/>
        </p:nvSpPr>
        <p:spPr>
          <a:xfrm>
            <a:off x="768096" y="5522976"/>
            <a:ext cx="2286000" cy="457200"/>
          </a:xfrm>
          <a:prstGeom prst="rect">
            <a:avLst/>
          </a:prstGeom>
          <a:noFill/>
          <a:ln/>
        </p:spPr>
        <p:txBody>
          <a:bodyPr wrap="square" rtlCol="0" anchor="t"/>
          <a:lstStyle/>
          <a:p>
            <a:pPr indent="0" marL="0">
              <a:lnSpc>
                <a:spcPts val="1400"/>
              </a:lnSpc>
              <a:buNone/>
            </a:pPr>
            <a:r>
              <a:rPr lang="en-US" sz="1050" dirty="0">
                <a:solidFill>
                  <a:srgbClr val="64726A"/>
                </a:solidFill>
                <a:latin typeface="Segoe UI" pitchFamily="34" charset="0"/>
                <a:ea typeface="Segoe UI" pitchFamily="34" charset="-122"/>
                <a:cs typeface="Segoe UI" pitchFamily="34" charset="-120"/>
              </a:rPr>
              <a:t>AI jobs, none decorative</a:t>
            </a:r>
            <a:endParaRPr lang="en-US" sz="1050" dirty="0"/>
          </a:p>
        </p:txBody>
      </p:sp>
      <p:sp>
        <p:nvSpPr>
          <p:cNvPr id="36" name="Shape 34"/>
          <p:cNvSpPr/>
          <p:nvPr/>
        </p:nvSpPr>
        <p:spPr>
          <a:xfrm>
            <a:off x="3364992" y="4983480"/>
            <a:ext cx="2651760" cy="1051560"/>
          </a:xfrm>
          <a:prstGeom prst="roundRect">
            <a:avLst>
              <a:gd name="adj" fmla="val 782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7" name="Text 35"/>
          <p:cNvSpPr/>
          <p:nvPr/>
        </p:nvSpPr>
        <p:spPr>
          <a:xfrm>
            <a:off x="3566160" y="5102352"/>
            <a:ext cx="2286000" cy="411480"/>
          </a:xfrm>
          <a:prstGeom prst="rect">
            <a:avLst/>
          </a:prstGeom>
          <a:noFill/>
          <a:ln/>
        </p:spPr>
        <p:txBody>
          <a:bodyPr wrap="square" rtlCol="0" anchor="t"/>
          <a:lstStyle/>
          <a:p>
            <a:pPr indent="0" marL="0">
              <a:buNone/>
            </a:pPr>
            <a:r>
              <a:rPr lang="en-US" sz="2400" b="1" dirty="0">
                <a:solidFill>
                  <a:srgbClr val="1F6F4A"/>
                </a:solidFill>
                <a:latin typeface="Segoe UI" pitchFamily="34" charset="0"/>
                <a:ea typeface="Segoe UI" pitchFamily="34" charset="-122"/>
                <a:cs typeface="Segoe UI" pitchFamily="34" charset="-120"/>
              </a:rPr>
              <a:t>3</a:t>
            </a:r>
            <a:endParaRPr lang="en-US" sz="2400" dirty="0"/>
          </a:p>
        </p:txBody>
      </p:sp>
      <p:sp>
        <p:nvSpPr>
          <p:cNvPr id="38" name="Text 36"/>
          <p:cNvSpPr/>
          <p:nvPr/>
        </p:nvSpPr>
        <p:spPr>
          <a:xfrm>
            <a:off x="3566160" y="5522976"/>
            <a:ext cx="2286000" cy="457200"/>
          </a:xfrm>
          <a:prstGeom prst="rect">
            <a:avLst/>
          </a:prstGeom>
          <a:noFill/>
          <a:ln/>
        </p:spPr>
        <p:txBody>
          <a:bodyPr wrap="square" rtlCol="0" anchor="t"/>
          <a:lstStyle/>
          <a:p>
            <a:pPr indent="0" marL="0">
              <a:lnSpc>
                <a:spcPts val="1400"/>
              </a:lnSpc>
              <a:buNone/>
            </a:pPr>
            <a:r>
              <a:rPr lang="en-US" sz="1050" dirty="0">
                <a:solidFill>
                  <a:srgbClr val="64726A"/>
                </a:solidFill>
                <a:latin typeface="Segoe UI" pitchFamily="34" charset="0"/>
                <a:ea typeface="Segoe UI" pitchFamily="34" charset="-122"/>
                <a:cs typeface="Segoe UI" pitchFamily="34" charset="-120"/>
              </a:rPr>
              <a:t>streams tracked: meals · water · movement</a:t>
            </a:r>
            <a:endParaRPr lang="en-US" sz="1050" dirty="0"/>
          </a:p>
        </p:txBody>
      </p:sp>
      <p:sp>
        <p:nvSpPr>
          <p:cNvPr id="39" name="Shape 37"/>
          <p:cNvSpPr/>
          <p:nvPr/>
        </p:nvSpPr>
        <p:spPr>
          <a:xfrm>
            <a:off x="6163056" y="4983480"/>
            <a:ext cx="2651760" cy="1051560"/>
          </a:xfrm>
          <a:prstGeom prst="roundRect">
            <a:avLst>
              <a:gd name="adj" fmla="val 782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0" name="Text 38"/>
          <p:cNvSpPr/>
          <p:nvPr/>
        </p:nvSpPr>
        <p:spPr>
          <a:xfrm>
            <a:off x="6364224" y="5102352"/>
            <a:ext cx="2286000" cy="411480"/>
          </a:xfrm>
          <a:prstGeom prst="rect">
            <a:avLst/>
          </a:prstGeom>
          <a:noFill/>
          <a:ln/>
        </p:spPr>
        <p:txBody>
          <a:bodyPr wrap="square" rtlCol="0" anchor="t"/>
          <a:lstStyle/>
          <a:p>
            <a:pPr indent="0" marL="0">
              <a:buNone/>
            </a:pPr>
            <a:r>
              <a:rPr lang="en-US" sz="2400" b="1" dirty="0">
                <a:solidFill>
                  <a:srgbClr val="1F6F4A"/>
                </a:solidFill>
                <a:latin typeface="Segoe UI" pitchFamily="34" charset="0"/>
                <a:ea typeface="Segoe UI" pitchFamily="34" charset="-122"/>
                <a:cs typeface="Segoe UI" pitchFamily="34" charset="-120"/>
              </a:rPr>
              <a:t>0</a:t>
            </a:r>
            <a:endParaRPr lang="en-US" sz="2400" dirty="0"/>
          </a:p>
        </p:txBody>
      </p:sp>
      <p:sp>
        <p:nvSpPr>
          <p:cNvPr id="41" name="Text 39"/>
          <p:cNvSpPr/>
          <p:nvPr/>
        </p:nvSpPr>
        <p:spPr>
          <a:xfrm>
            <a:off x="6364224" y="5522976"/>
            <a:ext cx="2286000" cy="457200"/>
          </a:xfrm>
          <a:prstGeom prst="rect">
            <a:avLst/>
          </a:prstGeom>
          <a:noFill/>
          <a:ln/>
        </p:spPr>
        <p:txBody>
          <a:bodyPr wrap="square" rtlCol="0" anchor="t"/>
          <a:lstStyle/>
          <a:p>
            <a:pPr indent="0" marL="0">
              <a:lnSpc>
                <a:spcPts val="1400"/>
              </a:lnSpc>
              <a:buNone/>
            </a:pPr>
            <a:r>
              <a:rPr lang="en-US" sz="1050" dirty="0">
                <a:solidFill>
                  <a:srgbClr val="64726A"/>
                </a:solidFill>
                <a:latin typeface="Segoe UI" pitchFamily="34" charset="0"/>
                <a:ea typeface="Segoe UI" pitchFamily="34" charset="-122"/>
                <a:cs typeface="Segoe UI" pitchFamily="34" charset="-120"/>
              </a:rPr>
              <a:t>empty days — rule-based planner backs up every call</a:t>
            </a:r>
            <a:endParaRPr lang="en-US" sz="1050" dirty="0"/>
          </a:p>
        </p:txBody>
      </p:sp>
      <p:sp>
        <p:nvSpPr>
          <p:cNvPr id="42" name="Shape 40"/>
          <p:cNvSpPr/>
          <p:nvPr/>
        </p:nvSpPr>
        <p:spPr>
          <a:xfrm>
            <a:off x="8961120" y="4983480"/>
            <a:ext cx="2651760" cy="1051560"/>
          </a:xfrm>
          <a:prstGeom prst="roundRect">
            <a:avLst>
              <a:gd name="adj" fmla="val 782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3" name="Text 41"/>
          <p:cNvSpPr/>
          <p:nvPr/>
        </p:nvSpPr>
        <p:spPr>
          <a:xfrm>
            <a:off x="9162288" y="5102352"/>
            <a:ext cx="2286000" cy="411480"/>
          </a:xfrm>
          <a:prstGeom prst="rect">
            <a:avLst/>
          </a:prstGeom>
          <a:noFill/>
          <a:ln/>
        </p:spPr>
        <p:txBody>
          <a:bodyPr wrap="square" rtlCol="0" anchor="t"/>
          <a:lstStyle/>
          <a:p>
            <a:pPr indent="0" marL="0">
              <a:buNone/>
            </a:pPr>
            <a:r>
              <a:rPr lang="en-US" sz="2400" b="1" dirty="0">
                <a:solidFill>
                  <a:srgbClr val="1F6F4A"/>
                </a:solidFill>
                <a:latin typeface="Segoe UI" pitchFamily="34" charset="0"/>
                <a:ea typeface="Segoe UI" pitchFamily="34" charset="-122"/>
                <a:cs typeface="Segoe UI" pitchFamily="34" charset="-120"/>
              </a:rPr>
              <a:t>2 s</a:t>
            </a:r>
            <a:endParaRPr lang="en-US" sz="2400" dirty="0"/>
          </a:p>
        </p:txBody>
      </p:sp>
      <p:sp>
        <p:nvSpPr>
          <p:cNvPr id="44" name="Text 42"/>
          <p:cNvSpPr/>
          <p:nvPr/>
        </p:nvSpPr>
        <p:spPr>
          <a:xfrm>
            <a:off x="9162288" y="5522976"/>
            <a:ext cx="2286000" cy="457200"/>
          </a:xfrm>
          <a:prstGeom prst="rect">
            <a:avLst/>
          </a:prstGeom>
          <a:noFill/>
          <a:ln/>
        </p:spPr>
        <p:txBody>
          <a:bodyPr wrap="square" rtlCol="0" anchor="t"/>
          <a:lstStyle/>
          <a:p>
            <a:pPr indent="0" marL="0">
              <a:lnSpc>
                <a:spcPts val="1400"/>
              </a:lnSpc>
              <a:buNone/>
            </a:pPr>
            <a:r>
              <a:rPr lang="en-US" sz="1050" dirty="0">
                <a:solidFill>
                  <a:srgbClr val="64726A"/>
                </a:solidFill>
                <a:latin typeface="Segoe UI" pitchFamily="34" charset="0"/>
                <a:ea typeface="Segoe UI" pitchFamily="34" charset="-122"/>
                <a:cs typeface="Segoe UI" pitchFamily="34" charset="-120"/>
              </a:rPr>
              <a:t>pause after pickup, then the Gujarati reminder</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SCOPE</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Every mandatory requirement, built and testable</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The brief's MVP list and the AI-must-perform list, mapped to what a judge can click.</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4</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Text 6"/>
          <p:cNvSpPr/>
          <p:nvPr/>
        </p:nvSpPr>
        <p:spPr>
          <a:xfrm>
            <a:off x="594360" y="1572768"/>
            <a:ext cx="4572000" cy="237744"/>
          </a:xfrm>
          <a:prstGeom prst="rect">
            <a:avLst/>
          </a:prstGeom>
          <a:noFill/>
          <a:ln/>
        </p:spPr>
        <p:txBody>
          <a:bodyPr wrap="square" rtlCol="0" anchor="t"/>
          <a:lstStyle/>
          <a:p>
            <a:pPr indent="0" marL="0">
              <a:buNone/>
            </a:pPr>
            <a:r>
              <a:rPr lang="en-US" sz="1050" b="1" spc="120" kern="0" dirty="0">
                <a:solidFill>
                  <a:srgbClr val="1F6F4A"/>
                </a:solidFill>
                <a:latin typeface="Segoe UI" pitchFamily="34" charset="0"/>
                <a:ea typeface="Segoe UI" pitchFamily="34" charset="-122"/>
                <a:cs typeface="Segoe UI" pitchFamily="34" charset="-120"/>
              </a:rPr>
              <a:t>MANDATORY MVP</a:t>
            </a:r>
            <a:endParaRPr lang="en-US" sz="1050" dirty="0"/>
          </a:p>
        </p:txBody>
      </p:sp>
      <p:sp>
        <p:nvSpPr>
          <p:cNvPr id="9" name="Shape 7"/>
          <p:cNvSpPr/>
          <p:nvPr/>
        </p:nvSpPr>
        <p:spPr>
          <a:xfrm>
            <a:off x="566928" y="1865376"/>
            <a:ext cx="562356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10" name="Shape 8"/>
          <p:cNvSpPr/>
          <p:nvPr/>
        </p:nvSpPr>
        <p:spPr>
          <a:xfrm>
            <a:off x="758952" y="2039112"/>
            <a:ext cx="265176" cy="265176"/>
          </a:xfrm>
          <a:prstGeom prst="ellipse">
            <a:avLst/>
          </a:prstGeom>
          <a:solidFill>
            <a:srgbClr val="E8F2EC"/>
          </a:solidFill>
          <a:ln w="12700">
            <a:solidFill>
              <a:srgbClr val="333333"/>
            </a:solidFill>
            <a:prstDash val="solid"/>
          </a:ln>
        </p:spPr>
      </p:sp>
      <p:sp>
        <p:nvSpPr>
          <p:cNvPr id="11" name="Text 9"/>
          <p:cNvSpPr/>
          <p:nvPr/>
        </p:nvSpPr>
        <p:spPr>
          <a:xfrm>
            <a:off x="758952" y="2071116"/>
            <a:ext cx="265176" cy="20116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a:t>
            </a:r>
            <a:endParaRPr lang="en-US" sz="1200" dirty="0"/>
          </a:p>
        </p:txBody>
      </p:sp>
      <p:sp>
        <p:nvSpPr>
          <p:cNvPr id="12" name="Text 10"/>
          <p:cNvSpPr/>
          <p:nvPr/>
        </p:nvSpPr>
        <p:spPr>
          <a:xfrm>
            <a:off x="1143000" y="1947672"/>
            <a:ext cx="493776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Profile: age, height, weight, goal, preferences</a:t>
            </a:r>
            <a:endParaRPr lang="en-US" sz="1200" dirty="0"/>
          </a:p>
        </p:txBody>
      </p:sp>
      <p:sp>
        <p:nvSpPr>
          <p:cNvPr id="13" name="Text 11"/>
          <p:cNvSpPr/>
          <p:nvPr/>
        </p:nvSpPr>
        <p:spPr>
          <a:xfrm>
            <a:off x="1143000" y="2185416"/>
            <a:ext cx="493776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/register → /onboarding — 15 fields, incl. allergies and limitations</a:t>
            </a:r>
            <a:endParaRPr lang="en-US" sz="1000" dirty="0"/>
          </a:p>
        </p:txBody>
      </p:sp>
      <p:sp>
        <p:nvSpPr>
          <p:cNvPr id="14" name="Shape 12"/>
          <p:cNvSpPr/>
          <p:nvPr/>
        </p:nvSpPr>
        <p:spPr>
          <a:xfrm>
            <a:off x="566928" y="2560320"/>
            <a:ext cx="562356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15" name="Shape 13"/>
          <p:cNvSpPr/>
          <p:nvPr/>
        </p:nvSpPr>
        <p:spPr>
          <a:xfrm>
            <a:off x="758952" y="2734056"/>
            <a:ext cx="265176" cy="265176"/>
          </a:xfrm>
          <a:prstGeom prst="ellipse">
            <a:avLst/>
          </a:prstGeom>
          <a:solidFill>
            <a:srgbClr val="E8F2EC"/>
          </a:solidFill>
          <a:ln w="12700">
            <a:solidFill>
              <a:srgbClr val="333333"/>
            </a:solidFill>
            <a:prstDash val="solid"/>
          </a:ln>
        </p:spPr>
      </p:sp>
      <p:sp>
        <p:nvSpPr>
          <p:cNvPr id="16" name="Text 14"/>
          <p:cNvSpPr/>
          <p:nvPr/>
        </p:nvSpPr>
        <p:spPr>
          <a:xfrm>
            <a:off x="758952" y="2766060"/>
            <a:ext cx="265176" cy="20116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a:t>
            </a:r>
            <a:endParaRPr lang="en-US" sz="1200" dirty="0"/>
          </a:p>
        </p:txBody>
      </p:sp>
      <p:sp>
        <p:nvSpPr>
          <p:cNvPr id="17" name="Text 15"/>
          <p:cNvSpPr/>
          <p:nvPr/>
        </p:nvSpPr>
        <p:spPr>
          <a:xfrm>
            <a:off x="1143000" y="2642616"/>
            <a:ext cx="493776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AI meal, hydration and activity plan</a:t>
            </a:r>
            <a:endParaRPr lang="en-US" sz="1200" dirty="0"/>
          </a:p>
        </p:txBody>
      </p:sp>
      <p:sp>
        <p:nvSpPr>
          <p:cNvPr id="18" name="Text 16"/>
          <p:cNvSpPr/>
          <p:nvPr/>
        </p:nvSpPr>
        <p:spPr>
          <a:xfrm>
            <a:off x="1143000" y="2880360"/>
            <a:ext cx="493776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GPT-4o-mini, Zod-validated JSON, 4–8 scheduled items per day</a:t>
            </a:r>
            <a:endParaRPr lang="en-US" sz="1000" dirty="0"/>
          </a:p>
        </p:txBody>
      </p:sp>
      <p:sp>
        <p:nvSpPr>
          <p:cNvPr id="19" name="Shape 17"/>
          <p:cNvSpPr/>
          <p:nvPr/>
        </p:nvSpPr>
        <p:spPr>
          <a:xfrm>
            <a:off x="566928" y="3255264"/>
            <a:ext cx="562356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20" name="Shape 18"/>
          <p:cNvSpPr/>
          <p:nvPr/>
        </p:nvSpPr>
        <p:spPr>
          <a:xfrm>
            <a:off x="758952" y="3429000"/>
            <a:ext cx="265176" cy="265176"/>
          </a:xfrm>
          <a:prstGeom prst="ellipse">
            <a:avLst/>
          </a:prstGeom>
          <a:solidFill>
            <a:srgbClr val="E8F2EC"/>
          </a:solidFill>
          <a:ln w="12700">
            <a:solidFill>
              <a:srgbClr val="333333"/>
            </a:solidFill>
            <a:prstDash val="solid"/>
          </a:ln>
        </p:spPr>
      </p:sp>
      <p:sp>
        <p:nvSpPr>
          <p:cNvPr id="21" name="Text 19"/>
          <p:cNvSpPr/>
          <p:nvPr/>
        </p:nvSpPr>
        <p:spPr>
          <a:xfrm>
            <a:off x="758952" y="3461004"/>
            <a:ext cx="265176" cy="20116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a:t>
            </a:r>
            <a:endParaRPr lang="en-US" sz="1200" dirty="0"/>
          </a:p>
        </p:txBody>
      </p:sp>
      <p:sp>
        <p:nvSpPr>
          <p:cNvPr id="22" name="Text 20"/>
          <p:cNvSpPr/>
          <p:nvPr/>
        </p:nvSpPr>
        <p:spPr>
          <a:xfrm>
            <a:off x="1143000" y="3337560"/>
            <a:ext cx="493776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Meal, water and exercise check-ins</a:t>
            </a:r>
            <a:endParaRPr lang="en-US" sz="1200" dirty="0"/>
          </a:p>
        </p:txBody>
      </p:sp>
      <p:sp>
        <p:nvSpPr>
          <p:cNvPr id="23" name="Text 21"/>
          <p:cNvSpPr/>
          <p:nvPr/>
        </p:nvSpPr>
        <p:spPr>
          <a:xfrm>
            <a:off x="1143000" y="3575304"/>
            <a:ext cx="493776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Done / partly / skipped; water accumulates by the glass</a:t>
            </a:r>
            <a:endParaRPr lang="en-US" sz="1000" dirty="0"/>
          </a:p>
        </p:txBody>
      </p:sp>
      <p:sp>
        <p:nvSpPr>
          <p:cNvPr id="24" name="Shape 22"/>
          <p:cNvSpPr/>
          <p:nvPr/>
        </p:nvSpPr>
        <p:spPr>
          <a:xfrm>
            <a:off x="566928" y="3950208"/>
            <a:ext cx="562356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25" name="Shape 23"/>
          <p:cNvSpPr/>
          <p:nvPr/>
        </p:nvSpPr>
        <p:spPr>
          <a:xfrm>
            <a:off x="758952" y="4123944"/>
            <a:ext cx="265176" cy="265176"/>
          </a:xfrm>
          <a:prstGeom prst="ellipse">
            <a:avLst/>
          </a:prstGeom>
          <a:solidFill>
            <a:srgbClr val="E8F2EC"/>
          </a:solidFill>
          <a:ln w="12700">
            <a:solidFill>
              <a:srgbClr val="333333"/>
            </a:solidFill>
            <a:prstDash val="solid"/>
          </a:ln>
        </p:spPr>
      </p:sp>
      <p:sp>
        <p:nvSpPr>
          <p:cNvPr id="26" name="Text 24"/>
          <p:cNvSpPr/>
          <p:nvPr/>
        </p:nvSpPr>
        <p:spPr>
          <a:xfrm>
            <a:off x="758952" y="4155948"/>
            <a:ext cx="265176" cy="20116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a:t>
            </a:r>
            <a:endParaRPr lang="en-US" sz="1200" dirty="0"/>
          </a:p>
        </p:txBody>
      </p:sp>
      <p:sp>
        <p:nvSpPr>
          <p:cNvPr id="27" name="Text 25"/>
          <p:cNvSpPr/>
          <p:nvPr/>
        </p:nvSpPr>
        <p:spPr>
          <a:xfrm>
            <a:off x="1143000" y="4032504"/>
            <a:ext cx="493776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Adherence and completion tracking</a:t>
            </a:r>
            <a:endParaRPr lang="en-US" sz="1200" dirty="0"/>
          </a:p>
        </p:txBody>
      </p:sp>
      <p:sp>
        <p:nvSpPr>
          <p:cNvPr id="28" name="Text 26"/>
          <p:cNvSpPr/>
          <p:nvPr/>
        </p:nvSpPr>
        <p:spPr>
          <a:xfrm>
            <a:off x="1143000" y="4270248"/>
            <a:ext cx="493776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Deterministic weighted score — meals 45 · water 20 · movement 35</a:t>
            </a:r>
            <a:endParaRPr lang="en-US" sz="1000" dirty="0"/>
          </a:p>
        </p:txBody>
      </p:sp>
      <p:sp>
        <p:nvSpPr>
          <p:cNvPr id="29" name="Shape 27"/>
          <p:cNvSpPr/>
          <p:nvPr/>
        </p:nvSpPr>
        <p:spPr>
          <a:xfrm>
            <a:off x="566928" y="4645152"/>
            <a:ext cx="562356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0" name="Shape 28"/>
          <p:cNvSpPr/>
          <p:nvPr/>
        </p:nvSpPr>
        <p:spPr>
          <a:xfrm>
            <a:off x="758952" y="4818888"/>
            <a:ext cx="265176" cy="265176"/>
          </a:xfrm>
          <a:prstGeom prst="ellipse">
            <a:avLst/>
          </a:prstGeom>
          <a:solidFill>
            <a:srgbClr val="E8F2EC"/>
          </a:solidFill>
          <a:ln w="12700">
            <a:solidFill>
              <a:srgbClr val="333333"/>
            </a:solidFill>
            <a:prstDash val="solid"/>
          </a:ln>
        </p:spPr>
      </p:sp>
      <p:sp>
        <p:nvSpPr>
          <p:cNvPr id="31" name="Text 29"/>
          <p:cNvSpPr/>
          <p:nvPr/>
        </p:nvSpPr>
        <p:spPr>
          <a:xfrm>
            <a:off x="758952" y="4850892"/>
            <a:ext cx="265176" cy="20116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a:t>
            </a:r>
            <a:endParaRPr lang="en-US" sz="1200" dirty="0"/>
          </a:p>
        </p:txBody>
      </p:sp>
      <p:sp>
        <p:nvSpPr>
          <p:cNvPr id="32" name="Text 30"/>
          <p:cNvSpPr/>
          <p:nvPr/>
        </p:nvSpPr>
        <p:spPr>
          <a:xfrm>
            <a:off x="1143000" y="4727448"/>
            <a:ext cx="493776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End-of-day summary from recorded data</a:t>
            </a:r>
            <a:endParaRPr lang="en-US" sz="1200" dirty="0"/>
          </a:p>
        </p:txBody>
      </p:sp>
      <p:sp>
        <p:nvSpPr>
          <p:cNvPr id="33" name="Text 31"/>
          <p:cNvSpPr/>
          <p:nvPr/>
        </p:nvSpPr>
        <p:spPr>
          <a:xfrm>
            <a:off x="1143000" y="4965192"/>
            <a:ext cx="493776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Prompt-constrained to logged rows only; never assumes an unlogged item</a:t>
            </a:r>
            <a:endParaRPr lang="en-US" sz="1000" dirty="0"/>
          </a:p>
        </p:txBody>
      </p:sp>
      <p:sp>
        <p:nvSpPr>
          <p:cNvPr id="34" name="Shape 32"/>
          <p:cNvSpPr/>
          <p:nvPr/>
        </p:nvSpPr>
        <p:spPr>
          <a:xfrm>
            <a:off x="566928" y="5340096"/>
            <a:ext cx="562356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5" name="Shape 33"/>
          <p:cNvSpPr/>
          <p:nvPr/>
        </p:nvSpPr>
        <p:spPr>
          <a:xfrm>
            <a:off x="758952" y="5513832"/>
            <a:ext cx="265176" cy="265176"/>
          </a:xfrm>
          <a:prstGeom prst="ellipse">
            <a:avLst/>
          </a:prstGeom>
          <a:solidFill>
            <a:srgbClr val="E8F2EC"/>
          </a:solidFill>
          <a:ln w="12700">
            <a:solidFill>
              <a:srgbClr val="333333"/>
            </a:solidFill>
            <a:prstDash val="solid"/>
          </a:ln>
        </p:spPr>
      </p:sp>
      <p:sp>
        <p:nvSpPr>
          <p:cNvPr id="36" name="Text 34"/>
          <p:cNvSpPr/>
          <p:nvPr/>
        </p:nvSpPr>
        <p:spPr>
          <a:xfrm>
            <a:off x="758952" y="5545836"/>
            <a:ext cx="265176" cy="20116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a:t>
            </a:r>
            <a:endParaRPr lang="en-US" sz="1200" dirty="0"/>
          </a:p>
        </p:txBody>
      </p:sp>
      <p:sp>
        <p:nvSpPr>
          <p:cNvPr id="37" name="Text 35"/>
          <p:cNvSpPr/>
          <p:nvPr/>
        </p:nvSpPr>
        <p:spPr>
          <a:xfrm>
            <a:off x="1143000" y="5422392"/>
            <a:ext cx="493776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Next-plan adjustment from completion + feedback</a:t>
            </a:r>
            <a:endParaRPr lang="en-US" sz="1200" dirty="0"/>
          </a:p>
        </p:txBody>
      </p:sp>
      <p:sp>
        <p:nvSpPr>
          <p:cNvPr id="38" name="Text 36"/>
          <p:cNvSpPr/>
          <p:nvPr/>
        </p:nvSpPr>
        <p:spPr>
          <a:xfrm>
            <a:off x="1143000" y="5660136"/>
            <a:ext cx="493776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Last 3 days of adherence and notes go into the planning prompt</a:t>
            </a:r>
            <a:endParaRPr lang="en-US" sz="1000" dirty="0"/>
          </a:p>
        </p:txBody>
      </p:sp>
      <p:sp>
        <p:nvSpPr>
          <p:cNvPr id="39" name="Text 37"/>
          <p:cNvSpPr/>
          <p:nvPr/>
        </p:nvSpPr>
        <p:spPr>
          <a:xfrm>
            <a:off x="6537960" y="1572768"/>
            <a:ext cx="4572000" cy="237744"/>
          </a:xfrm>
          <a:prstGeom prst="rect">
            <a:avLst/>
          </a:prstGeom>
          <a:noFill/>
          <a:ln/>
        </p:spPr>
        <p:txBody>
          <a:bodyPr wrap="square" rtlCol="0" anchor="t"/>
          <a:lstStyle/>
          <a:p>
            <a:pPr indent="0" marL="0">
              <a:buNone/>
            </a:pPr>
            <a:r>
              <a:rPr lang="en-US" sz="1050" b="1" spc="120" kern="0" dirty="0">
                <a:solidFill>
                  <a:srgbClr val="C2703B"/>
                </a:solidFill>
                <a:latin typeface="Segoe UI" pitchFamily="34" charset="0"/>
                <a:ea typeface="Segoe UI" pitchFamily="34" charset="-122"/>
                <a:cs typeface="Segoe UI" pitchFamily="34" charset="-120"/>
              </a:rPr>
              <a:t>AI MUST PERFORM</a:t>
            </a:r>
            <a:endParaRPr lang="en-US" sz="1050" dirty="0"/>
          </a:p>
        </p:txBody>
      </p:sp>
      <p:sp>
        <p:nvSpPr>
          <p:cNvPr id="40" name="Shape 38"/>
          <p:cNvSpPr/>
          <p:nvPr/>
        </p:nvSpPr>
        <p:spPr>
          <a:xfrm>
            <a:off x="6510528" y="1865376"/>
            <a:ext cx="512064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1" name="Shape 39"/>
          <p:cNvSpPr/>
          <p:nvPr/>
        </p:nvSpPr>
        <p:spPr>
          <a:xfrm>
            <a:off x="6702552" y="2039112"/>
            <a:ext cx="265176" cy="265176"/>
          </a:xfrm>
          <a:prstGeom prst="ellipse">
            <a:avLst/>
          </a:prstGeom>
          <a:solidFill>
            <a:srgbClr val="FBEEE4"/>
          </a:solidFill>
          <a:ln w="12700">
            <a:solidFill>
              <a:srgbClr val="333333"/>
            </a:solidFill>
            <a:prstDash val="solid"/>
          </a:ln>
        </p:spPr>
      </p:sp>
      <p:sp>
        <p:nvSpPr>
          <p:cNvPr id="42" name="Text 40"/>
          <p:cNvSpPr/>
          <p:nvPr/>
        </p:nvSpPr>
        <p:spPr>
          <a:xfrm>
            <a:off x="6702552" y="2071116"/>
            <a:ext cx="265176" cy="201168"/>
          </a:xfrm>
          <a:prstGeom prst="rect">
            <a:avLst/>
          </a:prstGeom>
          <a:noFill/>
          <a:ln/>
        </p:spPr>
        <p:txBody>
          <a:bodyPr wrap="square" rtlCol="0" anchor="t"/>
          <a:lstStyle/>
          <a:p>
            <a:pPr algn="ctr" indent="0" marL="0">
              <a:buNone/>
            </a:pPr>
            <a:r>
              <a:rPr lang="en-US" sz="1200" b="1" dirty="0">
                <a:solidFill>
                  <a:srgbClr val="C2703B"/>
                </a:solidFill>
                <a:latin typeface="Segoe UI" pitchFamily="34" charset="0"/>
                <a:ea typeface="Segoe UI" pitchFamily="34" charset="-122"/>
                <a:cs typeface="Segoe UI" pitchFamily="34" charset="-120"/>
              </a:rPr>
              <a:t>✓</a:t>
            </a:r>
            <a:endParaRPr lang="en-US" sz="1200" dirty="0"/>
          </a:p>
        </p:txBody>
      </p:sp>
      <p:sp>
        <p:nvSpPr>
          <p:cNvPr id="43" name="Text 41"/>
          <p:cNvSpPr/>
          <p:nvPr/>
        </p:nvSpPr>
        <p:spPr>
          <a:xfrm>
            <a:off x="7086600" y="1947672"/>
            <a:ext cx="44348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Create a personalised, explainable plan</a:t>
            </a:r>
            <a:endParaRPr lang="en-US" sz="1200" dirty="0"/>
          </a:p>
        </p:txBody>
      </p:sp>
      <p:sp>
        <p:nvSpPr>
          <p:cNvPr id="44" name="Text 42"/>
          <p:cNvSpPr/>
          <p:nvPr/>
        </p:nvSpPr>
        <p:spPr>
          <a:xfrm>
            <a:off x="7086600" y="2185416"/>
            <a:ext cx="443484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Per-item Why this? plus a whole-day rationale</a:t>
            </a:r>
            <a:endParaRPr lang="en-US" sz="1000" dirty="0"/>
          </a:p>
        </p:txBody>
      </p:sp>
      <p:sp>
        <p:nvSpPr>
          <p:cNvPr id="45" name="Shape 43"/>
          <p:cNvSpPr/>
          <p:nvPr/>
        </p:nvSpPr>
        <p:spPr>
          <a:xfrm>
            <a:off x="6510528" y="2560320"/>
            <a:ext cx="512064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6" name="Shape 44"/>
          <p:cNvSpPr/>
          <p:nvPr/>
        </p:nvSpPr>
        <p:spPr>
          <a:xfrm>
            <a:off x="6702552" y="2734056"/>
            <a:ext cx="265176" cy="265176"/>
          </a:xfrm>
          <a:prstGeom prst="ellipse">
            <a:avLst/>
          </a:prstGeom>
          <a:solidFill>
            <a:srgbClr val="FBEEE4"/>
          </a:solidFill>
          <a:ln w="12700">
            <a:solidFill>
              <a:srgbClr val="333333"/>
            </a:solidFill>
            <a:prstDash val="solid"/>
          </a:ln>
        </p:spPr>
      </p:sp>
      <p:sp>
        <p:nvSpPr>
          <p:cNvPr id="47" name="Text 45"/>
          <p:cNvSpPr/>
          <p:nvPr/>
        </p:nvSpPr>
        <p:spPr>
          <a:xfrm>
            <a:off x="6702552" y="2766060"/>
            <a:ext cx="265176" cy="201168"/>
          </a:xfrm>
          <a:prstGeom prst="rect">
            <a:avLst/>
          </a:prstGeom>
          <a:noFill/>
          <a:ln/>
        </p:spPr>
        <p:txBody>
          <a:bodyPr wrap="square" rtlCol="0" anchor="t"/>
          <a:lstStyle/>
          <a:p>
            <a:pPr algn="ctr" indent="0" marL="0">
              <a:buNone/>
            </a:pPr>
            <a:r>
              <a:rPr lang="en-US" sz="1200" b="1" dirty="0">
                <a:solidFill>
                  <a:srgbClr val="C2703B"/>
                </a:solidFill>
                <a:latin typeface="Segoe UI" pitchFamily="34" charset="0"/>
                <a:ea typeface="Segoe UI" pitchFamily="34" charset="-122"/>
                <a:cs typeface="Segoe UI" pitchFamily="34" charset="-120"/>
              </a:rPr>
              <a:t>✓</a:t>
            </a:r>
            <a:endParaRPr lang="en-US" sz="1200" dirty="0"/>
          </a:p>
        </p:txBody>
      </p:sp>
      <p:sp>
        <p:nvSpPr>
          <p:cNvPr id="48" name="Text 46"/>
          <p:cNvSpPr/>
          <p:nvPr/>
        </p:nvSpPr>
        <p:spPr>
          <a:xfrm>
            <a:off x="7086600" y="2642616"/>
            <a:ext cx="44348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Analyse adherence and user feedback</a:t>
            </a:r>
            <a:endParaRPr lang="en-US" sz="1200" dirty="0"/>
          </a:p>
        </p:txBody>
      </p:sp>
      <p:sp>
        <p:nvSpPr>
          <p:cNvPr id="49" name="Text 47"/>
          <p:cNvSpPr/>
          <p:nvPr/>
        </p:nvSpPr>
        <p:spPr>
          <a:xfrm>
            <a:off x="7086600" y="2880360"/>
            <a:ext cx="443484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Item-by-item record rendered into the prompt as evidence</a:t>
            </a:r>
            <a:endParaRPr lang="en-US" sz="1000" dirty="0"/>
          </a:p>
        </p:txBody>
      </p:sp>
      <p:sp>
        <p:nvSpPr>
          <p:cNvPr id="50" name="Shape 48"/>
          <p:cNvSpPr/>
          <p:nvPr/>
        </p:nvSpPr>
        <p:spPr>
          <a:xfrm>
            <a:off x="6510528" y="3255264"/>
            <a:ext cx="512064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51" name="Shape 49"/>
          <p:cNvSpPr/>
          <p:nvPr/>
        </p:nvSpPr>
        <p:spPr>
          <a:xfrm>
            <a:off x="6702552" y="3429000"/>
            <a:ext cx="265176" cy="265176"/>
          </a:xfrm>
          <a:prstGeom prst="ellipse">
            <a:avLst/>
          </a:prstGeom>
          <a:solidFill>
            <a:srgbClr val="FBEEE4"/>
          </a:solidFill>
          <a:ln w="12700">
            <a:solidFill>
              <a:srgbClr val="333333"/>
            </a:solidFill>
            <a:prstDash val="solid"/>
          </a:ln>
        </p:spPr>
      </p:sp>
      <p:sp>
        <p:nvSpPr>
          <p:cNvPr id="52" name="Text 50"/>
          <p:cNvSpPr/>
          <p:nvPr/>
        </p:nvSpPr>
        <p:spPr>
          <a:xfrm>
            <a:off x="6702552" y="3461004"/>
            <a:ext cx="265176" cy="201168"/>
          </a:xfrm>
          <a:prstGeom prst="rect">
            <a:avLst/>
          </a:prstGeom>
          <a:noFill/>
          <a:ln/>
        </p:spPr>
        <p:txBody>
          <a:bodyPr wrap="square" rtlCol="0" anchor="t"/>
          <a:lstStyle/>
          <a:p>
            <a:pPr algn="ctr" indent="0" marL="0">
              <a:buNone/>
            </a:pPr>
            <a:r>
              <a:rPr lang="en-US" sz="1200" b="1" dirty="0">
                <a:solidFill>
                  <a:srgbClr val="C2703B"/>
                </a:solidFill>
                <a:latin typeface="Segoe UI" pitchFamily="34" charset="0"/>
                <a:ea typeface="Segoe UI" pitchFamily="34" charset="-122"/>
                <a:cs typeface="Segoe UI" pitchFamily="34" charset="-120"/>
              </a:rPr>
              <a:t>✓</a:t>
            </a:r>
            <a:endParaRPr lang="en-US" sz="1200" dirty="0"/>
          </a:p>
        </p:txBody>
      </p:sp>
      <p:sp>
        <p:nvSpPr>
          <p:cNvPr id="53" name="Text 51"/>
          <p:cNvSpPr/>
          <p:nvPr/>
        </p:nvSpPr>
        <p:spPr>
          <a:xfrm>
            <a:off x="7086600" y="3337560"/>
            <a:ext cx="44348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Adjust future recommendations contextually</a:t>
            </a:r>
            <a:endParaRPr lang="en-US" sz="1200" dirty="0"/>
          </a:p>
        </p:txBody>
      </p:sp>
      <p:sp>
        <p:nvSpPr>
          <p:cNvPr id="54" name="Text 52"/>
          <p:cNvSpPr/>
          <p:nvPr/>
        </p:nvSpPr>
        <p:spPr>
          <a:xfrm>
            <a:off x="7086600" y="3575304"/>
            <a:ext cx="443484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adjustmentNote must name the change and the evidence</a:t>
            </a:r>
            <a:endParaRPr lang="en-US" sz="1000" dirty="0"/>
          </a:p>
        </p:txBody>
      </p:sp>
      <p:sp>
        <p:nvSpPr>
          <p:cNvPr id="55" name="Shape 53"/>
          <p:cNvSpPr/>
          <p:nvPr/>
        </p:nvSpPr>
        <p:spPr>
          <a:xfrm>
            <a:off x="6510528" y="3950208"/>
            <a:ext cx="5120640" cy="621792"/>
          </a:xfrm>
          <a:prstGeom prst="roundRect">
            <a:avLst>
              <a:gd name="adj" fmla="val 13235"/>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56" name="Shape 54"/>
          <p:cNvSpPr/>
          <p:nvPr/>
        </p:nvSpPr>
        <p:spPr>
          <a:xfrm>
            <a:off x="6702552" y="4123944"/>
            <a:ext cx="265176" cy="265176"/>
          </a:xfrm>
          <a:prstGeom prst="ellipse">
            <a:avLst/>
          </a:prstGeom>
          <a:solidFill>
            <a:srgbClr val="FBEEE4"/>
          </a:solidFill>
          <a:ln w="12700">
            <a:solidFill>
              <a:srgbClr val="333333"/>
            </a:solidFill>
            <a:prstDash val="solid"/>
          </a:ln>
        </p:spPr>
      </p:sp>
      <p:sp>
        <p:nvSpPr>
          <p:cNvPr id="57" name="Text 55"/>
          <p:cNvSpPr/>
          <p:nvPr/>
        </p:nvSpPr>
        <p:spPr>
          <a:xfrm>
            <a:off x="6702552" y="4155948"/>
            <a:ext cx="265176" cy="201168"/>
          </a:xfrm>
          <a:prstGeom prst="rect">
            <a:avLst/>
          </a:prstGeom>
          <a:noFill/>
          <a:ln/>
        </p:spPr>
        <p:txBody>
          <a:bodyPr wrap="square" rtlCol="0" anchor="t"/>
          <a:lstStyle/>
          <a:p>
            <a:pPr algn="ctr" indent="0" marL="0">
              <a:buNone/>
            </a:pPr>
            <a:r>
              <a:rPr lang="en-US" sz="1200" b="1" dirty="0">
                <a:solidFill>
                  <a:srgbClr val="C2703B"/>
                </a:solidFill>
                <a:latin typeface="Segoe UI" pitchFamily="34" charset="0"/>
                <a:ea typeface="Segoe UI" pitchFamily="34" charset="-122"/>
                <a:cs typeface="Segoe UI" pitchFamily="34" charset="-120"/>
              </a:rPr>
              <a:t>✓</a:t>
            </a:r>
            <a:endParaRPr lang="en-US" sz="1200" dirty="0"/>
          </a:p>
        </p:txBody>
      </p:sp>
      <p:sp>
        <p:nvSpPr>
          <p:cNvPr id="58" name="Text 56"/>
          <p:cNvSpPr/>
          <p:nvPr/>
        </p:nvSpPr>
        <p:spPr>
          <a:xfrm>
            <a:off x="7086600" y="4032504"/>
            <a:ext cx="44348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Provide safe and supportive motivation</a:t>
            </a:r>
            <a:endParaRPr lang="en-US" sz="1200" dirty="0"/>
          </a:p>
        </p:txBody>
      </p:sp>
      <p:sp>
        <p:nvSpPr>
          <p:cNvPr id="59" name="Text 57"/>
          <p:cNvSpPr/>
          <p:nvPr/>
        </p:nvSpPr>
        <p:spPr>
          <a:xfrm>
            <a:off x="7086600" y="4270248"/>
            <a:ext cx="4434840" cy="237744"/>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Coach reads the day's real numbers; never shames a miss</a:t>
            </a:r>
            <a:endParaRPr lang="en-US" sz="1000" dirty="0"/>
          </a:p>
        </p:txBody>
      </p:sp>
      <p:sp>
        <p:nvSpPr>
          <p:cNvPr id="60" name="Text 58"/>
          <p:cNvSpPr/>
          <p:nvPr/>
        </p:nvSpPr>
        <p:spPr>
          <a:xfrm>
            <a:off x="6537960" y="4700016"/>
            <a:ext cx="4572000" cy="237744"/>
          </a:xfrm>
          <a:prstGeom prst="rect">
            <a:avLst/>
          </a:prstGeom>
          <a:noFill/>
          <a:ln/>
        </p:spPr>
        <p:txBody>
          <a:bodyPr wrap="square" rtlCol="0" anchor="t"/>
          <a:lstStyle/>
          <a:p>
            <a:pPr indent="0" marL="0">
              <a:buNone/>
            </a:pPr>
            <a:r>
              <a:rPr lang="en-US" sz="1050" b="1" spc="120" kern="0" dirty="0">
                <a:solidFill>
                  <a:srgbClr val="9C3F6D"/>
                </a:solidFill>
                <a:latin typeface="Segoe UI" pitchFamily="34" charset="0"/>
                <a:ea typeface="Segoe UI" pitchFamily="34" charset="-122"/>
                <a:cs typeface="Segoe UI" pitchFamily="34" charset="-120"/>
              </a:rPr>
              <a:t>OPTIONAL UPGRADES SHIPPED</a:t>
            </a:r>
            <a:endParaRPr lang="en-US" sz="1050" dirty="0"/>
          </a:p>
        </p:txBody>
      </p:sp>
      <p:sp>
        <p:nvSpPr>
          <p:cNvPr id="61" name="Text 59"/>
          <p:cNvSpPr/>
          <p:nvPr/>
        </p:nvSpPr>
        <p:spPr>
          <a:xfrm>
            <a:off x="6537960" y="4992624"/>
            <a:ext cx="228600" cy="256032"/>
          </a:xfrm>
          <a:prstGeom prst="rect">
            <a:avLst/>
          </a:prstGeom>
          <a:noFill/>
          <a:ln/>
        </p:spPr>
        <p:txBody>
          <a:bodyPr wrap="square" rtlCol="0" anchor="t"/>
          <a:lstStyle/>
          <a:p>
            <a:pPr indent="0" marL="0">
              <a:buNone/>
            </a:pPr>
            <a:r>
              <a:rPr lang="en-US" sz="1300" b="1" dirty="0">
                <a:solidFill>
                  <a:srgbClr val="9C3F6D"/>
                </a:solidFill>
                <a:latin typeface="Segoe UI" pitchFamily="34" charset="0"/>
                <a:ea typeface="Segoe UI" pitchFamily="34" charset="-122"/>
                <a:cs typeface="Segoe UI" pitchFamily="34" charset="-120"/>
              </a:rPr>
              <a:t>+</a:t>
            </a:r>
            <a:endParaRPr lang="en-US" sz="1300" dirty="0"/>
          </a:p>
        </p:txBody>
      </p:sp>
      <p:sp>
        <p:nvSpPr>
          <p:cNvPr id="62" name="Text 60"/>
          <p:cNvSpPr/>
          <p:nvPr/>
        </p:nvSpPr>
        <p:spPr>
          <a:xfrm>
            <a:off x="6812280" y="5010912"/>
            <a:ext cx="1920240" cy="237744"/>
          </a:xfrm>
          <a:prstGeom prst="rect">
            <a:avLst/>
          </a:prstGeom>
          <a:noFill/>
          <a:ln/>
        </p:spPr>
        <p:txBody>
          <a:bodyPr wrap="square" rtlCol="0" anchor="t"/>
          <a:lstStyle/>
          <a:p>
            <a:pPr indent="0" marL="0">
              <a:buNone/>
            </a:pPr>
            <a:r>
              <a:rPr lang="en-US" sz="1100" b="1" dirty="0">
                <a:solidFill>
                  <a:srgbClr val="17211C"/>
                </a:solidFill>
                <a:latin typeface="Segoe UI" pitchFamily="34" charset="0"/>
                <a:ea typeface="Segoe UI" pitchFamily="34" charset="-122"/>
                <a:cs typeface="Segoe UI" pitchFamily="34" charset="-120"/>
              </a:rPr>
              <a:t>Scheduled reminders</a:t>
            </a:r>
            <a:endParaRPr lang="en-US" sz="1100" dirty="0"/>
          </a:p>
        </p:txBody>
      </p:sp>
      <p:sp>
        <p:nvSpPr>
          <p:cNvPr id="63" name="Text 61"/>
          <p:cNvSpPr/>
          <p:nvPr/>
        </p:nvSpPr>
        <p:spPr>
          <a:xfrm>
            <a:off x="8686800" y="5010912"/>
            <a:ext cx="2926080" cy="237744"/>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Outbound Gujarati voice calls</a:t>
            </a:r>
            <a:endParaRPr lang="en-US" sz="1050" dirty="0"/>
          </a:p>
        </p:txBody>
      </p:sp>
      <p:sp>
        <p:nvSpPr>
          <p:cNvPr id="64" name="Text 62"/>
          <p:cNvSpPr/>
          <p:nvPr/>
        </p:nvSpPr>
        <p:spPr>
          <a:xfrm>
            <a:off x="6537960" y="5376672"/>
            <a:ext cx="228600" cy="256032"/>
          </a:xfrm>
          <a:prstGeom prst="rect">
            <a:avLst/>
          </a:prstGeom>
          <a:noFill/>
          <a:ln/>
        </p:spPr>
        <p:txBody>
          <a:bodyPr wrap="square" rtlCol="0" anchor="t"/>
          <a:lstStyle/>
          <a:p>
            <a:pPr indent="0" marL="0">
              <a:buNone/>
            </a:pPr>
            <a:r>
              <a:rPr lang="en-US" sz="1300" b="1" dirty="0">
                <a:solidFill>
                  <a:srgbClr val="9C3F6D"/>
                </a:solidFill>
                <a:latin typeface="Segoe UI" pitchFamily="34" charset="0"/>
                <a:ea typeface="Segoe UI" pitchFamily="34" charset="-122"/>
                <a:cs typeface="Segoe UI" pitchFamily="34" charset="-120"/>
              </a:rPr>
              <a:t>+</a:t>
            </a:r>
            <a:endParaRPr lang="en-US" sz="1300" dirty="0"/>
          </a:p>
        </p:txBody>
      </p:sp>
      <p:sp>
        <p:nvSpPr>
          <p:cNvPr id="65" name="Text 63"/>
          <p:cNvSpPr/>
          <p:nvPr/>
        </p:nvSpPr>
        <p:spPr>
          <a:xfrm>
            <a:off x="6812280" y="5394960"/>
            <a:ext cx="1920240" cy="237744"/>
          </a:xfrm>
          <a:prstGeom prst="rect">
            <a:avLst/>
          </a:prstGeom>
          <a:noFill/>
          <a:ln/>
        </p:spPr>
        <p:txBody>
          <a:bodyPr wrap="square" rtlCol="0" anchor="t"/>
          <a:lstStyle/>
          <a:p>
            <a:pPr indent="0" marL="0">
              <a:buNone/>
            </a:pPr>
            <a:r>
              <a:rPr lang="en-US" sz="1100" b="1" dirty="0">
                <a:solidFill>
                  <a:srgbClr val="17211C"/>
                </a:solidFill>
                <a:latin typeface="Segoe UI" pitchFamily="34" charset="0"/>
                <a:ea typeface="Segoe UI" pitchFamily="34" charset="-122"/>
                <a:cs typeface="Segoe UI" pitchFamily="34" charset="-120"/>
              </a:rPr>
              <a:t>Progress visualisation</a:t>
            </a:r>
            <a:endParaRPr lang="en-US" sz="1100" dirty="0"/>
          </a:p>
        </p:txBody>
      </p:sp>
      <p:sp>
        <p:nvSpPr>
          <p:cNvPr id="66" name="Text 64"/>
          <p:cNvSpPr/>
          <p:nvPr/>
        </p:nvSpPr>
        <p:spPr>
          <a:xfrm>
            <a:off x="8686800" y="5394960"/>
            <a:ext cx="2926080" cy="237744"/>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Adherence dashboard + trends</a:t>
            </a:r>
            <a:endParaRPr lang="en-US" sz="1050" dirty="0"/>
          </a:p>
        </p:txBody>
      </p:sp>
      <p:sp>
        <p:nvSpPr>
          <p:cNvPr id="67" name="Text 65"/>
          <p:cNvSpPr/>
          <p:nvPr/>
        </p:nvSpPr>
        <p:spPr>
          <a:xfrm>
            <a:off x="6537960" y="5760720"/>
            <a:ext cx="228600" cy="256032"/>
          </a:xfrm>
          <a:prstGeom prst="rect">
            <a:avLst/>
          </a:prstGeom>
          <a:noFill/>
          <a:ln/>
        </p:spPr>
        <p:txBody>
          <a:bodyPr wrap="square" rtlCol="0" anchor="t"/>
          <a:lstStyle/>
          <a:p>
            <a:pPr indent="0" marL="0">
              <a:buNone/>
            </a:pPr>
            <a:r>
              <a:rPr lang="en-US" sz="1300" b="1" dirty="0">
                <a:solidFill>
                  <a:srgbClr val="9C3F6D"/>
                </a:solidFill>
                <a:latin typeface="Segoe UI" pitchFamily="34" charset="0"/>
                <a:ea typeface="Segoe UI" pitchFamily="34" charset="-122"/>
                <a:cs typeface="Segoe UI" pitchFamily="34" charset="-120"/>
              </a:rPr>
              <a:t>+</a:t>
            </a:r>
            <a:endParaRPr lang="en-US" sz="1300" dirty="0"/>
          </a:p>
        </p:txBody>
      </p:sp>
      <p:sp>
        <p:nvSpPr>
          <p:cNvPr id="68" name="Text 66"/>
          <p:cNvSpPr/>
          <p:nvPr/>
        </p:nvSpPr>
        <p:spPr>
          <a:xfrm>
            <a:off x="6812280" y="5779008"/>
            <a:ext cx="1920240" cy="237744"/>
          </a:xfrm>
          <a:prstGeom prst="rect">
            <a:avLst/>
          </a:prstGeom>
          <a:noFill/>
          <a:ln/>
        </p:spPr>
        <p:txBody>
          <a:bodyPr wrap="square" rtlCol="0" anchor="t"/>
          <a:lstStyle/>
          <a:p>
            <a:pPr indent="0" marL="0">
              <a:buNone/>
            </a:pPr>
            <a:r>
              <a:rPr lang="en-US" sz="1100" b="1" dirty="0">
                <a:solidFill>
                  <a:srgbClr val="17211C"/>
                </a:solidFill>
                <a:latin typeface="Segoe UI" pitchFamily="34" charset="0"/>
                <a:ea typeface="Segoe UI" pitchFamily="34" charset="-122"/>
                <a:cs typeface="Segoe UI" pitchFamily="34" charset="-120"/>
              </a:rPr>
              <a:t>Regional meal options</a:t>
            </a:r>
            <a:endParaRPr lang="en-US" sz="1100" dirty="0"/>
          </a:p>
        </p:txBody>
      </p:sp>
      <p:sp>
        <p:nvSpPr>
          <p:cNvPr id="69" name="Text 67"/>
          <p:cNvSpPr/>
          <p:nvPr/>
        </p:nvSpPr>
        <p:spPr>
          <a:xfrm>
            <a:off x="8686800" y="5779008"/>
            <a:ext cx="2926080" cy="237744"/>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6 cuisines, 5 diets, Jain-aware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AI IS CORE, NOT DECORATIVE</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Four jobs the model actually does</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Remove the model and the product stops working — there is no template underneath.</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5</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691640"/>
            <a:ext cx="5431536" cy="1517904"/>
          </a:xfrm>
          <a:prstGeom prst="roundRect">
            <a:avLst>
              <a:gd name="adj" fmla="val 5422"/>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Shape 7"/>
          <p:cNvSpPr/>
          <p:nvPr/>
        </p:nvSpPr>
        <p:spPr>
          <a:xfrm>
            <a:off x="804672" y="1929384"/>
            <a:ext cx="50292" cy="1042416"/>
          </a:xfrm>
          <a:prstGeom prst="roundRect">
            <a:avLst>
              <a:gd name="adj" fmla="val 909091"/>
            </a:avLst>
          </a:prstGeom>
          <a:solidFill>
            <a:srgbClr val="1F6F4A"/>
          </a:solidFill>
          <a:ln w="12700">
            <a:solidFill>
              <a:srgbClr val="333333"/>
            </a:solidFill>
            <a:prstDash val="solid"/>
          </a:ln>
        </p:spPr>
      </p:sp>
      <p:sp>
        <p:nvSpPr>
          <p:cNvPr id="10" name="Text 8"/>
          <p:cNvSpPr/>
          <p:nvPr/>
        </p:nvSpPr>
        <p:spPr>
          <a:xfrm>
            <a:off x="1024128" y="1874520"/>
            <a:ext cx="2743200" cy="329184"/>
          </a:xfrm>
          <a:prstGeom prst="rect">
            <a:avLst/>
          </a:prstGeom>
          <a:noFill/>
          <a:ln/>
        </p:spPr>
        <p:txBody>
          <a:bodyPr wrap="square" rtlCol="0" anchor="t"/>
          <a:lstStyle/>
          <a:p>
            <a:pPr indent="0" marL="0">
              <a:buNone/>
            </a:pPr>
            <a:r>
              <a:rPr lang="en-US" sz="1700" b="1" dirty="0">
                <a:solidFill>
                  <a:srgbClr val="17211C"/>
                </a:solidFill>
                <a:latin typeface="Segoe UI" pitchFamily="34" charset="0"/>
                <a:ea typeface="Segoe UI" pitchFamily="34" charset="-122"/>
                <a:cs typeface="Segoe UI" pitchFamily="34" charset="-120"/>
              </a:rPr>
              <a:t>Plan</a:t>
            </a:r>
            <a:endParaRPr lang="en-US" sz="1700" dirty="0"/>
          </a:p>
        </p:txBody>
      </p:sp>
      <p:sp>
        <p:nvSpPr>
          <p:cNvPr id="11" name="Text 9"/>
          <p:cNvSpPr/>
          <p:nvPr/>
        </p:nvSpPr>
        <p:spPr>
          <a:xfrm>
            <a:off x="1024128" y="2203704"/>
            <a:ext cx="3108960" cy="219456"/>
          </a:xfrm>
          <a:prstGeom prst="rect">
            <a:avLst/>
          </a:prstGeom>
          <a:noFill/>
          <a:ln/>
        </p:spPr>
        <p:txBody>
          <a:bodyPr wrap="square" rtlCol="0" anchor="t"/>
          <a:lstStyle/>
          <a:p>
            <a:pPr indent="0" marL="0">
              <a:buNone/>
            </a:pPr>
            <a:r>
              <a:rPr lang="en-US" sz="950" b="1" dirty="0">
                <a:solidFill>
                  <a:srgbClr val="1F6F4A"/>
                </a:solidFill>
                <a:latin typeface="Segoe UI" pitchFamily="34" charset="0"/>
                <a:ea typeface="Segoe UI" pitchFamily="34" charset="-122"/>
                <a:cs typeface="Segoe UI" pitchFamily="34" charset="-120"/>
              </a:rPr>
              <a:t>ai/planner.ts</a:t>
            </a:r>
            <a:endParaRPr lang="en-US" sz="950" dirty="0"/>
          </a:p>
        </p:txBody>
      </p:sp>
      <p:sp>
        <p:nvSpPr>
          <p:cNvPr id="12" name="Text 10"/>
          <p:cNvSpPr/>
          <p:nvPr/>
        </p:nvSpPr>
        <p:spPr>
          <a:xfrm>
            <a:off x="1024128" y="2468880"/>
            <a:ext cx="4754880" cy="658368"/>
          </a:xfrm>
          <a:prstGeom prst="rect">
            <a:avLst/>
          </a:prstGeom>
          <a:noFill/>
          <a:ln/>
        </p:spPr>
        <p:txBody>
          <a:bodyPr wrap="square" rtlCol="0" anchor="t"/>
          <a:lstStyle/>
          <a:p>
            <a:pPr indent="0" marL="0">
              <a:lnSpc>
                <a:spcPts val="1550"/>
              </a:lnSpc>
              <a:buNone/>
            </a:pPr>
            <a:r>
              <a:rPr lang="en-US" sz="1100" dirty="0">
                <a:solidFill>
                  <a:srgbClr val="64726A"/>
                </a:solidFill>
                <a:latin typeface="Segoe UI" pitchFamily="34" charset="0"/>
                <a:ea typeface="Segoe UI" pitchFamily="34" charset="-122"/>
                <a:cs typeface="Segoe UI" pitchFamily="34" charset="-120"/>
              </a:rPr>
              <a:t>Writes the day from the profile plus 3 days of recorded adherence. The prompt forbids re-issuing an item that was missed — it must be moved, shrunk or swapped.</a:t>
            </a:r>
            <a:endParaRPr lang="en-US" sz="1100" dirty="0"/>
          </a:p>
        </p:txBody>
      </p:sp>
      <p:sp>
        <p:nvSpPr>
          <p:cNvPr id="13" name="Shape 11"/>
          <p:cNvSpPr/>
          <p:nvPr/>
        </p:nvSpPr>
        <p:spPr>
          <a:xfrm>
            <a:off x="6254496" y="1691640"/>
            <a:ext cx="5431536" cy="1517904"/>
          </a:xfrm>
          <a:prstGeom prst="roundRect">
            <a:avLst>
              <a:gd name="adj" fmla="val 5422"/>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4" name="Shape 12"/>
          <p:cNvSpPr/>
          <p:nvPr/>
        </p:nvSpPr>
        <p:spPr>
          <a:xfrm>
            <a:off x="6492240" y="1929384"/>
            <a:ext cx="50292" cy="1042416"/>
          </a:xfrm>
          <a:prstGeom prst="roundRect">
            <a:avLst>
              <a:gd name="adj" fmla="val 909091"/>
            </a:avLst>
          </a:prstGeom>
          <a:solidFill>
            <a:srgbClr val="2B7FA8"/>
          </a:solidFill>
          <a:ln w="12700">
            <a:solidFill>
              <a:srgbClr val="333333"/>
            </a:solidFill>
            <a:prstDash val="solid"/>
          </a:ln>
        </p:spPr>
      </p:sp>
      <p:sp>
        <p:nvSpPr>
          <p:cNvPr id="15" name="Text 13"/>
          <p:cNvSpPr/>
          <p:nvPr/>
        </p:nvSpPr>
        <p:spPr>
          <a:xfrm>
            <a:off x="6711696" y="1874520"/>
            <a:ext cx="2743200" cy="329184"/>
          </a:xfrm>
          <a:prstGeom prst="rect">
            <a:avLst/>
          </a:prstGeom>
          <a:noFill/>
          <a:ln/>
        </p:spPr>
        <p:txBody>
          <a:bodyPr wrap="square" rtlCol="0" anchor="t"/>
          <a:lstStyle/>
          <a:p>
            <a:pPr indent="0" marL="0">
              <a:buNone/>
            </a:pPr>
            <a:r>
              <a:rPr lang="en-US" sz="1700" b="1" dirty="0">
                <a:solidFill>
                  <a:srgbClr val="17211C"/>
                </a:solidFill>
                <a:latin typeface="Segoe UI" pitchFamily="34" charset="0"/>
                <a:ea typeface="Segoe UI" pitchFamily="34" charset="-122"/>
                <a:cs typeface="Segoe UI" pitchFamily="34" charset="-120"/>
              </a:rPr>
              <a:t>Analyse</a:t>
            </a:r>
            <a:endParaRPr lang="en-US" sz="1700" dirty="0"/>
          </a:p>
        </p:txBody>
      </p:sp>
      <p:sp>
        <p:nvSpPr>
          <p:cNvPr id="16" name="Text 14"/>
          <p:cNvSpPr/>
          <p:nvPr/>
        </p:nvSpPr>
        <p:spPr>
          <a:xfrm>
            <a:off x="6711696" y="2203704"/>
            <a:ext cx="3108960" cy="219456"/>
          </a:xfrm>
          <a:prstGeom prst="rect">
            <a:avLst/>
          </a:prstGeom>
          <a:noFill/>
          <a:ln/>
        </p:spPr>
        <p:txBody>
          <a:bodyPr wrap="square" rtlCol="0" anchor="t"/>
          <a:lstStyle/>
          <a:p>
            <a:pPr indent="0" marL="0">
              <a:buNone/>
            </a:pPr>
            <a:r>
              <a:rPr lang="en-US" sz="950" b="1" dirty="0">
                <a:solidFill>
                  <a:srgbClr val="2B7FA8"/>
                </a:solidFill>
                <a:latin typeface="Segoe UI" pitchFamily="34" charset="0"/>
                <a:ea typeface="Segoe UI" pitchFamily="34" charset="-122"/>
                <a:cs typeface="Segoe UI" pitchFamily="34" charset="-120"/>
              </a:rPr>
              <a:t>ai/summarizer.ts</a:t>
            </a:r>
            <a:endParaRPr lang="en-US" sz="950" dirty="0"/>
          </a:p>
        </p:txBody>
      </p:sp>
      <p:sp>
        <p:nvSpPr>
          <p:cNvPr id="17" name="Text 15"/>
          <p:cNvSpPr/>
          <p:nvPr/>
        </p:nvSpPr>
        <p:spPr>
          <a:xfrm>
            <a:off x="6711696" y="2468880"/>
            <a:ext cx="4754880" cy="658368"/>
          </a:xfrm>
          <a:prstGeom prst="rect">
            <a:avLst/>
          </a:prstGeom>
          <a:noFill/>
          <a:ln/>
        </p:spPr>
        <p:txBody>
          <a:bodyPr wrap="square" rtlCol="0" anchor="t"/>
          <a:lstStyle/>
          <a:p>
            <a:pPr indent="0" marL="0">
              <a:lnSpc>
                <a:spcPts val="1550"/>
              </a:lnSpc>
              <a:buNone/>
            </a:pPr>
            <a:r>
              <a:rPr lang="en-US" sz="1100" dirty="0">
                <a:solidFill>
                  <a:srgbClr val="64726A"/>
                </a:solidFill>
                <a:latin typeface="Segoe UI" pitchFamily="34" charset="0"/>
                <a:ea typeface="Segoe UI" pitchFamily="34" charset="-122"/>
                <a:cs typeface="Segoe UI" pitchFamily="34" charset="-120"/>
              </a:rPr>
              <a:t>End-of-day recap constrained to logged rows. An unlogged item is reported as not logged — never assumed done, never assumed skipped.</a:t>
            </a:r>
            <a:endParaRPr lang="en-US" sz="1100" dirty="0"/>
          </a:p>
        </p:txBody>
      </p:sp>
      <p:sp>
        <p:nvSpPr>
          <p:cNvPr id="18" name="Shape 16"/>
          <p:cNvSpPr/>
          <p:nvPr/>
        </p:nvSpPr>
        <p:spPr>
          <a:xfrm>
            <a:off x="566928" y="3364992"/>
            <a:ext cx="5431536" cy="1517904"/>
          </a:xfrm>
          <a:prstGeom prst="roundRect">
            <a:avLst>
              <a:gd name="adj" fmla="val 5422"/>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9" name="Shape 17"/>
          <p:cNvSpPr/>
          <p:nvPr/>
        </p:nvSpPr>
        <p:spPr>
          <a:xfrm>
            <a:off x="804672" y="3602736"/>
            <a:ext cx="50292" cy="1042416"/>
          </a:xfrm>
          <a:prstGeom prst="roundRect">
            <a:avLst>
              <a:gd name="adj" fmla="val 909091"/>
            </a:avLst>
          </a:prstGeom>
          <a:solidFill>
            <a:srgbClr val="C2703B"/>
          </a:solidFill>
          <a:ln w="12700">
            <a:solidFill>
              <a:srgbClr val="333333"/>
            </a:solidFill>
            <a:prstDash val="solid"/>
          </a:ln>
        </p:spPr>
      </p:sp>
      <p:sp>
        <p:nvSpPr>
          <p:cNvPr id="20" name="Text 18"/>
          <p:cNvSpPr/>
          <p:nvPr/>
        </p:nvSpPr>
        <p:spPr>
          <a:xfrm>
            <a:off x="1024128" y="3547872"/>
            <a:ext cx="2743200" cy="329184"/>
          </a:xfrm>
          <a:prstGeom prst="rect">
            <a:avLst/>
          </a:prstGeom>
          <a:noFill/>
          <a:ln/>
        </p:spPr>
        <p:txBody>
          <a:bodyPr wrap="square" rtlCol="0" anchor="t"/>
          <a:lstStyle/>
          <a:p>
            <a:pPr indent="0" marL="0">
              <a:buNone/>
            </a:pPr>
            <a:r>
              <a:rPr lang="en-US" sz="1700" b="1" dirty="0">
                <a:solidFill>
                  <a:srgbClr val="17211C"/>
                </a:solidFill>
                <a:latin typeface="Segoe UI" pitchFamily="34" charset="0"/>
                <a:ea typeface="Segoe UI" pitchFamily="34" charset="-122"/>
                <a:cs typeface="Segoe UI" pitchFamily="34" charset="-120"/>
              </a:rPr>
              <a:t>Adjust</a:t>
            </a:r>
            <a:endParaRPr lang="en-US" sz="1700" dirty="0"/>
          </a:p>
        </p:txBody>
      </p:sp>
      <p:sp>
        <p:nvSpPr>
          <p:cNvPr id="21" name="Text 19"/>
          <p:cNvSpPr/>
          <p:nvPr/>
        </p:nvSpPr>
        <p:spPr>
          <a:xfrm>
            <a:off x="1024128" y="3877056"/>
            <a:ext cx="3108960" cy="219456"/>
          </a:xfrm>
          <a:prstGeom prst="rect">
            <a:avLst/>
          </a:prstGeom>
          <a:noFill/>
          <a:ln/>
        </p:spPr>
        <p:txBody>
          <a:bodyPr wrap="square" rtlCol="0" anchor="t"/>
          <a:lstStyle/>
          <a:p>
            <a:pPr indent="0" marL="0">
              <a:buNone/>
            </a:pPr>
            <a:r>
              <a:rPr lang="en-US" sz="950" b="1" dirty="0">
                <a:solidFill>
                  <a:srgbClr val="C2703B"/>
                </a:solidFill>
                <a:latin typeface="Segoe UI" pitchFamily="34" charset="0"/>
                <a:ea typeface="Segoe UI" pitchFamily="34" charset="-122"/>
                <a:cs typeface="Segoe UI" pitchFamily="34" charset="-120"/>
              </a:rPr>
              <a:t>adjustmentNote</a:t>
            </a:r>
            <a:endParaRPr lang="en-US" sz="950" dirty="0"/>
          </a:p>
        </p:txBody>
      </p:sp>
      <p:sp>
        <p:nvSpPr>
          <p:cNvPr id="22" name="Text 20"/>
          <p:cNvSpPr/>
          <p:nvPr/>
        </p:nvSpPr>
        <p:spPr>
          <a:xfrm>
            <a:off x="1024128" y="4142232"/>
            <a:ext cx="4754880" cy="658368"/>
          </a:xfrm>
          <a:prstGeom prst="rect">
            <a:avLst/>
          </a:prstGeom>
          <a:noFill/>
          <a:ln/>
        </p:spPr>
        <p:txBody>
          <a:bodyPr wrap="square" rtlCol="0" anchor="t"/>
          <a:lstStyle/>
          <a:p>
            <a:pPr indent="0" marL="0">
              <a:lnSpc>
                <a:spcPts val="1550"/>
              </a:lnSpc>
              <a:buNone/>
            </a:pPr>
            <a:r>
              <a:rPr lang="en-US" sz="1100" dirty="0">
                <a:solidFill>
                  <a:srgbClr val="64726A"/>
                </a:solidFill>
                <a:latin typeface="Segoe UI" pitchFamily="34" charset="0"/>
                <a:ea typeface="Segoe UI" pitchFamily="34" charset="-122"/>
                <a:cs typeface="Segoe UI" pitchFamily="34" charset="-120"/>
              </a:rPr>
              <a:t>Names the specific change and the evidence behind it. This field is what makes the loop legible to the user and to a judge.</a:t>
            </a:r>
            <a:endParaRPr lang="en-US" sz="1100" dirty="0"/>
          </a:p>
        </p:txBody>
      </p:sp>
      <p:sp>
        <p:nvSpPr>
          <p:cNvPr id="23" name="Shape 21"/>
          <p:cNvSpPr/>
          <p:nvPr/>
        </p:nvSpPr>
        <p:spPr>
          <a:xfrm>
            <a:off x="6254496" y="3364992"/>
            <a:ext cx="5431536" cy="1517904"/>
          </a:xfrm>
          <a:prstGeom prst="roundRect">
            <a:avLst>
              <a:gd name="adj" fmla="val 5422"/>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4" name="Shape 22"/>
          <p:cNvSpPr/>
          <p:nvPr/>
        </p:nvSpPr>
        <p:spPr>
          <a:xfrm>
            <a:off x="6492240" y="3602736"/>
            <a:ext cx="50292" cy="1042416"/>
          </a:xfrm>
          <a:prstGeom prst="roundRect">
            <a:avLst>
              <a:gd name="adj" fmla="val 909091"/>
            </a:avLst>
          </a:prstGeom>
          <a:solidFill>
            <a:srgbClr val="9C3F6D"/>
          </a:solidFill>
          <a:ln w="12700">
            <a:solidFill>
              <a:srgbClr val="333333"/>
            </a:solidFill>
            <a:prstDash val="solid"/>
          </a:ln>
        </p:spPr>
      </p:sp>
      <p:sp>
        <p:nvSpPr>
          <p:cNvPr id="25" name="Text 23"/>
          <p:cNvSpPr/>
          <p:nvPr/>
        </p:nvSpPr>
        <p:spPr>
          <a:xfrm>
            <a:off x="6711696" y="3547872"/>
            <a:ext cx="2743200" cy="329184"/>
          </a:xfrm>
          <a:prstGeom prst="rect">
            <a:avLst/>
          </a:prstGeom>
          <a:noFill/>
          <a:ln/>
        </p:spPr>
        <p:txBody>
          <a:bodyPr wrap="square" rtlCol="0" anchor="t"/>
          <a:lstStyle/>
          <a:p>
            <a:pPr indent="0" marL="0">
              <a:buNone/>
            </a:pPr>
            <a:r>
              <a:rPr lang="en-US" sz="1700" b="1" dirty="0">
                <a:solidFill>
                  <a:srgbClr val="17211C"/>
                </a:solidFill>
                <a:latin typeface="Segoe UI" pitchFamily="34" charset="0"/>
                <a:ea typeface="Segoe UI" pitchFamily="34" charset="-122"/>
                <a:cs typeface="Segoe UI" pitchFamily="34" charset="-120"/>
              </a:rPr>
              <a:t>Motivate</a:t>
            </a:r>
            <a:endParaRPr lang="en-US" sz="1700" dirty="0"/>
          </a:p>
        </p:txBody>
      </p:sp>
      <p:sp>
        <p:nvSpPr>
          <p:cNvPr id="26" name="Text 24"/>
          <p:cNvSpPr/>
          <p:nvPr/>
        </p:nvSpPr>
        <p:spPr>
          <a:xfrm>
            <a:off x="6711696" y="3877056"/>
            <a:ext cx="3108960" cy="219456"/>
          </a:xfrm>
          <a:prstGeom prst="rect">
            <a:avLst/>
          </a:prstGeom>
          <a:noFill/>
          <a:ln/>
        </p:spPr>
        <p:txBody>
          <a:bodyPr wrap="square" rtlCol="0" anchor="t"/>
          <a:lstStyle/>
          <a:p>
            <a:pPr indent="0" marL="0">
              <a:buNone/>
            </a:pPr>
            <a:r>
              <a:rPr lang="en-US" sz="950" b="1" dirty="0">
                <a:solidFill>
                  <a:srgbClr val="9C3F6D"/>
                </a:solidFill>
                <a:latin typeface="Segoe UI" pitchFamily="34" charset="0"/>
                <a:ea typeface="Segoe UI" pitchFamily="34" charset="-122"/>
                <a:cs typeface="Segoe UI" pitchFamily="34" charset="-120"/>
              </a:rPr>
              <a:t>ai/coach.ts + voice/script.ts</a:t>
            </a:r>
            <a:endParaRPr lang="en-US" sz="950" dirty="0"/>
          </a:p>
        </p:txBody>
      </p:sp>
      <p:sp>
        <p:nvSpPr>
          <p:cNvPr id="27" name="Text 25"/>
          <p:cNvSpPr/>
          <p:nvPr/>
        </p:nvSpPr>
        <p:spPr>
          <a:xfrm>
            <a:off x="6711696" y="4142232"/>
            <a:ext cx="4754880" cy="658368"/>
          </a:xfrm>
          <a:prstGeom prst="rect">
            <a:avLst/>
          </a:prstGeom>
          <a:noFill/>
          <a:ln/>
        </p:spPr>
        <p:txBody>
          <a:bodyPr wrap="square" rtlCol="0" anchor="t"/>
          <a:lstStyle/>
          <a:p>
            <a:pPr indent="0" marL="0">
              <a:lnSpc>
                <a:spcPts val="1550"/>
              </a:lnSpc>
              <a:buNone/>
            </a:pPr>
            <a:r>
              <a:rPr lang="en-US" sz="1100" dirty="0">
                <a:solidFill>
                  <a:srgbClr val="64726A"/>
                </a:solidFill>
                <a:latin typeface="Segoe UI" pitchFamily="34" charset="0"/>
                <a:ea typeface="Segoe UI" pitchFamily="34" charset="-122"/>
                <a:cs typeface="Segoe UI" pitchFamily="34" charset="-120"/>
              </a:rPr>
              <a:t>Chat coaching grounded in the real numbers, and the Gujarati reminder line written fresh at dial time from live progress.</a:t>
            </a:r>
            <a:endParaRPr lang="en-US" sz="1100" dirty="0"/>
          </a:p>
        </p:txBody>
      </p:sp>
      <p:sp>
        <p:nvSpPr>
          <p:cNvPr id="28" name="Shape 26"/>
          <p:cNvSpPr/>
          <p:nvPr/>
        </p:nvSpPr>
        <p:spPr>
          <a:xfrm>
            <a:off x="566928" y="5084064"/>
            <a:ext cx="5431536" cy="1170432"/>
          </a:xfrm>
          <a:prstGeom prst="roundRect">
            <a:avLst>
              <a:gd name="adj" fmla="val 7031"/>
            </a:avLst>
          </a:prstGeom>
          <a:solidFill>
            <a:srgbClr val="17211C"/>
          </a:solidFill>
          <a:ln w="12700">
            <a:solidFill>
              <a:srgbClr val="17211C"/>
            </a:solidFill>
            <a:prstDash val="solid"/>
          </a:ln>
          <a:effectLst>
            <a:outerShdw sx="100000" sy="100000" kx="0" ky="0" algn="bl" rotWithShape="0" blurRad="101600" dist="50800" dir="16200000">
              <a:srgbClr val="000000">
                <a:alpha val="75000"/>
              </a:srgbClr>
            </a:outerShdw>
          </a:effectLst>
        </p:spPr>
      </p:sp>
      <p:sp>
        <p:nvSpPr>
          <p:cNvPr id="29" name="Text 27"/>
          <p:cNvSpPr/>
          <p:nvPr/>
        </p:nvSpPr>
        <p:spPr>
          <a:xfrm>
            <a:off x="841248" y="5230368"/>
            <a:ext cx="4937760" cy="274320"/>
          </a:xfrm>
          <a:prstGeom prst="rect">
            <a:avLst/>
          </a:prstGeom>
          <a:noFill/>
          <a:ln/>
        </p:spPr>
        <p:txBody>
          <a:bodyPr wrap="square" rtlCol="0" anchor="t"/>
          <a:lstStyle/>
          <a:p>
            <a:pPr indent="0" marL="0">
              <a:buNone/>
            </a:pPr>
            <a:r>
              <a:rPr lang="en-US" sz="1300" b="1" dirty="0">
                <a:solidFill>
                  <a:srgbClr val="FFFFFF"/>
                </a:solidFill>
                <a:latin typeface="Segoe UI" pitchFamily="34" charset="0"/>
                <a:ea typeface="Segoe UI" pitchFamily="34" charset="-122"/>
                <a:cs typeface="Segoe UI" pitchFamily="34" charset="-120"/>
              </a:rPr>
              <a:t>Explainability is a field, not a promise</a:t>
            </a:r>
            <a:endParaRPr lang="en-US" sz="1300" dirty="0"/>
          </a:p>
        </p:txBody>
      </p:sp>
      <p:sp>
        <p:nvSpPr>
          <p:cNvPr id="30" name="Text 28"/>
          <p:cNvSpPr/>
          <p:nvPr/>
        </p:nvSpPr>
        <p:spPr>
          <a:xfrm>
            <a:off x="841248" y="5541264"/>
            <a:ext cx="4937760" cy="621792"/>
          </a:xfrm>
          <a:prstGeom prst="rect">
            <a:avLst/>
          </a:prstGeom>
          <a:noFill/>
          <a:ln/>
        </p:spPr>
        <p:txBody>
          <a:bodyPr wrap="square" rtlCol="0" anchor="t"/>
          <a:lstStyle/>
          <a:p>
            <a:pPr indent="0" marL="0">
              <a:lnSpc>
                <a:spcPts val="1500"/>
              </a:lnSpc>
              <a:buNone/>
            </a:pPr>
            <a:r>
              <a:rPr lang="en-US" sz="1080" dirty="0">
                <a:solidFill>
                  <a:srgbClr val="B9C6BF"/>
                </a:solidFill>
                <a:latin typeface="Segoe UI" pitchFamily="34" charset="0"/>
                <a:ea typeface="Segoe UI" pitchFamily="34" charset="-122"/>
                <a:cs typeface="Segoe UI" pitchFamily="34" charset="-120"/>
              </a:rPr>
              <a:t>Every item ships a why. Every plan ships a rationale. Every change ships an adjustmentNote. The UI renders all three.</a:t>
            </a:r>
            <a:endParaRPr lang="en-US" sz="1080" dirty="0"/>
          </a:p>
        </p:txBody>
      </p:sp>
      <p:sp>
        <p:nvSpPr>
          <p:cNvPr id="31" name="Shape 29"/>
          <p:cNvSpPr/>
          <p:nvPr/>
        </p:nvSpPr>
        <p:spPr>
          <a:xfrm>
            <a:off x="6254496" y="5084064"/>
            <a:ext cx="5376672" cy="1170432"/>
          </a:xfrm>
          <a:prstGeom prst="roundRect">
            <a:avLst>
              <a:gd name="adj" fmla="val 7031"/>
            </a:avLst>
          </a:prstGeom>
          <a:solidFill>
            <a:srgbClr val="FBF1DE"/>
          </a:solidFill>
          <a:ln w="12700">
            <a:solidFill>
              <a:srgbClr val="FBF1DE"/>
            </a:solidFill>
            <a:prstDash val="solid"/>
          </a:ln>
          <a:effectLst>
            <a:outerShdw sx="100000" sy="100000" kx="0" ky="0" algn="bl" rotWithShape="0" blurRad="101600" dist="50800" dir="16200000">
              <a:srgbClr val="000000">
                <a:alpha val="75000"/>
              </a:srgbClr>
            </a:outerShdw>
          </a:effectLst>
        </p:spPr>
      </p:sp>
      <p:sp>
        <p:nvSpPr>
          <p:cNvPr id="32" name="Text 30"/>
          <p:cNvSpPr/>
          <p:nvPr/>
        </p:nvSpPr>
        <p:spPr>
          <a:xfrm>
            <a:off x="6528816" y="5230368"/>
            <a:ext cx="4937760" cy="274320"/>
          </a:xfrm>
          <a:prstGeom prst="rect">
            <a:avLst/>
          </a:prstGeom>
          <a:noFill/>
          <a:ln/>
        </p:spPr>
        <p:txBody>
          <a:bodyPr wrap="square" rtlCol="0" anchor="t"/>
          <a:lstStyle/>
          <a:p>
            <a:pPr indent="0" marL="0">
              <a:buNone/>
            </a:pPr>
            <a:r>
              <a:rPr lang="en-US" sz="1300" b="1" dirty="0">
                <a:solidFill>
                  <a:srgbClr val="9A6A17"/>
                </a:solidFill>
                <a:latin typeface="Segoe UI" pitchFamily="34" charset="0"/>
                <a:ea typeface="Segoe UI" pitchFamily="34" charset="-122"/>
                <a:cs typeface="Segoe UI" pitchFamily="34" charset="-120"/>
              </a:rPr>
              <a:t>Adherence itself is NOT the model</a:t>
            </a:r>
            <a:endParaRPr lang="en-US" sz="1300" dirty="0"/>
          </a:p>
        </p:txBody>
      </p:sp>
      <p:sp>
        <p:nvSpPr>
          <p:cNvPr id="33" name="Text 31"/>
          <p:cNvSpPr/>
          <p:nvPr/>
        </p:nvSpPr>
        <p:spPr>
          <a:xfrm>
            <a:off x="6528816" y="5522976"/>
            <a:ext cx="4892040" cy="658368"/>
          </a:xfrm>
          <a:prstGeom prst="rect">
            <a:avLst/>
          </a:prstGeom>
          <a:noFill/>
          <a:ln/>
        </p:spPr>
        <p:txBody>
          <a:bodyPr wrap="square" rtlCol="0" anchor="t"/>
          <a:lstStyle/>
          <a:p>
            <a:pPr indent="0" marL="0">
              <a:lnSpc>
                <a:spcPts val="1400"/>
              </a:lnSpc>
              <a:buNone/>
            </a:pPr>
            <a:r>
              <a:rPr lang="en-US" sz="1020" dirty="0">
                <a:solidFill>
                  <a:srgbClr val="7A5412"/>
                </a:solidFill>
                <a:latin typeface="Segoe UI" pitchFamily="34" charset="0"/>
                <a:ea typeface="Segoe UI" pitchFamily="34" charset="-122"/>
                <a:cs typeface="Segoe UI" pitchFamily="34" charset="-120"/>
              </a:rPr>
              <a:t>Scores are computed in adherence.ts from check-in rows, then fed to the model. The number on screen and the number the AI reasons over are the same number.</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CORE AI DEMO</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Missed tasks change the next recommendation</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The proof point judges ask for — shown with output taken straight from the running app.</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6</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645920"/>
            <a:ext cx="4114800" cy="2788920"/>
          </a:xfrm>
          <a:prstGeom prst="roundRect">
            <a:avLst>
              <a:gd name="adj" fmla="val 2951"/>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Shape 7"/>
          <p:cNvSpPr/>
          <p:nvPr/>
        </p:nvSpPr>
        <p:spPr>
          <a:xfrm>
            <a:off x="804672" y="1847088"/>
            <a:ext cx="2286000" cy="256032"/>
          </a:xfrm>
          <a:prstGeom prst="roundRect">
            <a:avLst>
              <a:gd name="adj" fmla="val 53571"/>
            </a:avLst>
          </a:prstGeom>
          <a:solidFill>
            <a:srgbClr val="FBEAE6"/>
          </a:solidFill>
          <a:ln w="12700">
            <a:solidFill>
              <a:srgbClr val="FBEAE6"/>
            </a:solidFill>
            <a:prstDash val="solid"/>
          </a:ln>
        </p:spPr>
      </p:sp>
      <p:sp>
        <p:nvSpPr>
          <p:cNvPr id="10" name="Text 8"/>
          <p:cNvSpPr/>
          <p:nvPr/>
        </p:nvSpPr>
        <p:spPr>
          <a:xfrm>
            <a:off x="804672" y="1888236"/>
            <a:ext cx="2286000" cy="173736"/>
          </a:xfrm>
          <a:prstGeom prst="rect">
            <a:avLst/>
          </a:prstGeom>
          <a:noFill/>
          <a:ln/>
        </p:spPr>
        <p:txBody>
          <a:bodyPr wrap="square" rtlCol="0" anchor="t"/>
          <a:lstStyle/>
          <a:p>
            <a:pPr algn="ctr" indent="0" marL="0">
              <a:buNone/>
            </a:pPr>
            <a:r>
              <a:rPr lang="en-US" sz="1050" b="1" dirty="0">
                <a:solidFill>
                  <a:srgbClr val="B4452F"/>
                </a:solidFill>
                <a:latin typeface="Segoe UI" pitchFamily="34" charset="0"/>
                <a:ea typeface="Segoe UI" pitchFamily="34" charset="-122"/>
                <a:cs typeface="Segoe UI" pitchFamily="34" charset="-120"/>
              </a:rPr>
              <a:t>DAY 1 + 2  ·  RECORDED</a:t>
            </a:r>
            <a:endParaRPr lang="en-US" sz="1050" dirty="0"/>
          </a:p>
        </p:txBody>
      </p:sp>
      <p:sp>
        <p:nvSpPr>
          <p:cNvPr id="11" name="Text 9"/>
          <p:cNvSpPr/>
          <p:nvPr/>
        </p:nvSpPr>
        <p:spPr>
          <a:xfrm>
            <a:off x="804672" y="2212848"/>
            <a:ext cx="3657600" cy="292608"/>
          </a:xfrm>
          <a:prstGeom prst="rect">
            <a:avLst/>
          </a:prstGeom>
          <a:noFill/>
          <a:ln/>
        </p:spPr>
        <p:txBody>
          <a:bodyPr wrap="square" rtlCol="0" anchor="t"/>
          <a:lstStyle/>
          <a:p>
            <a:pPr indent="0" marL="0">
              <a:buNone/>
            </a:pPr>
            <a:r>
              <a:rPr lang="en-US" sz="1450" b="1" dirty="0">
                <a:solidFill>
                  <a:srgbClr val="17211C"/>
                </a:solidFill>
                <a:latin typeface="Segoe UI" pitchFamily="34" charset="0"/>
                <a:ea typeface="Segoe UI" pitchFamily="34" charset="-122"/>
                <a:cs typeface="Segoe UI" pitchFamily="34" charset="-120"/>
              </a:rPr>
              <a:t>What the record showed</a:t>
            </a:r>
            <a:endParaRPr lang="en-US" sz="1450" dirty="0"/>
          </a:p>
        </p:txBody>
      </p:sp>
      <p:sp>
        <p:nvSpPr>
          <p:cNvPr id="12" name="Text 10"/>
          <p:cNvSpPr/>
          <p:nvPr/>
        </p:nvSpPr>
        <p:spPr>
          <a:xfrm>
            <a:off x="804672" y="2606040"/>
            <a:ext cx="1600200" cy="256032"/>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Workout 08:00</a:t>
            </a:r>
            <a:endParaRPr lang="en-US" sz="1050" dirty="0"/>
          </a:p>
        </p:txBody>
      </p:sp>
      <p:sp>
        <p:nvSpPr>
          <p:cNvPr id="13" name="Text 11"/>
          <p:cNvSpPr/>
          <p:nvPr/>
        </p:nvSpPr>
        <p:spPr>
          <a:xfrm>
            <a:off x="2377440" y="2606040"/>
            <a:ext cx="2240280" cy="274320"/>
          </a:xfrm>
          <a:prstGeom prst="rect">
            <a:avLst/>
          </a:prstGeom>
          <a:noFill/>
          <a:ln/>
        </p:spPr>
        <p:txBody>
          <a:bodyPr wrap="square" rtlCol="0" anchor="t"/>
          <a:lstStyle/>
          <a:p>
            <a:pPr indent="0" marL="0">
              <a:buNone/>
            </a:pPr>
            <a:r>
              <a:rPr lang="en-US" sz="1050" b="1" dirty="0">
                <a:solidFill>
                  <a:srgbClr val="B4452F"/>
                </a:solidFill>
                <a:latin typeface="Segoe UI" pitchFamily="34" charset="0"/>
                <a:ea typeface="Segoe UI" pitchFamily="34" charset="-122"/>
                <a:cs typeface="Segoe UI" pitchFamily="34" charset="-120"/>
              </a:rPr>
              <a:t>SKIPPED  ×2</a:t>
            </a:r>
            <a:endParaRPr lang="en-US" sz="1050" dirty="0"/>
          </a:p>
        </p:txBody>
      </p:sp>
      <p:sp>
        <p:nvSpPr>
          <p:cNvPr id="14" name="Text 12"/>
          <p:cNvSpPr/>
          <p:nvPr/>
        </p:nvSpPr>
        <p:spPr>
          <a:xfrm>
            <a:off x="804672" y="3008376"/>
            <a:ext cx="1600200" cy="256032"/>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Breakfast 07:00</a:t>
            </a:r>
            <a:endParaRPr lang="en-US" sz="1050" dirty="0"/>
          </a:p>
        </p:txBody>
      </p:sp>
      <p:sp>
        <p:nvSpPr>
          <p:cNvPr id="15" name="Text 13"/>
          <p:cNvSpPr/>
          <p:nvPr/>
        </p:nvSpPr>
        <p:spPr>
          <a:xfrm>
            <a:off x="2377440" y="3008376"/>
            <a:ext cx="2240280" cy="274320"/>
          </a:xfrm>
          <a:prstGeom prst="rect">
            <a:avLst/>
          </a:prstGeom>
          <a:noFill/>
          <a:ln/>
        </p:spPr>
        <p:txBody>
          <a:bodyPr wrap="square" rtlCol="0" anchor="t"/>
          <a:lstStyle/>
          <a:p>
            <a:pPr indent="0" marL="0">
              <a:buNone/>
            </a:pPr>
            <a:r>
              <a:rPr lang="en-US" sz="1050" b="1" dirty="0">
                <a:solidFill>
                  <a:srgbClr val="B4452F"/>
                </a:solidFill>
                <a:latin typeface="Segoe UI" pitchFamily="34" charset="0"/>
                <a:ea typeface="Segoe UI" pitchFamily="34" charset="-122"/>
                <a:cs typeface="Segoe UI" pitchFamily="34" charset="-120"/>
              </a:rPr>
              <a:t>never logged  ×2</a:t>
            </a:r>
            <a:endParaRPr lang="en-US" sz="1050" dirty="0"/>
          </a:p>
        </p:txBody>
      </p:sp>
      <p:sp>
        <p:nvSpPr>
          <p:cNvPr id="16" name="Text 14"/>
          <p:cNvSpPr/>
          <p:nvPr/>
        </p:nvSpPr>
        <p:spPr>
          <a:xfrm>
            <a:off x="804672" y="3410712"/>
            <a:ext cx="1600200" cy="256032"/>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Hydration</a:t>
            </a:r>
            <a:endParaRPr lang="en-US" sz="1050" dirty="0"/>
          </a:p>
        </p:txBody>
      </p:sp>
      <p:sp>
        <p:nvSpPr>
          <p:cNvPr id="17" name="Text 15"/>
          <p:cNvSpPr/>
          <p:nvPr/>
        </p:nvSpPr>
        <p:spPr>
          <a:xfrm>
            <a:off x="2377440" y="3410712"/>
            <a:ext cx="2240280" cy="274320"/>
          </a:xfrm>
          <a:prstGeom prst="rect">
            <a:avLst/>
          </a:prstGeom>
          <a:noFill/>
          <a:ln/>
        </p:spPr>
        <p:txBody>
          <a:bodyPr wrap="square" rtlCol="0" anchor="t"/>
          <a:lstStyle/>
          <a:p>
            <a:pPr indent="0" marL="0">
              <a:buNone/>
            </a:pPr>
            <a:r>
              <a:rPr lang="en-US" sz="1050" b="1" dirty="0">
                <a:solidFill>
                  <a:srgbClr val="B4452F"/>
                </a:solidFill>
                <a:latin typeface="Segoe UI" pitchFamily="34" charset="0"/>
                <a:ea typeface="Segoe UI" pitchFamily="34" charset="-122"/>
                <a:cs typeface="Segoe UI" pitchFamily="34" charset="-120"/>
              </a:rPr>
              <a:t>1000 / 2700 ml</a:t>
            </a:r>
            <a:endParaRPr lang="en-US" sz="1050" dirty="0"/>
          </a:p>
        </p:txBody>
      </p:sp>
      <p:sp>
        <p:nvSpPr>
          <p:cNvPr id="18" name="Text 16"/>
          <p:cNvSpPr/>
          <p:nvPr/>
        </p:nvSpPr>
        <p:spPr>
          <a:xfrm>
            <a:off x="804672" y="3813048"/>
            <a:ext cx="1600200" cy="256032"/>
          </a:xfrm>
          <a:prstGeom prst="rect">
            <a:avLst/>
          </a:prstGeom>
          <a:noFill/>
          <a:ln/>
        </p:spPr>
        <p:txBody>
          <a:bodyPr wrap="square" rtlCol="0" anchor="t"/>
          <a:lstStyle/>
          <a:p>
            <a:pPr indent="0" marL="0">
              <a:buNone/>
            </a:pPr>
            <a:r>
              <a:rPr lang="en-US" sz="1050" dirty="0">
                <a:solidFill>
                  <a:srgbClr val="64726A"/>
                </a:solidFill>
                <a:latin typeface="Segoe UI" pitchFamily="34" charset="0"/>
                <a:ea typeface="Segoe UI" pitchFamily="34" charset="-122"/>
                <a:cs typeface="Segoe UI" pitchFamily="34" charset="-120"/>
              </a:rPr>
              <a:t>Feedback note</a:t>
            </a:r>
            <a:endParaRPr lang="en-US" sz="1050" dirty="0"/>
          </a:p>
        </p:txBody>
      </p:sp>
      <p:sp>
        <p:nvSpPr>
          <p:cNvPr id="19" name="Text 17"/>
          <p:cNvSpPr/>
          <p:nvPr/>
        </p:nvSpPr>
        <p:spPr>
          <a:xfrm>
            <a:off x="2377440" y="3813048"/>
            <a:ext cx="2240280" cy="274320"/>
          </a:xfrm>
          <a:prstGeom prst="rect">
            <a:avLst/>
          </a:prstGeom>
          <a:noFill/>
          <a:ln/>
        </p:spPr>
        <p:txBody>
          <a:bodyPr wrap="square" rtlCol="0" anchor="t"/>
          <a:lstStyle/>
          <a:p>
            <a:pPr indent="0" marL="0">
              <a:buNone/>
            </a:pPr>
            <a:r>
              <a:rPr lang="en-US" sz="1050" b="1" dirty="0">
                <a:solidFill>
                  <a:srgbClr val="B4452F"/>
                </a:solidFill>
                <a:latin typeface="Segoe UI" pitchFamily="34" charset="0"/>
                <a:ea typeface="Segoe UI" pitchFamily="34" charset="-122"/>
                <a:cs typeface="Segoe UI" pitchFamily="34" charset="-120"/>
              </a:rPr>
              <a:t>"8am collides with work"</a:t>
            </a:r>
            <a:endParaRPr lang="en-US" sz="1050" dirty="0"/>
          </a:p>
        </p:txBody>
      </p:sp>
      <p:sp>
        <p:nvSpPr>
          <p:cNvPr id="20" name="Text 18"/>
          <p:cNvSpPr/>
          <p:nvPr/>
        </p:nvSpPr>
        <p:spPr>
          <a:xfrm>
            <a:off x="804672" y="4059936"/>
            <a:ext cx="3657600" cy="274320"/>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Overall adherence  42.9%</a:t>
            </a:r>
            <a:endParaRPr lang="en-US" sz="1200" dirty="0"/>
          </a:p>
        </p:txBody>
      </p:sp>
      <p:sp>
        <p:nvSpPr>
          <p:cNvPr id="21" name="Shape 19"/>
          <p:cNvSpPr/>
          <p:nvPr/>
        </p:nvSpPr>
        <p:spPr>
          <a:xfrm>
            <a:off x="4864608" y="2907792"/>
            <a:ext cx="457200" cy="201168"/>
          </a:xfrm>
          <a:prstGeom prst="rightArrow">
            <a:avLst/>
          </a:prstGeom>
          <a:solidFill>
            <a:srgbClr val="1F6F4A"/>
          </a:solidFill>
          <a:ln w="12700">
            <a:solidFill>
              <a:srgbClr val="333333"/>
            </a:solidFill>
            <a:prstDash val="solid"/>
          </a:ln>
        </p:spPr>
      </p:sp>
      <p:sp>
        <p:nvSpPr>
          <p:cNvPr id="22" name="Text 20"/>
          <p:cNvSpPr/>
          <p:nvPr/>
        </p:nvSpPr>
        <p:spPr>
          <a:xfrm>
            <a:off x="4590288" y="3200400"/>
            <a:ext cx="1005840" cy="502920"/>
          </a:xfrm>
          <a:prstGeom prst="rect">
            <a:avLst/>
          </a:prstGeom>
          <a:noFill/>
          <a:ln/>
        </p:spPr>
        <p:txBody>
          <a:bodyPr wrap="square" rtlCol="0" anchor="t"/>
          <a:lstStyle/>
          <a:p>
            <a:pPr algn="ctr" indent="0" marL="0">
              <a:lnSpc>
                <a:spcPts val="1200"/>
              </a:lnSpc>
              <a:buNone/>
            </a:pPr>
            <a:r>
              <a:rPr lang="en-US" sz="950" dirty="0">
                <a:solidFill>
                  <a:srgbClr val="64726A"/>
                </a:solidFill>
                <a:latin typeface="Segoe UI" pitchFamily="34" charset="0"/>
                <a:ea typeface="Segoe UI" pitchFamily="34" charset="-122"/>
                <a:cs typeface="Segoe UI" pitchFamily="34" charset="-120"/>
              </a:rPr>
              <a:t>AI reads</a:t>
            </a:r>
            <a:endParaRPr lang="en-US" sz="950" dirty="0"/>
          </a:p>
          <a:p>
            <a:pPr algn="ctr" indent="0" marL="0">
              <a:lnSpc>
                <a:spcPts val="1200"/>
              </a:lnSpc>
              <a:buNone/>
            </a:pPr>
            <a:r>
              <a:rPr lang="en-US" sz="950" dirty="0">
                <a:solidFill>
                  <a:srgbClr val="64726A"/>
                </a:solidFill>
                <a:latin typeface="Segoe UI" pitchFamily="34" charset="0"/>
                <a:ea typeface="Segoe UI" pitchFamily="34" charset="-122"/>
                <a:cs typeface="Segoe UI" pitchFamily="34" charset="-120"/>
              </a:rPr>
              <a:t>the record</a:t>
            </a:r>
            <a:endParaRPr lang="en-US" sz="950" dirty="0"/>
          </a:p>
        </p:txBody>
      </p:sp>
      <p:sp>
        <p:nvSpPr>
          <p:cNvPr id="23" name="Shape 21"/>
          <p:cNvSpPr/>
          <p:nvPr/>
        </p:nvSpPr>
        <p:spPr>
          <a:xfrm>
            <a:off x="5760720" y="1645920"/>
            <a:ext cx="5870448" cy="2788920"/>
          </a:xfrm>
          <a:prstGeom prst="roundRect">
            <a:avLst>
              <a:gd name="adj" fmla="val 2951"/>
            </a:avLst>
          </a:prstGeom>
          <a:solidFill>
            <a:srgbClr val="E8F2EC"/>
          </a:solidFill>
          <a:ln w="12700">
            <a:solidFill>
              <a:srgbClr val="BFDCCB"/>
            </a:solidFill>
            <a:prstDash val="solid"/>
          </a:ln>
          <a:effectLst>
            <a:outerShdw sx="100000" sy="100000" kx="0" ky="0" algn="bl" rotWithShape="0" blurRad="127000" dist="19050" dir="5400000">
              <a:srgbClr val="000000">
                <a:alpha val="7000"/>
              </a:srgbClr>
            </a:outerShdw>
          </a:effectLst>
        </p:spPr>
      </p:sp>
      <p:sp>
        <p:nvSpPr>
          <p:cNvPr id="24" name="Shape 22"/>
          <p:cNvSpPr/>
          <p:nvPr/>
        </p:nvSpPr>
        <p:spPr>
          <a:xfrm>
            <a:off x="5998464" y="1847088"/>
            <a:ext cx="2377440" cy="256032"/>
          </a:xfrm>
          <a:prstGeom prst="roundRect">
            <a:avLst>
              <a:gd name="adj" fmla="val 53571"/>
            </a:avLst>
          </a:prstGeom>
          <a:solidFill>
            <a:srgbClr val="1F6F4A"/>
          </a:solidFill>
          <a:ln w="12700">
            <a:solidFill>
              <a:srgbClr val="1F6F4A"/>
            </a:solidFill>
            <a:prstDash val="solid"/>
          </a:ln>
        </p:spPr>
      </p:sp>
      <p:sp>
        <p:nvSpPr>
          <p:cNvPr id="25" name="Text 23"/>
          <p:cNvSpPr/>
          <p:nvPr/>
        </p:nvSpPr>
        <p:spPr>
          <a:xfrm>
            <a:off x="5998464" y="1888236"/>
            <a:ext cx="2377440" cy="173736"/>
          </a:xfrm>
          <a:prstGeom prst="rect">
            <a:avLst/>
          </a:prstGeom>
          <a:noFill/>
          <a:ln/>
        </p:spPr>
        <p:txBody>
          <a:bodyPr wrap="square" rtlCol="0" anchor="t"/>
          <a:lstStyle/>
          <a:p>
            <a:pPr algn="ctr" indent="0" marL="0">
              <a:buNone/>
            </a:pPr>
            <a:r>
              <a:rPr lang="en-US" sz="1050" b="1" dirty="0">
                <a:solidFill>
                  <a:srgbClr val="FFFFFF"/>
                </a:solidFill>
                <a:latin typeface="Segoe UI" pitchFamily="34" charset="0"/>
                <a:ea typeface="Segoe UI" pitchFamily="34" charset="-122"/>
                <a:cs typeface="Segoe UI" pitchFamily="34" charset="-120"/>
              </a:rPr>
              <a:t>NEXT DAY  ·  GENERATED</a:t>
            </a:r>
            <a:endParaRPr lang="en-US" sz="1050" dirty="0"/>
          </a:p>
        </p:txBody>
      </p:sp>
      <p:sp>
        <p:nvSpPr>
          <p:cNvPr id="26" name="Text 24"/>
          <p:cNvSpPr/>
          <p:nvPr/>
        </p:nvSpPr>
        <p:spPr>
          <a:xfrm>
            <a:off x="5998464" y="2212848"/>
            <a:ext cx="5029200" cy="292608"/>
          </a:xfrm>
          <a:prstGeom prst="rect">
            <a:avLst/>
          </a:prstGeom>
          <a:noFill/>
          <a:ln/>
        </p:spPr>
        <p:txBody>
          <a:bodyPr wrap="square" rtlCol="0" anchor="t"/>
          <a:lstStyle/>
          <a:p>
            <a:pPr indent="0" marL="0">
              <a:buNone/>
            </a:pPr>
            <a:r>
              <a:rPr lang="en-US" sz="1450" b="1" dirty="0">
                <a:solidFill>
                  <a:srgbClr val="0F3D28"/>
                </a:solidFill>
                <a:latin typeface="Segoe UI" pitchFamily="34" charset="0"/>
                <a:ea typeface="Segoe UI" pitchFamily="34" charset="-122"/>
                <a:cs typeface="Segoe UI" pitchFamily="34" charset="-120"/>
              </a:rPr>
              <a:t>What the next plan said</a:t>
            </a:r>
            <a:endParaRPr lang="en-US" sz="1450" dirty="0"/>
          </a:p>
        </p:txBody>
      </p:sp>
      <p:sp>
        <p:nvSpPr>
          <p:cNvPr id="27" name="Text 25"/>
          <p:cNvSpPr/>
          <p:nvPr/>
        </p:nvSpPr>
        <p:spPr>
          <a:xfrm>
            <a:off x="5998464" y="2606040"/>
            <a:ext cx="5394960" cy="868680"/>
          </a:xfrm>
          <a:prstGeom prst="rect">
            <a:avLst/>
          </a:prstGeom>
          <a:noFill/>
          <a:ln/>
        </p:spPr>
        <p:txBody>
          <a:bodyPr wrap="square" rtlCol="0" anchor="t"/>
          <a:lstStyle/>
          <a:p>
            <a:pPr indent="0" marL="0">
              <a:lnSpc>
                <a:spcPts val="2000"/>
              </a:lnSpc>
              <a:buNone/>
            </a:pPr>
            <a:r>
              <a:rPr lang="en-US" sz="1350" i="1" dirty="0">
                <a:solidFill>
                  <a:srgbClr val="0F3D28"/>
                </a:solidFill>
                <a:latin typeface="Segoe UI" pitchFamily="34" charset="0"/>
                <a:ea typeface="Segoe UI" pitchFamily="34" charset="-122"/>
                <a:cs typeface="Segoe UI" pitchFamily="34" charset="-120"/>
              </a:rPr>
              <a:t>“Moved your workout from 08:00 to 19:00 — you skipped it on both mornings but noted evenings after 7 would work better.”</a:t>
            </a:r>
            <a:endParaRPr lang="en-US" sz="1350" dirty="0"/>
          </a:p>
        </p:txBody>
      </p:sp>
      <p:sp>
        <p:nvSpPr>
          <p:cNvPr id="28" name="Text 26"/>
          <p:cNvSpPr/>
          <p:nvPr/>
        </p:nvSpPr>
        <p:spPr>
          <a:xfrm>
            <a:off x="5998464" y="3520440"/>
            <a:ext cx="5394960" cy="274320"/>
          </a:xfrm>
          <a:prstGeom prst="rect">
            <a:avLst/>
          </a:prstGeom>
          <a:noFill/>
          <a:ln/>
        </p:spPr>
        <p:txBody>
          <a:bodyPr wrap="square" rtlCol="0" anchor="t"/>
          <a:lstStyle/>
          <a:p>
            <a:pPr indent="0" marL="0">
              <a:buNone/>
            </a:pPr>
            <a:r>
              <a:rPr lang="en-US" sz="1100" dirty="0">
                <a:solidFill>
                  <a:srgbClr val="2F6B4C"/>
                </a:solidFill>
                <a:latin typeface="Segoe UI" pitchFamily="34" charset="0"/>
                <a:ea typeface="Segoe UI" pitchFamily="34" charset="-122"/>
                <a:cs typeface="Segoe UI" pitchFamily="34" charset="-120"/>
              </a:rPr>
              <a:t>Breakfast also moved 07:00 → 09:00 and the session was cut to 15 minutes.</a:t>
            </a:r>
            <a:endParaRPr lang="en-US" sz="1100" dirty="0"/>
          </a:p>
        </p:txBody>
      </p:sp>
      <p:sp>
        <p:nvSpPr>
          <p:cNvPr id="29" name="Text 27"/>
          <p:cNvSpPr/>
          <p:nvPr/>
        </p:nvSpPr>
        <p:spPr>
          <a:xfrm>
            <a:off x="5998464" y="3931920"/>
            <a:ext cx="5394960" cy="274320"/>
          </a:xfrm>
          <a:prstGeom prst="rect">
            <a:avLst/>
          </a:prstGeom>
          <a:noFill/>
          <a:ln/>
        </p:spPr>
        <p:txBody>
          <a:bodyPr wrap="square" rtlCol="0" anchor="t"/>
          <a:lstStyle/>
          <a:p>
            <a:pPr indent="0" marL="0">
              <a:buNone/>
            </a:pPr>
            <a:r>
              <a:rPr lang="en-US" sz="1000" i="1" dirty="0">
                <a:solidFill>
                  <a:srgbClr val="4F7F66"/>
                </a:solidFill>
                <a:latin typeface="Segoe UI" pitchFamily="34" charset="0"/>
                <a:ea typeface="Segoe UI" pitchFamily="34" charset="-122"/>
                <a:cs typeface="Segoe UI" pitchFamily="34" charset="-120"/>
              </a:rPr>
              <a:t>Verbatim from plan.adjustmentNote — no template, no hand-editing.</a:t>
            </a:r>
            <a:endParaRPr lang="en-US" sz="1000" dirty="0"/>
          </a:p>
        </p:txBody>
      </p:sp>
      <p:sp>
        <p:nvSpPr>
          <p:cNvPr id="30" name="Shape 28"/>
          <p:cNvSpPr/>
          <p:nvPr/>
        </p:nvSpPr>
        <p:spPr>
          <a:xfrm>
            <a:off x="566928" y="4617720"/>
            <a:ext cx="11064240" cy="960120"/>
          </a:xfrm>
          <a:prstGeom prst="roundRect">
            <a:avLst>
              <a:gd name="adj" fmla="val 8571"/>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1" name="Shape 29"/>
          <p:cNvSpPr/>
          <p:nvPr/>
        </p:nvSpPr>
        <p:spPr>
          <a:xfrm>
            <a:off x="804672" y="4800600"/>
            <a:ext cx="50292" cy="594360"/>
          </a:xfrm>
          <a:prstGeom prst="roundRect">
            <a:avLst>
              <a:gd name="adj" fmla="val 909091"/>
            </a:avLst>
          </a:prstGeom>
          <a:solidFill>
            <a:srgbClr val="C2703B"/>
          </a:solidFill>
          <a:ln w="12700">
            <a:solidFill>
              <a:srgbClr val="333333"/>
            </a:solidFill>
            <a:prstDash val="solid"/>
          </a:ln>
        </p:spPr>
      </p:sp>
      <p:sp>
        <p:nvSpPr>
          <p:cNvPr id="32" name="Text 30"/>
          <p:cNvSpPr/>
          <p:nvPr/>
        </p:nvSpPr>
        <p:spPr>
          <a:xfrm>
            <a:off x="1005840" y="4754880"/>
            <a:ext cx="5486400" cy="256032"/>
          </a:xfrm>
          <a:prstGeom prst="rect">
            <a:avLst/>
          </a:prstGeom>
          <a:noFill/>
          <a:ln/>
        </p:spPr>
        <p:txBody>
          <a:bodyPr wrap="square" rtlCol="0" anchor="t"/>
          <a:lstStyle/>
          <a:p>
            <a:pPr indent="0" marL="0">
              <a:buNone/>
            </a:pPr>
            <a:r>
              <a:rPr lang="en-US" sz="1150" b="1" dirty="0">
                <a:solidFill>
                  <a:srgbClr val="17211C"/>
                </a:solidFill>
                <a:latin typeface="Segoe UI" pitchFamily="34" charset="0"/>
                <a:ea typeface="Segoe UI" pitchFamily="34" charset="-122"/>
                <a:cs typeface="Segoe UI" pitchFamily="34" charset="-120"/>
              </a:rPr>
              <a:t>Another real run — preferences, not just misses</a:t>
            </a:r>
            <a:endParaRPr lang="en-US" sz="1150" dirty="0"/>
          </a:p>
        </p:txBody>
      </p:sp>
      <p:sp>
        <p:nvSpPr>
          <p:cNvPr id="33" name="Text 31"/>
          <p:cNvSpPr/>
          <p:nvPr/>
        </p:nvSpPr>
        <p:spPr>
          <a:xfrm>
            <a:off x="1005840" y="5029200"/>
            <a:ext cx="10332720" cy="457200"/>
          </a:xfrm>
          <a:prstGeom prst="rect">
            <a:avLst/>
          </a:prstGeom>
          <a:noFill/>
          <a:ln/>
        </p:spPr>
        <p:txBody>
          <a:bodyPr wrap="square" rtlCol="0" anchor="t"/>
          <a:lstStyle/>
          <a:p>
            <a:pPr indent="0" marL="0">
              <a:lnSpc>
                <a:spcPts val="1500"/>
              </a:lnSpc>
              <a:buNone/>
            </a:pPr>
            <a:r>
              <a:rPr lang="en-US" sz="1100" i="1" dirty="0">
                <a:solidFill>
                  <a:srgbClr val="64726A"/>
                </a:solidFill>
                <a:latin typeface="Segoe UI" pitchFamily="34" charset="0"/>
                <a:ea typeface="Segoe UI" pitchFamily="34" charset="-122"/>
                <a:cs typeface="Segoe UI" pitchFamily="34" charset="-120"/>
              </a:rPr>
              <a:t>“Replaced 'Palak Paneer with Roti' with 'Vegetable Pulao' for dinner since you mentioned not liking it, and adjusted the timing of the gentle walk to earlier in the day based on your activity history.”</a:t>
            </a:r>
            <a:endParaRPr lang="en-US" sz="1100" dirty="0"/>
          </a:p>
        </p:txBody>
      </p:sp>
      <p:sp>
        <p:nvSpPr>
          <p:cNvPr id="34" name="Text 32"/>
          <p:cNvSpPr/>
          <p:nvPr/>
        </p:nvSpPr>
        <p:spPr>
          <a:xfrm>
            <a:off x="566928" y="5742432"/>
            <a:ext cx="11064240" cy="292608"/>
          </a:xfrm>
          <a:prstGeom prst="rect">
            <a:avLst/>
          </a:prstGeom>
          <a:noFill/>
          <a:ln/>
        </p:spPr>
        <p:txBody>
          <a:bodyPr wrap="square" rtlCol="0" anchor="t"/>
          <a:lstStyle/>
          <a:p>
            <a:pPr algn="ctr" indent="0" marL="0">
              <a:buNone/>
            </a:pPr>
            <a:r>
              <a:rPr lang="en-US" sz="1200" b="1" dirty="0">
                <a:solidFill>
                  <a:srgbClr val="1F6F4A"/>
                </a:solidFill>
                <a:latin typeface="Segoe UI" pitchFamily="34" charset="0"/>
                <a:ea typeface="Segoe UI" pitchFamily="34" charset="-122"/>
                <a:cs typeface="Segoe UI" pitchFamily="34" charset="-120"/>
              </a:rPr>
              <a:t>Missed → moved.   Disliked → swapped.   Too long → shortened.   The plan never simply repeats itself.</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EXPLAINABILITY</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The dashboard explains adherence</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Every number traces back to a check-in row a judge can create in ten seconds.</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7</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664208"/>
            <a:ext cx="4617720" cy="2395728"/>
          </a:xfrm>
          <a:prstGeom prst="roundRect">
            <a:avLst>
              <a:gd name="adj" fmla="val 3435"/>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Text 7"/>
          <p:cNvSpPr/>
          <p:nvPr/>
        </p:nvSpPr>
        <p:spPr>
          <a:xfrm>
            <a:off x="804672" y="1847088"/>
            <a:ext cx="4206240" cy="292608"/>
          </a:xfrm>
          <a:prstGeom prst="rect">
            <a:avLst/>
          </a:prstGeom>
          <a:noFill/>
          <a:ln/>
        </p:spPr>
        <p:txBody>
          <a:bodyPr wrap="square" rtlCol="0" anchor="t"/>
          <a:lstStyle/>
          <a:p>
            <a:pPr indent="0" marL="0">
              <a:buNone/>
            </a:pPr>
            <a:r>
              <a:rPr lang="en-US" sz="1500" b="1" dirty="0">
                <a:solidFill>
                  <a:srgbClr val="17211C"/>
                </a:solidFill>
                <a:latin typeface="Segoe UI" pitchFamily="34" charset="0"/>
                <a:ea typeface="Segoe UI" pitchFamily="34" charset="-122"/>
                <a:cs typeface="Segoe UI" pitchFamily="34" charset="-120"/>
              </a:rPr>
              <a:t>How the score is built</a:t>
            </a:r>
            <a:endParaRPr lang="en-US" sz="1500" dirty="0"/>
          </a:p>
        </p:txBody>
      </p:sp>
      <p:sp>
        <p:nvSpPr>
          <p:cNvPr id="10" name="Text 8"/>
          <p:cNvSpPr/>
          <p:nvPr/>
        </p:nvSpPr>
        <p:spPr>
          <a:xfrm>
            <a:off x="804672" y="2286000"/>
            <a:ext cx="14630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Meals</a:t>
            </a:r>
            <a:endParaRPr lang="en-US" sz="1200" dirty="0"/>
          </a:p>
        </p:txBody>
      </p:sp>
      <p:sp>
        <p:nvSpPr>
          <p:cNvPr id="11" name="Text 9"/>
          <p:cNvSpPr/>
          <p:nvPr/>
        </p:nvSpPr>
        <p:spPr>
          <a:xfrm>
            <a:off x="3566160" y="2286000"/>
            <a:ext cx="1371600" cy="237744"/>
          </a:xfrm>
          <a:prstGeom prst="rect">
            <a:avLst/>
          </a:prstGeom>
          <a:noFill/>
          <a:ln/>
        </p:spPr>
        <p:txBody>
          <a:bodyPr wrap="square" rtlCol="0" anchor="t"/>
          <a:lstStyle/>
          <a:p>
            <a:pPr algn="r" indent="0" marL="0">
              <a:buNone/>
            </a:pPr>
            <a:r>
              <a:rPr lang="en-US" sz="1000" dirty="0">
                <a:solidFill>
                  <a:srgbClr val="64726A"/>
                </a:solidFill>
                <a:latin typeface="Segoe UI" pitchFamily="34" charset="0"/>
                <a:ea typeface="Segoe UI" pitchFamily="34" charset="-122"/>
                <a:cs typeface="Segoe UI" pitchFamily="34" charset="-120"/>
              </a:rPr>
              <a:t>45% of score</a:t>
            </a:r>
            <a:endParaRPr lang="en-US" sz="1000" dirty="0"/>
          </a:p>
        </p:txBody>
      </p:sp>
      <p:sp>
        <p:nvSpPr>
          <p:cNvPr id="12" name="Shape 10"/>
          <p:cNvSpPr/>
          <p:nvPr/>
        </p:nvSpPr>
        <p:spPr>
          <a:xfrm>
            <a:off x="804672" y="2542032"/>
            <a:ext cx="4114800" cy="118872"/>
          </a:xfrm>
          <a:prstGeom prst="roundRect">
            <a:avLst>
              <a:gd name="adj" fmla="val 50000"/>
            </a:avLst>
          </a:prstGeom>
          <a:solidFill>
            <a:srgbClr val="E2E6DF"/>
          </a:solidFill>
          <a:ln w="12700">
            <a:solidFill>
              <a:srgbClr val="333333"/>
            </a:solidFill>
            <a:prstDash val="solid"/>
          </a:ln>
        </p:spPr>
      </p:sp>
      <p:sp>
        <p:nvSpPr>
          <p:cNvPr id="13" name="Shape 11"/>
          <p:cNvSpPr/>
          <p:nvPr/>
        </p:nvSpPr>
        <p:spPr>
          <a:xfrm>
            <a:off x="804672" y="2542032"/>
            <a:ext cx="1851660" cy="118872"/>
          </a:xfrm>
          <a:prstGeom prst="roundRect">
            <a:avLst>
              <a:gd name="adj" fmla="val 50000"/>
            </a:avLst>
          </a:prstGeom>
          <a:solidFill>
            <a:srgbClr val="C2703B"/>
          </a:solidFill>
          <a:ln w="12700">
            <a:solidFill>
              <a:srgbClr val="333333"/>
            </a:solidFill>
            <a:prstDash val="solid"/>
          </a:ln>
        </p:spPr>
      </p:sp>
      <p:sp>
        <p:nvSpPr>
          <p:cNvPr id="14" name="Text 12"/>
          <p:cNvSpPr/>
          <p:nvPr/>
        </p:nvSpPr>
        <p:spPr>
          <a:xfrm>
            <a:off x="804672" y="2788920"/>
            <a:ext cx="14630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Hydration</a:t>
            </a:r>
            <a:endParaRPr lang="en-US" sz="1200" dirty="0"/>
          </a:p>
        </p:txBody>
      </p:sp>
      <p:sp>
        <p:nvSpPr>
          <p:cNvPr id="15" name="Text 13"/>
          <p:cNvSpPr/>
          <p:nvPr/>
        </p:nvSpPr>
        <p:spPr>
          <a:xfrm>
            <a:off x="3566160" y="2788920"/>
            <a:ext cx="1371600" cy="237744"/>
          </a:xfrm>
          <a:prstGeom prst="rect">
            <a:avLst/>
          </a:prstGeom>
          <a:noFill/>
          <a:ln/>
        </p:spPr>
        <p:txBody>
          <a:bodyPr wrap="square" rtlCol="0" anchor="t"/>
          <a:lstStyle/>
          <a:p>
            <a:pPr algn="r" indent="0" marL="0">
              <a:buNone/>
            </a:pPr>
            <a:r>
              <a:rPr lang="en-US" sz="1000" dirty="0">
                <a:solidFill>
                  <a:srgbClr val="64726A"/>
                </a:solidFill>
                <a:latin typeface="Segoe UI" pitchFamily="34" charset="0"/>
                <a:ea typeface="Segoe UI" pitchFamily="34" charset="-122"/>
                <a:cs typeface="Segoe UI" pitchFamily="34" charset="-120"/>
              </a:rPr>
              <a:t>20% of score</a:t>
            </a:r>
            <a:endParaRPr lang="en-US" sz="1000" dirty="0"/>
          </a:p>
        </p:txBody>
      </p:sp>
      <p:sp>
        <p:nvSpPr>
          <p:cNvPr id="16" name="Shape 14"/>
          <p:cNvSpPr/>
          <p:nvPr/>
        </p:nvSpPr>
        <p:spPr>
          <a:xfrm>
            <a:off x="804672" y="3044952"/>
            <a:ext cx="4114800" cy="118872"/>
          </a:xfrm>
          <a:prstGeom prst="roundRect">
            <a:avLst>
              <a:gd name="adj" fmla="val 50000"/>
            </a:avLst>
          </a:prstGeom>
          <a:solidFill>
            <a:srgbClr val="E2E6DF"/>
          </a:solidFill>
          <a:ln w="12700">
            <a:solidFill>
              <a:srgbClr val="333333"/>
            </a:solidFill>
            <a:prstDash val="solid"/>
          </a:ln>
        </p:spPr>
      </p:sp>
      <p:sp>
        <p:nvSpPr>
          <p:cNvPr id="17" name="Shape 15"/>
          <p:cNvSpPr/>
          <p:nvPr/>
        </p:nvSpPr>
        <p:spPr>
          <a:xfrm>
            <a:off x="804672" y="3044952"/>
            <a:ext cx="822960" cy="118872"/>
          </a:xfrm>
          <a:prstGeom prst="roundRect">
            <a:avLst>
              <a:gd name="adj" fmla="val 50000"/>
            </a:avLst>
          </a:prstGeom>
          <a:solidFill>
            <a:srgbClr val="2B7FA8"/>
          </a:solidFill>
          <a:ln w="12700">
            <a:solidFill>
              <a:srgbClr val="333333"/>
            </a:solidFill>
            <a:prstDash val="solid"/>
          </a:ln>
        </p:spPr>
      </p:sp>
      <p:sp>
        <p:nvSpPr>
          <p:cNvPr id="18" name="Text 16"/>
          <p:cNvSpPr/>
          <p:nvPr/>
        </p:nvSpPr>
        <p:spPr>
          <a:xfrm>
            <a:off x="804672" y="3291840"/>
            <a:ext cx="1463040" cy="237744"/>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Movement</a:t>
            </a:r>
            <a:endParaRPr lang="en-US" sz="1200" dirty="0"/>
          </a:p>
        </p:txBody>
      </p:sp>
      <p:sp>
        <p:nvSpPr>
          <p:cNvPr id="19" name="Text 17"/>
          <p:cNvSpPr/>
          <p:nvPr/>
        </p:nvSpPr>
        <p:spPr>
          <a:xfrm>
            <a:off x="3566160" y="3291840"/>
            <a:ext cx="1371600" cy="237744"/>
          </a:xfrm>
          <a:prstGeom prst="rect">
            <a:avLst/>
          </a:prstGeom>
          <a:noFill/>
          <a:ln/>
        </p:spPr>
        <p:txBody>
          <a:bodyPr wrap="square" rtlCol="0" anchor="t"/>
          <a:lstStyle/>
          <a:p>
            <a:pPr algn="r" indent="0" marL="0">
              <a:buNone/>
            </a:pPr>
            <a:r>
              <a:rPr lang="en-US" sz="1000" dirty="0">
                <a:solidFill>
                  <a:srgbClr val="64726A"/>
                </a:solidFill>
                <a:latin typeface="Segoe UI" pitchFamily="34" charset="0"/>
                <a:ea typeface="Segoe UI" pitchFamily="34" charset="-122"/>
                <a:cs typeface="Segoe UI" pitchFamily="34" charset="-120"/>
              </a:rPr>
              <a:t>35% of score</a:t>
            </a:r>
            <a:endParaRPr lang="en-US" sz="1000" dirty="0"/>
          </a:p>
        </p:txBody>
      </p:sp>
      <p:sp>
        <p:nvSpPr>
          <p:cNvPr id="20" name="Shape 18"/>
          <p:cNvSpPr/>
          <p:nvPr/>
        </p:nvSpPr>
        <p:spPr>
          <a:xfrm>
            <a:off x="804672" y="3547872"/>
            <a:ext cx="4114800" cy="118872"/>
          </a:xfrm>
          <a:prstGeom prst="roundRect">
            <a:avLst>
              <a:gd name="adj" fmla="val 50000"/>
            </a:avLst>
          </a:prstGeom>
          <a:solidFill>
            <a:srgbClr val="E2E6DF"/>
          </a:solidFill>
          <a:ln w="12700">
            <a:solidFill>
              <a:srgbClr val="333333"/>
            </a:solidFill>
            <a:prstDash val="solid"/>
          </a:ln>
        </p:spPr>
      </p:sp>
      <p:sp>
        <p:nvSpPr>
          <p:cNvPr id="21" name="Shape 19"/>
          <p:cNvSpPr/>
          <p:nvPr/>
        </p:nvSpPr>
        <p:spPr>
          <a:xfrm>
            <a:off x="804672" y="3547872"/>
            <a:ext cx="1440180" cy="118872"/>
          </a:xfrm>
          <a:prstGeom prst="roundRect">
            <a:avLst>
              <a:gd name="adj" fmla="val 50000"/>
            </a:avLst>
          </a:prstGeom>
          <a:solidFill>
            <a:srgbClr val="9C3F6D"/>
          </a:solidFill>
          <a:ln w="12700">
            <a:solidFill>
              <a:srgbClr val="333333"/>
            </a:solidFill>
            <a:prstDash val="solid"/>
          </a:ln>
        </p:spPr>
      </p:sp>
      <p:sp>
        <p:nvSpPr>
          <p:cNvPr id="22" name="Text 20"/>
          <p:cNvSpPr/>
          <p:nvPr/>
        </p:nvSpPr>
        <p:spPr>
          <a:xfrm>
            <a:off x="804672" y="3712464"/>
            <a:ext cx="4206240" cy="475488"/>
          </a:xfrm>
          <a:prstGeom prst="rect">
            <a:avLst/>
          </a:prstGeom>
          <a:noFill/>
          <a:ln/>
        </p:spPr>
        <p:txBody>
          <a:bodyPr wrap="square" rtlCol="0" anchor="t"/>
          <a:lstStyle/>
          <a:p>
            <a:pPr indent="0" marL="0">
              <a:lnSpc>
                <a:spcPts val="1300"/>
              </a:lnSpc>
              <a:buNone/>
            </a:pPr>
            <a:r>
              <a:rPr lang="en-US" sz="950" dirty="0">
                <a:solidFill>
                  <a:srgbClr val="64726A"/>
                </a:solidFill>
                <a:latin typeface="Segoe UI" pitchFamily="34" charset="0"/>
                <a:ea typeface="Segoe UI" pitchFamily="34" charset="-122"/>
                <a:cs typeface="Segoe UI" pitchFamily="34" charset="-120"/>
              </a:rPr>
              <a:t>Done = 1 · Partly = 0.5 · Skipped or never logged = 0.</a:t>
            </a:r>
            <a:endParaRPr lang="en-US" sz="950" dirty="0"/>
          </a:p>
          <a:p>
            <a:pPr indent="0" marL="0">
              <a:lnSpc>
                <a:spcPts val="1300"/>
              </a:lnSpc>
              <a:buNone/>
            </a:pPr>
            <a:r>
              <a:rPr lang="en-US" sz="950" dirty="0">
                <a:solidFill>
                  <a:srgbClr val="64726A"/>
                </a:solidFill>
                <a:latin typeface="Segoe UI" pitchFamily="34" charset="0"/>
                <a:ea typeface="Segoe UI" pitchFamily="34" charset="-122"/>
                <a:cs typeface="Segoe UI" pitchFamily="34" charset="-120"/>
              </a:rPr>
              <a:t>A logged quantity beats the bucket: 25 of a 30-min walk scores 0.83.</a:t>
            </a:r>
            <a:endParaRPr lang="en-US" sz="950" dirty="0"/>
          </a:p>
        </p:txBody>
      </p:sp>
      <p:graphicFrame>
        <p:nvGraphicFramePr>
          <p:cNvPr id="23" name="Chart 0" descr=""/>
          <p:cNvGraphicFramePr/>
          <p:nvPr/>
        </p:nvGraphicFramePr>
        <p:xfrm>
          <a:off x="5440680" y="1664208"/>
          <a:ext cx="6217920" cy="2395728"/>
        </p:xfrm>
        <a:graphic xmlns:a="http://schemas.openxmlformats.org/drawingml/2006/main">
          <a:graphicData uri="http://schemas.openxmlformats.org/drawingml/2006/chart">
            <c:chart xmlns:c="http://schemas.openxmlformats.org/drawingml/2006/chart" r:id="rId1"/>
          </a:graphicData>
        </a:graphic>
      </p:graphicFrame>
      <p:sp>
        <p:nvSpPr>
          <p:cNvPr id="24" name="Shape 21"/>
          <p:cNvSpPr/>
          <p:nvPr/>
        </p:nvSpPr>
        <p:spPr>
          <a:xfrm>
            <a:off x="566928" y="4315968"/>
            <a:ext cx="3456432" cy="1481328"/>
          </a:xfrm>
          <a:prstGeom prst="roundRect">
            <a:avLst>
              <a:gd name="adj" fmla="val 5556"/>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5" name="Shape 22"/>
          <p:cNvSpPr/>
          <p:nvPr/>
        </p:nvSpPr>
        <p:spPr>
          <a:xfrm>
            <a:off x="804672" y="4526280"/>
            <a:ext cx="50292" cy="310896"/>
          </a:xfrm>
          <a:prstGeom prst="roundRect">
            <a:avLst>
              <a:gd name="adj" fmla="val 909091"/>
            </a:avLst>
          </a:prstGeom>
          <a:solidFill>
            <a:srgbClr val="B4452F"/>
          </a:solidFill>
          <a:ln w="12700">
            <a:solidFill>
              <a:srgbClr val="333333"/>
            </a:solidFill>
            <a:prstDash val="solid"/>
          </a:ln>
        </p:spPr>
      </p:sp>
      <p:sp>
        <p:nvSpPr>
          <p:cNvPr id="26" name="Text 23"/>
          <p:cNvSpPr/>
          <p:nvPr/>
        </p:nvSpPr>
        <p:spPr>
          <a:xfrm>
            <a:off x="1005840" y="4498848"/>
            <a:ext cx="2834640" cy="274320"/>
          </a:xfrm>
          <a:prstGeom prst="rect">
            <a:avLst/>
          </a:prstGeom>
          <a:noFill/>
          <a:ln/>
        </p:spPr>
        <p:txBody>
          <a:bodyPr wrap="square" rtlCol="0" anchor="t"/>
          <a:lstStyle/>
          <a:p>
            <a:pPr indent="0" marL="0">
              <a:buNone/>
            </a:pPr>
            <a:r>
              <a:rPr lang="en-US" sz="1250" b="1" dirty="0">
                <a:solidFill>
                  <a:srgbClr val="17211C"/>
                </a:solidFill>
                <a:latin typeface="Segoe UI" pitchFamily="34" charset="0"/>
                <a:ea typeface="Segoe UI" pitchFamily="34" charset="-122"/>
                <a:cs typeface="Segoe UI" pitchFamily="34" charset="-120"/>
              </a:rPr>
              <a:t>What keeps slipping</a:t>
            </a:r>
            <a:endParaRPr lang="en-US" sz="1250" dirty="0"/>
          </a:p>
        </p:txBody>
      </p:sp>
      <p:sp>
        <p:nvSpPr>
          <p:cNvPr id="27" name="Text 24"/>
          <p:cNvSpPr/>
          <p:nvPr/>
        </p:nvSpPr>
        <p:spPr>
          <a:xfrm>
            <a:off x="822960" y="4919472"/>
            <a:ext cx="2999232" cy="777240"/>
          </a:xfrm>
          <a:prstGeom prst="rect">
            <a:avLst/>
          </a:prstGeom>
          <a:noFill/>
          <a:ln/>
        </p:spPr>
        <p:txBody>
          <a:bodyPr wrap="square" rtlCol="0" anchor="t"/>
          <a:lstStyle/>
          <a:p>
            <a:pPr indent="0" marL="0">
              <a:lnSpc>
                <a:spcPts val="1500"/>
              </a:lnSpc>
              <a:buNone/>
            </a:pPr>
            <a:r>
              <a:rPr lang="en-US" sz="1050" dirty="0">
                <a:solidFill>
                  <a:srgbClr val="64726A"/>
                </a:solidFill>
                <a:latin typeface="Segoe UI" pitchFamily="34" charset="0"/>
                <a:ea typeface="Segoe UI" pitchFamily="34" charset="-122"/>
                <a:cs typeface="Segoe UI" pitchFamily="34" charset="-120"/>
              </a:rPr>
              <a:t>Items skipped or unlogged, ranked by frequency — exactly the input the planner rewrites.</a:t>
            </a:r>
            <a:endParaRPr lang="en-US" sz="1050" dirty="0"/>
          </a:p>
        </p:txBody>
      </p:sp>
      <p:sp>
        <p:nvSpPr>
          <p:cNvPr id="28" name="Shape 25"/>
          <p:cNvSpPr/>
          <p:nvPr/>
        </p:nvSpPr>
        <p:spPr>
          <a:xfrm>
            <a:off x="4279392" y="4315968"/>
            <a:ext cx="3456432" cy="1481328"/>
          </a:xfrm>
          <a:prstGeom prst="roundRect">
            <a:avLst>
              <a:gd name="adj" fmla="val 5556"/>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9" name="Shape 26"/>
          <p:cNvSpPr/>
          <p:nvPr/>
        </p:nvSpPr>
        <p:spPr>
          <a:xfrm>
            <a:off x="4517136" y="4526280"/>
            <a:ext cx="50292" cy="310896"/>
          </a:xfrm>
          <a:prstGeom prst="roundRect">
            <a:avLst>
              <a:gd name="adj" fmla="val 909091"/>
            </a:avLst>
          </a:prstGeom>
          <a:solidFill>
            <a:srgbClr val="2B7FA8"/>
          </a:solidFill>
          <a:ln w="12700">
            <a:solidFill>
              <a:srgbClr val="333333"/>
            </a:solidFill>
            <a:prstDash val="solid"/>
          </a:ln>
        </p:spPr>
      </p:sp>
      <p:sp>
        <p:nvSpPr>
          <p:cNvPr id="30" name="Text 27"/>
          <p:cNvSpPr/>
          <p:nvPr/>
        </p:nvSpPr>
        <p:spPr>
          <a:xfrm>
            <a:off x="4718304" y="4498848"/>
            <a:ext cx="2834640" cy="274320"/>
          </a:xfrm>
          <a:prstGeom prst="rect">
            <a:avLst/>
          </a:prstGeom>
          <a:noFill/>
          <a:ln/>
        </p:spPr>
        <p:txBody>
          <a:bodyPr wrap="square" rtlCol="0" anchor="t"/>
          <a:lstStyle/>
          <a:p>
            <a:pPr indent="0" marL="0">
              <a:buNone/>
            </a:pPr>
            <a:r>
              <a:rPr lang="en-US" sz="1250" b="1" dirty="0">
                <a:solidFill>
                  <a:srgbClr val="17211C"/>
                </a:solidFill>
                <a:latin typeface="Segoe UI" pitchFamily="34" charset="0"/>
                <a:ea typeface="Segoe UI" pitchFamily="34" charset="-122"/>
                <a:cs typeface="Segoe UI" pitchFamily="34" charset="-120"/>
              </a:rPr>
              <a:t>Stream breakdown</a:t>
            </a:r>
            <a:endParaRPr lang="en-US" sz="1250" dirty="0"/>
          </a:p>
        </p:txBody>
      </p:sp>
      <p:sp>
        <p:nvSpPr>
          <p:cNvPr id="31" name="Text 28"/>
          <p:cNvSpPr/>
          <p:nvPr/>
        </p:nvSpPr>
        <p:spPr>
          <a:xfrm>
            <a:off x="4535424" y="4919472"/>
            <a:ext cx="2999232" cy="777240"/>
          </a:xfrm>
          <a:prstGeom prst="rect">
            <a:avLst/>
          </a:prstGeom>
          <a:noFill/>
          <a:ln/>
        </p:spPr>
        <p:txBody>
          <a:bodyPr wrap="square" rtlCol="0" anchor="t"/>
          <a:lstStyle/>
          <a:p>
            <a:pPr indent="0" marL="0">
              <a:lnSpc>
                <a:spcPts val="1500"/>
              </a:lnSpc>
              <a:buNone/>
            </a:pPr>
            <a:r>
              <a:rPr lang="en-US" sz="1050" dirty="0">
                <a:solidFill>
                  <a:srgbClr val="64726A"/>
                </a:solidFill>
                <a:latin typeface="Segoe UI" pitchFamily="34" charset="0"/>
                <a:ea typeface="Segoe UI" pitchFamily="34" charset="-122"/>
                <a:cs typeface="Segoe UI" pitchFamily="34" charset="-120"/>
              </a:rPr>
              <a:t>Shows whether the gap is food, water or movement, so the fix targets the right one.</a:t>
            </a:r>
            <a:endParaRPr lang="en-US" sz="1050" dirty="0"/>
          </a:p>
        </p:txBody>
      </p:sp>
      <p:sp>
        <p:nvSpPr>
          <p:cNvPr id="32" name="Shape 29"/>
          <p:cNvSpPr/>
          <p:nvPr/>
        </p:nvSpPr>
        <p:spPr>
          <a:xfrm>
            <a:off x="7991856" y="4315968"/>
            <a:ext cx="3456432" cy="1481328"/>
          </a:xfrm>
          <a:prstGeom prst="roundRect">
            <a:avLst>
              <a:gd name="adj" fmla="val 5556"/>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33" name="Shape 30"/>
          <p:cNvSpPr/>
          <p:nvPr/>
        </p:nvSpPr>
        <p:spPr>
          <a:xfrm>
            <a:off x="8229600" y="4526280"/>
            <a:ext cx="50292" cy="310896"/>
          </a:xfrm>
          <a:prstGeom prst="roundRect">
            <a:avLst>
              <a:gd name="adj" fmla="val 909091"/>
            </a:avLst>
          </a:prstGeom>
          <a:solidFill>
            <a:srgbClr val="1F6F4A"/>
          </a:solidFill>
          <a:ln w="12700">
            <a:solidFill>
              <a:srgbClr val="333333"/>
            </a:solidFill>
            <a:prstDash val="solid"/>
          </a:ln>
        </p:spPr>
      </p:sp>
      <p:sp>
        <p:nvSpPr>
          <p:cNvPr id="34" name="Text 31"/>
          <p:cNvSpPr/>
          <p:nvPr/>
        </p:nvSpPr>
        <p:spPr>
          <a:xfrm>
            <a:off x="8430768" y="4498848"/>
            <a:ext cx="2834640" cy="274320"/>
          </a:xfrm>
          <a:prstGeom prst="rect">
            <a:avLst/>
          </a:prstGeom>
          <a:noFill/>
          <a:ln/>
        </p:spPr>
        <p:txBody>
          <a:bodyPr wrap="square" rtlCol="0" anchor="t"/>
          <a:lstStyle/>
          <a:p>
            <a:pPr indent="0" marL="0">
              <a:buNone/>
            </a:pPr>
            <a:r>
              <a:rPr lang="en-US" sz="1250" b="1" dirty="0">
                <a:solidFill>
                  <a:srgbClr val="17211C"/>
                </a:solidFill>
                <a:latin typeface="Segoe UI" pitchFamily="34" charset="0"/>
                <a:ea typeface="Segoe UI" pitchFamily="34" charset="-122"/>
                <a:cs typeface="Segoe UI" pitchFamily="34" charset="-120"/>
              </a:rPr>
              <a:t>Streak &amp; best day</a:t>
            </a:r>
            <a:endParaRPr lang="en-US" sz="1250" dirty="0"/>
          </a:p>
        </p:txBody>
      </p:sp>
      <p:sp>
        <p:nvSpPr>
          <p:cNvPr id="35" name="Text 32"/>
          <p:cNvSpPr/>
          <p:nvPr/>
        </p:nvSpPr>
        <p:spPr>
          <a:xfrm>
            <a:off x="8247888" y="4919472"/>
            <a:ext cx="2999232" cy="777240"/>
          </a:xfrm>
          <a:prstGeom prst="rect">
            <a:avLst/>
          </a:prstGeom>
          <a:noFill/>
          <a:ln/>
        </p:spPr>
        <p:txBody>
          <a:bodyPr wrap="square" rtlCol="0" anchor="t"/>
          <a:lstStyle/>
          <a:p>
            <a:pPr indent="0" marL="0">
              <a:lnSpc>
                <a:spcPts val="1500"/>
              </a:lnSpc>
              <a:buNone/>
            </a:pPr>
            <a:r>
              <a:rPr lang="en-US" sz="1050" dirty="0">
                <a:solidFill>
                  <a:srgbClr val="64726A"/>
                </a:solidFill>
                <a:latin typeface="Segoe UI" pitchFamily="34" charset="0"/>
                <a:ea typeface="Segoe UI" pitchFamily="34" charset="-122"/>
                <a:cs typeface="Segoe UI" pitchFamily="34" charset="-120"/>
              </a:rPr>
              <a:t>Consecutive days at 70%+ — progress framed as momentum, never as failure.</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OPTIONAL UPGRADE</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It calls you in Gujarati when the task is due</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A dashboard only helps if you open it. At each scheduled time, WellPath rings the phone.</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8</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719072"/>
            <a:ext cx="2048256" cy="1371600"/>
          </a:xfrm>
          <a:prstGeom prst="roundRect">
            <a:avLst>
              <a:gd name="adj" fmla="val 60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Shape 7"/>
          <p:cNvSpPr/>
          <p:nvPr/>
        </p:nvSpPr>
        <p:spPr>
          <a:xfrm>
            <a:off x="566928" y="1719072"/>
            <a:ext cx="2048256" cy="68580"/>
          </a:xfrm>
          <a:prstGeom prst="rect">
            <a:avLst/>
          </a:prstGeom>
          <a:solidFill>
            <a:srgbClr val="64726A"/>
          </a:solidFill>
          <a:ln w="12700">
            <a:solidFill>
              <a:srgbClr val="333333"/>
            </a:solidFill>
            <a:prstDash val="solid"/>
          </a:ln>
        </p:spPr>
      </p:sp>
      <p:sp>
        <p:nvSpPr>
          <p:cNvPr id="10" name="Text 8"/>
          <p:cNvSpPr/>
          <p:nvPr/>
        </p:nvSpPr>
        <p:spPr>
          <a:xfrm>
            <a:off x="731520" y="1920240"/>
            <a:ext cx="1783080" cy="274320"/>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Scheduler</a:t>
            </a:r>
            <a:endParaRPr lang="en-US" sz="1200" dirty="0"/>
          </a:p>
        </p:txBody>
      </p:sp>
      <p:sp>
        <p:nvSpPr>
          <p:cNvPr id="11" name="Text 9"/>
          <p:cNvSpPr/>
          <p:nvPr/>
        </p:nvSpPr>
        <p:spPr>
          <a:xfrm>
            <a:off x="731520" y="2249424"/>
            <a:ext cx="1783080" cy="640080"/>
          </a:xfrm>
          <a:prstGeom prst="rect">
            <a:avLst/>
          </a:prstGeom>
          <a:noFill/>
          <a:ln/>
        </p:spPr>
        <p:txBody>
          <a:bodyPr wrap="square" rtlCol="0" anchor="t"/>
          <a:lstStyle/>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30s tick finds</a:t>
            </a:r>
            <a:endParaRPr lang="en-US" sz="1000" dirty="0"/>
          </a:p>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the due reminder</a:t>
            </a:r>
            <a:endParaRPr lang="en-US" sz="1000" dirty="0"/>
          </a:p>
        </p:txBody>
      </p:sp>
      <p:sp>
        <p:nvSpPr>
          <p:cNvPr id="12" name="Shape 10"/>
          <p:cNvSpPr/>
          <p:nvPr/>
        </p:nvSpPr>
        <p:spPr>
          <a:xfrm>
            <a:off x="2688336" y="2304288"/>
            <a:ext cx="128016" cy="201168"/>
          </a:xfrm>
          <a:prstGeom prst="rightArrow">
            <a:avLst/>
          </a:prstGeom>
          <a:solidFill>
            <a:srgbClr val="E2E6DF"/>
          </a:solidFill>
          <a:ln w="12700">
            <a:solidFill>
              <a:srgbClr val="333333"/>
            </a:solidFill>
            <a:prstDash val="solid"/>
          </a:ln>
        </p:spPr>
      </p:sp>
      <p:sp>
        <p:nvSpPr>
          <p:cNvPr id="13" name="Shape 11"/>
          <p:cNvSpPr/>
          <p:nvPr/>
        </p:nvSpPr>
        <p:spPr>
          <a:xfrm>
            <a:off x="2871216" y="1719072"/>
            <a:ext cx="2048256" cy="1371600"/>
          </a:xfrm>
          <a:prstGeom prst="roundRect">
            <a:avLst>
              <a:gd name="adj" fmla="val 60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4" name="Shape 12"/>
          <p:cNvSpPr/>
          <p:nvPr/>
        </p:nvSpPr>
        <p:spPr>
          <a:xfrm>
            <a:off x="2871216" y="1719072"/>
            <a:ext cx="2048256" cy="68580"/>
          </a:xfrm>
          <a:prstGeom prst="rect">
            <a:avLst/>
          </a:prstGeom>
          <a:solidFill>
            <a:srgbClr val="9A6A17"/>
          </a:solidFill>
          <a:ln w="12700">
            <a:solidFill>
              <a:srgbClr val="333333"/>
            </a:solidFill>
            <a:prstDash val="solid"/>
          </a:ln>
        </p:spPr>
      </p:sp>
      <p:sp>
        <p:nvSpPr>
          <p:cNvPr id="15" name="Text 13"/>
          <p:cNvSpPr/>
          <p:nvPr/>
        </p:nvSpPr>
        <p:spPr>
          <a:xfrm>
            <a:off x="3035808" y="1920240"/>
            <a:ext cx="1783080" cy="274320"/>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Skip check</a:t>
            </a:r>
            <a:endParaRPr lang="en-US" sz="1200" dirty="0"/>
          </a:p>
        </p:txBody>
      </p:sp>
      <p:sp>
        <p:nvSpPr>
          <p:cNvPr id="16" name="Text 14"/>
          <p:cNvSpPr/>
          <p:nvPr/>
        </p:nvSpPr>
        <p:spPr>
          <a:xfrm>
            <a:off x="3035808" y="2249424"/>
            <a:ext cx="1783080" cy="640080"/>
          </a:xfrm>
          <a:prstGeom prst="rect">
            <a:avLst/>
          </a:prstGeom>
          <a:noFill/>
          <a:ln/>
        </p:spPr>
        <p:txBody>
          <a:bodyPr wrap="square" rtlCol="0" anchor="t"/>
          <a:lstStyle/>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Already checked in?</a:t>
            </a:r>
            <a:endParaRPr lang="en-US" sz="1000" dirty="0"/>
          </a:p>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No call is placed</a:t>
            </a:r>
            <a:endParaRPr lang="en-US" sz="1000" dirty="0"/>
          </a:p>
        </p:txBody>
      </p:sp>
      <p:sp>
        <p:nvSpPr>
          <p:cNvPr id="17" name="Shape 15"/>
          <p:cNvSpPr/>
          <p:nvPr/>
        </p:nvSpPr>
        <p:spPr>
          <a:xfrm>
            <a:off x="4992624" y="2304288"/>
            <a:ext cx="128016" cy="201168"/>
          </a:xfrm>
          <a:prstGeom prst="rightArrow">
            <a:avLst/>
          </a:prstGeom>
          <a:solidFill>
            <a:srgbClr val="E2E6DF"/>
          </a:solidFill>
          <a:ln w="12700">
            <a:solidFill>
              <a:srgbClr val="333333"/>
            </a:solidFill>
            <a:prstDash val="solid"/>
          </a:ln>
        </p:spPr>
      </p:sp>
      <p:sp>
        <p:nvSpPr>
          <p:cNvPr id="18" name="Shape 16"/>
          <p:cNvSpPr/>
          <p:nvPr/>
        </p:nvSpPr>
        <p:spPr>
          <a:xfrm>
            <a:off x="5175504" y="1719072"/>
            <a:ext cx="2048256" cy="1371600"/>
          </a:xfrm>
          <a:prstGeom prst="roundRect">
            <a:avLst>
              <a:gd name="adj" fmla="val 60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19" name="Shape 17"/>
          <p:cNvSpPr/>
          <p:nvPr/>
        </p:nvSpPr>
        <p:spPr>
          <a:xfrm>
            <a:off x="5175504" y="1719072"/>
            <a:ext cx="2048256" cy="68580"/>
          </a:xfrm>
          <a:prstGeom prst="rect">
            <a:avLst/>
          </a:prstGeom>
          <a:solidFill>
            <a:srgbClr val="1F6F4A"/>
          </a:solidFill>
          <a:ln w="12700">
            <a:solidFill>
              <a:srgbClr val="333333"/>
            </a:solidFill>
            <a:prstDash val="solid"/>
          </a:ln>
        </p:spPr>
      </p:sp>
      <p:sp>
        <p:nvSpPr>
          <p:cNvPr id="20" name="Text 18"/>
          <p:cNvSpPr/>
          <p:nvPr/>
        </p:nvSpPr>
        <p:spPr>
          <a:xfrm>
            <a:off x="5340096" y="1920240"/>
            <a:ext cx="1783080" cy="274320"/>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GPT-4o-mini</a:t>
            </a:r>
            <a:endParaRPr lang="en-US" sz="1200" dirty="0"/>
          </a:p>
        </p:txBody>
      </p:sp>
      <p:sp>
        <p:nvSpPr>
          <p:cNvPr id="21" name="Text 19"/>
          <p:cNvSpPr/>
          <p:nvPr/>
        </p:nvSpPr>
        <p:spPr>
          <a:xfrm>
            <a:off x="5340096" y="2249424"/>
            <a:ext cx="1783080" cy="640080"/>
          </a:xfrm>
          <a:prstGeom prst="rect">
            <a:avLst/>
          </a:prstGeom>
          <a:noFill/>
          <a:ln/>
        </p:spPr>
        <p:txBody>
          <a:bodyPr wrap="square" rtlCol="0" anchor="t"/>
          <a:lstStyle/>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Writes the Gujarati</a:t>
            </a:r>
            <a:endParaRPr lang="en-US" sz="1000" dirty="0"/>
          </a:p>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line from live state</a:t>
            </a:r>
            <a:endParaRPr lang="en-US" sz="1000" dirty="0"/>
          </a:p>
        </p:txBody>
      </p:sp>
      <p:sp>
        <p:nvSpPr>
          <p:cNvPr id="22" name="Shape 20"/>
          <p:cNvSpPr/>
          <p:nvPr/>
        </p:nvSpPr>
        <p:spPr>
          <a:xfrm>
            <a:off x="7296912" y="2304288"/>
            <a:ext cx="128016" cy="201168"/>
          </a:xfrm>
          <a:prstGeom prst="rightArrow">
            <a:avLst/>
          </a:prstGeom>
          <a:solidFill>
            <a:srgbClr val="E2E6DF"/>
          </a:solidFill>
          <a:ln w="12700">
            <a:solidFill>
              <a:srgbClr val="333333"/>
            </a:solidFill>
            <a:prstDash val="solid"/>
          </a:ln>
        </p:spPr>
      </p:sp>
      <p:sp>
        <p:nvSpPr>
          <p:cNvPr id="23" name="Shape 21"/>
          <p:cNvSpPr/>
          <p:nvPr/>
        </p:nvSpPr>
        <p:spPr>
          <a:xfrm>
            <a:off x="7479792" y="1719072"/>
            <a:ext cx="2048256" cy="1371600"/>
          </a:xfrm>
          <a:prstGeom prst="roundRect">
            <a:avLst>
              <a:gd name="adj" fmla="val 60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4" name="Shape 22"/>
          <p:cNvSpPr/>
          <p:nvPr/>
        </p:nvSpPr>
        <p:spPr>
          <a:xfrm>
            <a:off x="7479792" y="1719072"/>
            <a:ext cx="2048256" cy="68580"/>
          </a:xfrm>
          <a:prstGeom prst="rect">
            <a:avLst/>
          </a:prstGeom>
          <a:solidFill>
            <a:srgbClr val="2B7FA8"/>
          </a:solidFill>
          <a:ln w="12700">
            <a:solidFill>
              <a:srgbClr val="333333"/>
            </a:solidFill>
            <a:prstDash val="solid"/>
          </a:ln>
        </p:spPr>
      </p:sp>
      <p:sp>
        <p:nvSpPr>
          <p:cNvPr id="25" name="Text 23"/>
          <p:cNvSpPr/>
          <p:nvPr/>
        </p:nvSpPr>
        <p:spPr>
          <a:xfrm>
            <a:off x="7644384" y="1920240"/>
            <a:ext cx="1783080" cy="274320"/>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Sarvam bulbul:v3</a:t>
            </a:r>
            <a:endParaRPr lang="en-US" sz="1200" dirty="0"/>
          </a:p>
        </p:txBody>
      </p:sp>
      <p:sp>
        <p:nvSpPr>
          <p:cNvPr id="26" name="Text 24"/>
          <p:cNvSpPr/>
          <p:nvPr/>
        </p:nvSpPr>
        <p:spPr>
          <a:xfrm>
            <a:off x="7644384" y="2249424"/>
            <a:ext cx="1783080" cy="640080"/>
          </a:xfrm>
          <a:prstGeom prst="rect">
            <a:avLst/>
          </a:prstGeom>
          <a:noFill/>
          <a:ln/>
        </p:spPr>
        <p:txBody>
          <a:bodyPr wrap="square" rtlCol="0" anchor="t"/>
          <a:lstStyle/>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8 kHz mono WAV</a:t>
            </a:r>
            <a:endParaRPr lang="en-US" sz="1000" dirty="0"/>
          </a:p>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+ 2s lead silence</a:t>
            </a:r>
            <a:endParaRPr lang="en-US" sz="1000" dirty="0"/>
          </a:p>
        </p:txBody>
      </p:sp>
      <p:sp>
        <p:nvSpPr>
          <p:cNvPr id="27" name="Shape 25"/>
          <p:cNvSpPr/>
          <p:nvPr/>
        </p:nvSpPr>
        <p:spPr>
          <a:xfrm>
            <a:off x="9601200" y="2304288"/>
            <a:ext cx="128016" cy="201168"/>
          </a:xfrm>
          <a:prstGeom prst="rightArrow">
            <a:avLst/>
          </a:prstGeom>
          <a:solidFill>
            <a:srgbClr val="E2E6DF"/>
          </a:solidFill>
          <a:ln w="12700">
            <a:solidFill>
              <a:srgbClr val="333333"/>
            </a:solidFill>
            <a:prstDash val="solid"/>
          </a:ln>
        </p:spPr>
      </p:sp>
      <p:sp>
        <p:nvSpPr>
          <p:cNvPr id="28" name="Shape 26"/>
          <p:cNvSpPr/>
          <p:nvPr/>
        </p:nvSpPr>
        <p:spPr>
          <a:xfrm>
            <a:off x="9784080" y="1719072"/>
            <a:ext cx="2048256" cy="1371600"/>
          </a:xfrm>
          <a:prstGeom prst="roundRect">
            <a:avLst>
              <a:gd name="adj" fmla="val 60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9" name="Shape 27"/>
          <p:cNvSpPr/>
          <p:nvPr/>
        </p:nvSpPr>
        <p:spPr>
          <a:xfrm>
            <a:off x="9784080" y="1719072"/>
            <a:ext cx="2048256" cy="68580"/>
          </a:xfrm>
          <a:prstGeom prst="rect">
            <a:avLst/>
          </a:prstGeom>
          <a:solidFill>
            <a:srgbClr val="9C3F6D"/>
          </a:solidFill>
          <a:ln w="12700">
            <a:solidFill>
              <a:srgbClr val="333333"/>
            </a:solidFill>
            <a:prstDash val="solid"/>
          </a:ln>
        </p:spPr>
      </p:sp>
      <p:sp>
        <p:nvSpPr>
          <p:cNvPr id="30" name="Text 28"/>
          <p:cNvSpPr/>
          <p:nvPr/>
        </p:nvSpPr>
        <p:spPr>
          <a:xfrm>
            <a:off x="9948672" y="1920240"/>
            <a:ext cx="1783080" cy="274320"/>
          </a:xfrm>
          <a:prstGeom prst="rect">
            <a:avLst/>
          </a:prstGeom>
          <a:noFill/>
          <a:ln/>
        </p:spPr>
        <p:txBody>
          <a:bodyPr wrap="square" rtlCol="0" anchor="t"/>
          <a:lstStyle/>
          <a:p>
            <a:pPr indent="0" marL="0">
              <a:buNone/>
            </a:pPr>
            <a:r>
              <a:rPr lang="en-US" sz="1200" b="1" dirty="0">
                <a:solidFill>
                  <a:srgbClr val="17211C"/>
                </a:solidFill>
                <a:latin typeface="Segoe UI" pitchFamily="34" charset="0"/>
                <a:ea typeface="Segoe UI" pitchFamily="34" charset="-122"/>
                <a:cs typeface="Segoe UI" pitchFamily="34" charset="-120"/>
              </a:rPr>
              <a:t>Vobiz</a:t>
            </a:r>
            <a:endParaRPr lang="en-US" sz="1200" dirty="0"/>
          </a:p>
        </p:txBody>
      </p:sp>
      <p:sp>
        <p:nvSpPr>
          <p:cNvPr id="31" name="Text 29"/>
          <p:cNvSpPr/>
          <p:nvPr/>
        </p:nvSpPr>
        <p:spPr>
          <a:xfrm>
            <a:off x="9948672" y="2249424"/>
            <a:ext cx="1783080" cy="640080"/>
          </a:xfrm>
          <a:prstGeom prst="rect">
            <a:avLst/>
          </a:prstGeom>
          <a:noFill/>
          <a:ln/>
        </p:spPr>
        <p:txBody>
          <a:bodyPr wrap="square" rtlCol="0" anchor="t"/>
          <a:lstStyle/>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Places the call,</a:t>
            </a:r>
            <a:endParaRPr lang="en-US" sz="1000" dirty="0"/>
          </a:p>
          <a:p>
            <a:pPr indent="0" marL="0">
              <a:lnSpc>
                <a:spcPts val="1400"/>
              </a:lnSpc>
              <a:buNone/>
            </a:pPr>
            <a:r>
              <a:rPr lang="en-US" sz="1000" dirty="0">
                <a:solidFill>
                  <a:srgbClr val="64726A"/>
                </a:solidFill>
                <a:latin typeface="Segoe UI" pitchFamily="34" charset="0"/>
                <a:ea typeface="Segoe UI" pitchFamily="34" charset="-122"/>
                <a:cs typeface="Segoe UI" pitchFamily="34" charset="-120"/>
              </a:rPr>
              <a:t>plays, hangs up</a:t>
            </a:r>
            <a:endParaRPr lang="en-US" sz="1000" dirty="0"/>
          </a:p>
        </p:txBody>
      </p:sp>
      <p:sp>
        <p:nvSpPr>
          <p:cNvPr id="32" name="Shape 30"/>
          <p:cNvSpPr/>
          <p:nvPr/>
        </p:nvSpPr>
        <p:spPr>
          <a:xfrm>
            <a:off x="566928" y="3310128"/>
            <a:ext cx="6675120" cy="1572768"/>
          </a:xfrm>
          <a:prstGeom prst="roundRect">
            <a:avLst>
              <a:gd name="adj" fmla="val 5233"/>
            </a:avLst>
          </a:prstGeom>
          <a:solidFill>
            <a:srgbClr val="17211C"/>
          </a:solidFill>
          <a:ln w="12700">
            <a:solidFill>
              <a:srgbClr val="17211C"/>
            </a:solidFill>
            <a:prstDash val="solid"/>
          </a:ln>
          <a:effectLst>
            <a:outerShdw sx="100000" sy="100000" kx="0" ky="0" algn="bl" rotWithShape="0" blurRad="101600" dist="50800" dir="16200000">
              <a:srgbClr val="000000">
                <a:alpha val="75000"/>
              </a:srgbClr>
            </a:outerShdw>
          </a:effectLst>
        </p:spPr>
      </p:sp>
      <p:sp>
        <p:nvSpPr>
          <p:cNvPr id="33" name="Text 31"/>
          <p:cNvSpPr/>
          <p:nvPr/>
        </p:nvSpPr>
        <p:spPr>
          <a:xfrm>
            <a:off x="841248" y="3493008"/>
            <a:ext cx="6035040" cy="237744"/>
          </a:xfrm>
          <a:prstGeom prst="rect">
            <a:avLst/>
          </a:prstGeom>
          <a:noFill/>
          <a:ln/>
        </p:spPr>
        <p:txBody>
          <a:bodyPr wrap="square" rtlCol="0" anchor="t"/>
          <a:lstStyle/>
          <a:p>
            <a:pPr indent="0" marL="0">
              <a:buNone/>
            </a:pPr>
            <a:r>
              <a:rPr lang="en-US" sz="950" b="1" spc="110" kern="0" dirty="0">
                <a:solidFill>
                  <a:srgbClr val="7FC2A0"/>
                </a:solidFill>
                <a:latin typeface="Segoe UI" pitchFamily="34" charset="0"/>
                <a:ea typeface="Segoe UI" pitchFamily="34" charset="-122"/>
                <a:cs typeface="Segoe UI" pitchFamily="34" charset="-120"/>
              </a:rPr>
              <a:t>WHAT THE CALLER HEARS  ·  WATER REMINDER</a:t>
            </a:r>
            <a:endParaRPr lang="en-US" sz="950" dirty="0"/>
          </a:p>
        </p:txBody>
      </p:sp>
      <p:sp>
        <p:nvSpPr>
          <p:cNvPr id="34" name="Text 32"/>
          <p:cNvSpPr/>
          <p:nvPr/>
        </p:nvSpPr>
        <p:spPr>
          <a:xfrm>
            <a:off x="841248" y="3785616"/>
            <a:ext cx="6035040" cy="685800"/>
          </a:xfrm>
          <a:prstGeom prst="rect">
            <a:avLst/>
          </a:prstGeom>
          <a:noFill/>
          <a:ln/>
        </p:spPr>
        <p:txBody>
          <a:bodyPr wrap="square" rtlCol="0" anchor="t"/>
          <a:lstStyle/>
          <a:p>
            <a:pPr indent="0" marL="0">
              <a:lnSpc>
                <a:spcPts val="2400"/>
              </a:lnSpc>
              <a:buNone/>
            </a:pPr>
            <a:r>
              <a:rPr lang="en-US" sz="1500" dirty="0">
                <a:solidFill>
                  <a:srgbClr val="FFFFFF"/>
                </a:solidFill>
                <a:latin typeface="Segoe UI" pitchFamily="34" charset="0"/>
                <a:ea typeface="Segoe UI" pitchFamily="34" charset="-122"/>
                <a:cs typeface="Segoe UI" pitchFamily="34" charset="-120"/>
              </a:rPr>
              <a:t>મનોજ, પાણી પી લો, તમારું ગળું સુકાઈ રહ્યું છે.</a:t>
            </a:r>
            <a:endParaRPr lang="en-US" sz="1500" dirty="0"/>
          </a:p>
          <a:p>
            <a:pPr indent="0" marL="0">
              <a:lnSpc>
                <a:spcPts val="2400"/>
              </a:lnSpc>
              <a:buNone/>
            </a:pPr>
            <a:r>
              <a:rPr lang="en-US" sz="1500" dirty="0">
                <a:solidFill>
                  <a:srgbClr val="FFFFFF"/>
                </a:solidFill>
                <a:latin typeface="Segoe UI" pitchFamily="34" charset="0"/>
                <a:ea typeface="Segoe UI" pitchFamily="34" charset="-122"/>
                <a:cs typeface="Segoe UI" pitchFamily="34" charset="-120"/>
              </a:rPr>
              <a:t>અત્યાર સુધી તમે 1000 મિલીલીટર પાણી પીધું છે.</a:t>
            </a:r>
            <a:endParaRPr lang="en-US" sz="1500" dirty="0"/>
          </a:p>
        </p:txBody>
      </p:sp>
      <p:sp>
        <p:nvSpPr>
          <p:cNvPr id="35" name="Text 33"/>
          <p:cNvSpPr/>
          <p:nvPr/>
        </p:nvSpPr>
        <p:spPr>
          <a:xfrm>
            <a:off x="841248" y="4517136"/>
            <a:ext cx="6035040" cy="274320"/>
          </a:xfrm>
          <a:prstGeom prst="rect">
            <a:avLst/>
          </a:prstGeom>
          <a:noFill/>
          <a:ln/>
        </p:spPr>
        <p:txBody>
          <a:bodyPr wrap="square" rtlCol="0" anchor="t"/>
          <a:lstStyle/>
          <a:p>
            <a:pPr indent="0" marL="0">
              <a:buNone/>
            </a:pPr>
            <a:r>
              <a:rPr lang="en-US" sz="950" i="1" dirty="0">
                <a:solidFill>
                  <a:srgbClr val="9FB5A9"/>
                </a:solidFill>
                <a:latin typeface="Segoe UI" pitchFamily="34" charset="0"/>
                <a:ea typeface="Segoe UI" pitchFamily="34" charset="-122"/>
                <a:cs typeface="Segoe UI" pitchFamily="34" charset="-120"/>
              </a:rPr>
              <a:t>Every water call speaks that fixed line — enforced in the prompt, the template and a post-check.</a:t>
            </a:r>
            <a:endParaRPr lang="en-US" sz="950" dirty="0"/>
          </a:p>
        </p:txBody>
      </p:sp>
      <p:sp>
        <p:nvSpPr>
          <p:cNvPr id="36" name="Shape 34"/>
          <p:cNvSpPr/>
          <p:nvPr/>
        </p:nvSpPr>
        <p:spPr>
          <a:xfrm>
            <a:off x="7461504" y="3310128"/>
            <a:ext cx="4169664" cy="493776"/>
          </a:xfrm>
          <a:prstGeom prst="roundRect">
            <a:avLst>
              <a:gd name="adj" fmla="val 16667"/>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7" name="Text 35"/>
          <p:cNvSpPr/>
          <p:nvPr/>
        </p:nvSpPr>
        <p:spPr>
          <a:xfrm>
            <a:off x="7644384" y="3364992"/>
            <a:ext cx="3840480" cy="201168"/>
          </a:xfrm>
          <a:prstGeom prst="rect">
            <a:avLst/>
          </a:prstGeom>
          <a:noFill/>
          <a:ln/>
        </p:spPr>
        <p:txBody>
          <a:bodyPr wrap="square" rtlCol="0" anchor="t"/>
          <a:lstStyle/>
          <a:p>
            <a:pPr indent="0" marL="0">
              <a:buNone/>
            </a:pPr>
            <a:r>
              <a:rPr lang="en-US" sz="1050" b="1" dirty="0">
                <a:solidFill>
                  <a:srgbClr val="17211C"/>
                </a:solidFill>
                <a:latin typeface="Segoe UI" pitchFamily="34" charset="0"/>
                <a:ea typeface="Segoe UI" pitchFamily="34" charset="-122"/>
                <a:cs typeface="Segoe UI" pitchFamily="34" charset="-120"/>
              </a:rPr>
              <a:t>Why the pause is in the audio</a:t>
            </a:r>
            <a:endParaRPr lang="en-US" sz="1050" dirty="0"/>
          </a:p>
        </p:txBody>
      </p:sp>
      <p:sp>
        <p:nvSpPr>
          <p:cNvPr id="38" name="Text 36"/>
          <p:cNvSpPr/>
          <p:nvPr/>
        </p:nvSpPr>
        <p:spPr>
          <a:xfrm>
            <a:off x="7644384" y="3557016"/>
            <a:ext cx="3840480" cy="219456"/>
          </a:xfrm>
          <a:prstGeom prst="rect">
            <a:avLst/>
          </a:prstGeom>
          <a:noFill/>
          <a:ln/>
        </p:spPr>
        <p:txBody>
          <a:bodyPr wrap="square" rtlCol="0" anchor="t"/>
          <a:lstStyle/>
          <a:p>
            <a:pPr indent="0" marL="0">
              <a:buNone/>
            </a:pPr>
            <a:r>
              <a:rPr lang="en-US" sz="880" dirty="0">
                <a:solidFill>
                  <a:srgbClr val="64726A"/>
                </a:solidFill>
                <a:latin typeface="Segoe UI" pitchFamily="34" charset="0"/>
                <a:ea typeface="Segoe UI" pitchFamily="34" charset="-122"/>
                <a:cs typeface="Segoe UI" pitchFamily="34" charset="-120"/>
              </a:rPr>
              <a:t>Vobiz has no Wait verb — 2 s of PCM silence is spliced onto the WAV.</a:t>
            </a:r>
            <a:endParaRPr lang="en-US" sz="880" dirty="0"/>
          </a:p>
        </p:txBody>
      </p:sp>
      <p:sp>
        <p:nvSpPr>
          <p:cNvPr id="39" name="Shape 37"/>
          <p:cNvSpPr/>
          <p:nvPr/>
        </p:nvSpPr>
        <p:spPr>
          <a:xfrm>
            <a:off x="7461504" y="3858768"/>
            <a:ext cx="4169664" cy="493776"/>
          </a:xfrm>
          <a:prstGeom prst="roundRect">
            <a:avLst>
              <a:gd name="adj" fmla="val 16667"/>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0" name="Text 38"/>
          <p:cNvSpPr/>
          <p:nvPr/>
        </p:nvSpPr>
        <p:spPr>
          <a:xfrm>
            <a:off x="7644384" y="3913632"/>
            <a:ext cx="3840480" cy="201168"/>
          </a:xfrm>
          <a:prstGeom prst="rect">
            <a:avLst/>
          </a:prstGeom>
          <a:noFill/>
          <a:ln/>
        </p:spPr>
        <p:txBody>
          <a:bodyPr wrap="square" rtlCol="0" anchor="t"/>
          <a:lstStyle/>
          <a:p>
            <a:pPr indent="0" marL="0">
              <a:buNone/>
            </a:pPr>
            <a:r>
              <a:rPr lang="en-US" sz="1050" b="1" dirty="0">
                <a:solidFill>
                  <a:srgbClr val="17211C"/>
                </a:solidFill>
                <a:latin typeface="Segoe UI" pitchFamily="34" charset="0"/>
                <a:ea typeface="Segoe UI" pitchFamily="34" charset="-122"/>
                <a:cs typeface="Segoe UI" pitchFamily="34" charset="-120"/>
              </a:rPr>
              <a:t>Hangs up on its own</a:t>
            </a:r>
            <a:endParaRPr lang="en-US" sz="1050" dirty="0"/>
          </a:p>
        </p:txBody>
      </p:sp>
      <p:sp>
        <p:nvSpPr>
          <p:cNvPr id="41" name="Text 39"/>
          <p:cNvSpPr/>
          <p:nvPr/>
        </p:nvSpPr>
        <p:spPr>
          <a:xfrm>
            <a:off x="7644384" y="4105656"/>
            <a:ext cx="3840480" cy="219456"/>
          </a:xfrm>
          <a:prstGeom prst="rect">
            <a:avLst/>
          </a:prstGeom>
          <a:noFill/>
          <a:ln/>
        </p:spPr>
        <p:txBody>
          <a:bodyPr wrap="square" rtlCol="0" anchor="t"/>
          <a:lstStyle/>
          <a:p>
            <a:pPr indent="0" marL="0">
              <a:buNone/>
            </a:pPr>
            <a:r>
              <a:rPr lang="en-US" sz="880" dirty="0">
                <a:solidFill>
                  <a:srgbClr val="64726A"/>
                </a:solidFill>
                <a:latin typeface="Segoe UI" pitchFamily="34" charset="0"/>
                <a:ea typeface="Segoe UI" pitchFamily="34" charset="-122"/>
                <a:cs typeface="Segoe UI" pitchFamily="34" charset="-120"/>
              </a:rPr>
              <a:t>&lt;Play&gt; then &lt;Hangup/&gt; — no menu, nothing to press.</a:t>
            </a:r>
            <a:endParaRPr lang="en-US" sz="880" dirty="0"/>
          </a:p>
        </p:txBody>
      </p:sp>
      <p:sp>
        <p:nvSpPr>
          <p:cNvPr id="42" name="Shape 40"/>
          <p:cNvSpPr/>
          <p:nvPr/>
        </p:nvSpPr>
        <p:spPr>
          <a:xfrm>
            <a:off x="7461504" y="4407408"/>
            <a:ext cx="4169664" cy="493776"/>
          </a:xfrm>
          <a:prstGeom prst="roundRect">
            <a:avLst>
              <a:gd name="adj" fmla="val 16667"/>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3" name="Text 41"/>
          <p:cNvSpPr/>
          <p:nvPr/>
        </p:nvSpPr>
        <p:spPr>
          <a:xfrm>
            <a:off x="7644384" y="4462272"/>
            <a:ext cx="3840480" cy="201168"/>
          </a:xfrm>
          <a:prstGeom prst="rect">
            <a:avLst/>
          </a:prstGeom>
          <a:noFill/>
          <a:ln/>
        </p:spPr>
        <p:txBody>
          <a:bodyPr wrap="square" rtlCol="0" anchor="t"/>
          <a:lstStyle/>
          <a:p>
            <a:pPr indent="0" marL="0">
              <a:buNone/>
            </a:pPr>
            <a:r>
              <a:rPr lang="en-US" sz="1050" b="1" dirty="0">
                <a:solidFill>
                  <a:srgbClr val="17211C"/>
                </a:solidFill>
                <a:latin typeface="Segoe UI" pitchFamily="34" charset="0"/>
                <a:ea typeface="Segoe UI" pitchFamily="34" charset="-122"/>
                <a:cs typeface="Segoe UI" pitchFamily="34" charset="-120"/>
              </a:rPr>
              <a:t>Schedule your own call</a:t>
            </a:r>
            <a:endParaRPr lang="en-US" sz="1050" dirty="0"/>
          </a:p>
        </p:txBody>
      </p:sp>
      <p:sp>
        <p:nvSpPr>
          <p:cNvPr id="44" name="Text 42"/>
          <p:cNvSpPr/>
          <p:nvPr/>
        </p:nvSpPr>
        <p:spPr>
          <a:xfrm>
            <a:off x="7644384" y="4654296"/>
            <a:ext cx="3840480" cy="219456"/>
          </a:xfrm>
          <a:prstGeom prst="rect">
            <a:avLst/>
          </a:prstGeom>
          <a:noFill/>
          <a:ln/>
        </p:spPr>
        <p:txBody>
          <a:bodyPr wrap="square" rtlCol="0" anchor="t"/>
          <a:lstStyle/>
          <a:p>
            <a:pPr indent="0" marL="0">
              <a:buNone/>
            </a:pPr>
            <a:r>
              <a:rPr lang="en-US" sz="880" dirty="0">
                <a:solidFill>
                  <a:srgbClr val="64726A"/>
                </a:solidFill>
                <a:latin typeface="Segoe UI" pitchFamily="34" charset="0"/>
                <a:ea typeface="Segoe UI" pitchFamily="34" charset="-122"/>
                <a:cs typeface="Segoe UI" pitchFamily="34" charset="-120"/>
              </a:rPr>
              <a:t>Any time, any wording, once or daily — independent of the plan.</a:t>
            </a:r>
            <a:endParaRPr lang="en-US" sz="880" dirty="0"/>
          </a:p>
        </p:txBody>
      </p:sp>
      <p:sp>
        <p:nvSpPr>
          <p:cNvPr id="45" name="Shape 43"/>
          <p:cNvSpPr/>
          <p:nvPr/>
        </p:nvSpPr>
        <p:spPr>
          <a:xfrm>
            <a:off x="566928" y="5047488"/>
            <a:ext cx="11064240" cy="841248"/>
          </a:xfrm>
          <a:prstGeom prst="roundRect">
            <a:avLst>
              <a:gd name="adj" fmla="val 9783"/>
            </a:avLst>
          </a:prstGeom>
          <a:solidFill>
            <a:srgbClr val="E8F2EC"/>
          </a:solidFill>
          <a:ln w="12700">
            <a:solidFill>
              <a:srgbClr val="E8F2EC"/>
            </a:solidFill>
            <a:prstDash val="solid"/>
          </a:ln>
          <a:effectLst>
            <a:outerShdw sx="100000" sy="100000" kx="0" ky="0" algn="bl" rotWithShape="0" blurRad="101600" dist="50800" dir="16200000">
              <a:srgbClr val="000000">
                <a:alpha val="75000"/>
              </a:srgbClr>
            </a:outerShdw>
          </a:effectLst>
        </p:spPr>
      </p:sp>
      <p:sp>
        <p:nvSpPr>
          <p:cNvPr id="46" name="Text 44"/>
          <p:cNvSpPr/>
          <p:nvPr/>
        </p:nvSpPr>
        <p:spPr>
          <a:xfrm>
            <a:off x="841248" y="5193792"/>
            <a:ext cx="2926080" cy="274320"/>
          </a:xfrm>
          <a:prstGeom prst="rect">
            <a:avLst/>
          </a:prstGeom>
          <a:noFill/>
          <a:ln/>
        </p:spPr>
        <p:txBody>
          <a:bodyPr wrap="square" rtlCol="0" anchor="t"/>
          <a:lstStyle/>
          <a:p>
            <a:pPr indent="0" marL="0">
              <a:buNone/>
            </a:pPr>
            <a:r>
              <a:rPr lang="en-US" sz="1300" b="1" dirty="0">
                <a:solidFill>
                  <a:srgbClr val="0F3D28"/>
                </a:solidFill>
                <a:latin typeface="Segoe UI" pitchFamily="34" charset="0"/>
                <a:ea typeface="Segoe UI" pitchFamily="34" charset="-122"/>
                <a:cs typeface="Segoe UI" pitchFamily="34" charset="-120"/>
              </a:rPr>
              <a:t>Reach, not just retention.</a:t>
            </a:r>
            <a:endParaRPr lang="en-US" sz="1300" dirty="0"/>
          </a:p>
        </p:txBody>
      </p:sp>
      <p:sp>
        <p:nvSpPr>
          <p:cNvPr id="47" name="Text 45"/>
          <p:cNvSpPr/>
          <p:nvPr/>
        </p:nvSpPr>
        <p:spPr>
          <a:xfrm>
            <a:off x="3291840" y="5212080"/>
            <a:ext cx="8138160" cy="548640"/>
          </a:xfrm>
          <a:prstGeom prst="rect">
            <a:avLst/>
          </a:prstGeom>
          <a:noFill/>
          <a:ln/>
        </p:spPr>
        <p:txBody>
          <a:bodyPr wrap="square" rtlCol="0" anchor="t"/>
          <a:lstStyle/>
          <a:p>
            <a:pPr indent="0" marL="0">
              <a:lnSpc>
                <a:spcPts val="1600"/>
              </a:lnSpc>
              <a:buNone/>
            </a:pPr>
            <a:r>
              <a:rPr lang="en-US" sz="1150" dirty="0">
                <a:solidFill>
                  <a:srgbClr val="0F3D28"/>
                </a:solidFill>
                <a:latin typeface="Segoe UI" pitchFamily="34" charset="0"/>
                <a:ea typeface="Segoe UI" pitchFamily="34" charset="-122"/>
                <a:cs typeface="Segoe UI" pitchFamily="34" charset="-120"/>
              </a:rPr>
              <a:t>A voice call in the user's own language reaches people an English app notification never will — older users, low-literacy users, anyone who does not open a wellness app twice a day.</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ARCHITECTURE</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Frontend, backend, data, AI and integrations</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One Next.js process. SQLite on disk. Three external services, each with a fallback.</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9</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Text 6"/>
          <p:cNvSpPr/>
          <p:nvPr/>
        </p:nvSpPr>
        <p:spPr>
          <a:xfrm>
            <a:off x="566928" y="1609344"/>
            <a:ext cx="5120640" cy="219456"/>
          </a:xfrm>
          <a:prstGeom prst="rect">
            <a:avLst/>
          </a:prstGeom>
          <a:noFill/>
          <a:ln/>
        </p:spPr>
        <p:txBody>
          <a:bodyPr wrap="square" rtlCol="0" anchor="t"/>
          <a:lstStyle/>
          <a:p>
            <a:pPr indent="0" marL="0">
              <a:buNone/>
            </a:pPr>
            <a:r>
              <a:rPr lang="en-US" sz="950" b="1" spc="100" kern="0" dirty="0">
                <a:solidFill>
                  <a:srgbClr val="1F6F4A"/>
                </a:solidFill>
                <a:latin typeface="Segoe UI" pitchFamily="34" charset="0"/>
                <a:ea typeface="Segoe UI" pitchFamily="34" charset="-122"/>
                <a:cs typeface="Segoe UI" pitchFamily="34" charset="-120"/>
              </a:rPr>
              <a:t>CLIENT</a:t>
            </a:r>
            <a:endParaRPr lang="en-US" sz="950" dirty="0"/>
          </a:p>
        </p:txBody>
      </p:sp>
      <p:sp>
        <p:nvSpPr>
          <p:cNvPr id="9" name="Shape 7"/>
          <p:cNvSpPr/>
          <p:nvPr/>
        </p:nvSpPr>
        <p:spPr>
          <a:xfrm>
            <a:off x="566928" y="186537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10" name="Shape 8"/>
          <p:cNvSpPr/>
          <p:nvPr/>
        </p:nvSpPr>
        <p:spPr>
          <a:xfrm>
            <a:off x="694944" y="1993392"/>
            <a:ext cx="50292" cy="310896"/>
          </a:xfrm>
          <a:prstGeom prst="roundRect">
            <a:avLst>
              <a:gd name="adj" fmla="val 909091"/>
            </a:avLst>
          </a:prstGeom>
          <a:solidFill>
            <a:srgbClr val="1F6F4A"/>
          </a:solidFill>
          <a:ln w="12700">
            <a:solidFill>
              <a:srgbClr val="333333"/>
            </a:solidFill>
            <a:prstDash val="solid"/>
          </a:ln>
        </p:spPr>
      </p:sp>
      <p:sp>
        <p:nvSpPr>
          <p:cNvPr id="11" name="Text 9"/>
          <p:cNvSpPr/>
          <p:nvPr/>
        </p:nvSpPr>
        <p:spPr>
          <a:xfrm>
            <a:off x="841248" y="202996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/register · /login</a:t>
            </a:r>
            <a:endParaRPr lang="en-US" sz="980" dirty="0"/>
          </a:p>
        </p:txBody>
      </p:sp>
      <p:sp>
        <p:nvSpPr>
          <p:cNvPr id="12" name="Shape 10"/>
          <p:cNvSpPr/>
          <p:nvPr/>
        </p:nvSpPr>
        <p:spPr>
          <a:xfrm>
            <a:off x="2798064" y="186537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13" name="Shape 11"/>
          <p:cNvSpPr/>
          <p:nvPr/>
        </p:nvSpPr>
        <p:spPr>
          <a:xfrm>
            <a:off x="2926080" y="1993392"/>
            <a:ext cx="50292" cy="310896"/>
          </a:xfrm>
          <a:prstGeom prst="roundRect">
            <a:avLst>
              <a:gd name="adj" fmla="val 909091"/>
            </a:avLst>
          </a:prstGeom>
          <a:solidFill>
            <a:srgbClr val="1F6F4A"/>
          </a:solidFill>
          <a:ln w="12700">
            <a:solidFill>
              <a:srgbClr val="333333"/>
            </a:solidFill>
            <a:prstDash val="solid"/>
          </a:ln>
        </p:spPr>
      </p:sp>
      <p:sp>
        <p:nvSpPr>
          <p:cNvPr id="14" name="Text 12"/>
          <p:cNvSpPr/>
          <p:nvPr/>
        </p:nvSpPr>
        <p:spPr>
          <a:xfrm>
            <a:off x="3072384" y="202996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/onboarding</a:t>
            </a:r>
            <a:endParaRPr lang="en-US" sz="980" dirty="0"/>
          </a:p>
        </p:txBody>
      </p:sp>
      <p:sp>
        <p:nvSpPr>
          <p:cNvPr id="15" name="Shape 13"/>
          <p:cNvSpPr/>
          <p:nvPr/>
        </p:nvSpPr>
        <p:spPr>
          <a:xfrm>
            <a:off x="5029200" y="186537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16" name="Shape 14"/>
          <p:cNvSpPr/>
          <p:nvPr/>
        </p:nvSpPr>
        <p:spPr>
          <a:xfrm>
            <a:off x="5157216" y="1993392"/>
            <a:ext cx="50292" cy="310896"/>
          </a:xfrm>
          <a:prstGeom prst="roundRect">
            <a:avLst>
              <a:gd name="adj" fmla="val 909091"/>
            </a:avLst>
          </a:prstGeom>
          <a:solidFill>
            <a:srgbClr val="1F6F4A"/>
          </a:solidFill>
          <a:ln w="12700">
            <a:solidFill>
              <a:srgbClr val="333333"/>
            </a:solidFill>
            <a:prstDash val="solid"/>
          </a:ln>
        </p:spPr>
      </p:sp>
      <p:sp>
        <p:nvSpPr>
          <p:cNvPr id="17" name="Text 15"/>
          <p:cNvSpPr/>
          <p:nvPr/>
        </p:nvSpPr>
        <p:spPr>
          <a:xfrm>
            <a:off x="5303520" y="202996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/today — check-ins</a:t>
            </a:r>
            <a:endParaRPr lang="en-US" sz="980" dirty="0"/>
          </a:p>
        </p:txBody>
      </p:sp>
      <p:sp>
        <p:nvSpPr>
          <p:cNvPr id="18" name="Shape 16"/>
          <p:cNvSpPr/>
          <p:nvPr/>
        </p:nvSpPr>
        <p:spPr>
          <a:xfrm>
            <a:off x="7260336" y="186537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19" name="Shape 17"/>
          <p:cNvSpPr/>
          <p:nvPr/>
        </p:nvSpPr>
        <p:spPr>
          <a:xfrm>
            <a:off x="7388352" y="1993392"/>
            <a:ext cx="50292" cy="310896"/>
          </a:xfrm>
          <a:prstGeom prst="roundRect">
            <a:avLst>
              <a:gd name="adj" fmla="val 909091"/>
            </a:avLst>
          </a:prstGeom>
          <a:solidFill>
            <a:srgbClr val="1F6F4A"/>
          </a:solidFill>
          <a:ln w="12700">
            <a:solidFill>
              <a:srgbClr val="333333"/>
            </a:solidFill>
            <a:prstDash val="solid"/>
          </a:ln>
        </p:spPr>
      </p:sp>
      <p:sp>
        <p:nvSpPr>
          <p:cNvPr id="20" name="Text 18"/>
          <p:cNvSpPr/>
          <p:nvPr/>
        </p:nvSpPr>
        <p:spPr>
          <a:xfrm>
            <a:off x="7534656" y="202996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/dashboard — charts</a:t>
            </a:r>
            <a:endParaRPr lang="en-US" sz="980" dirty="0"/>
          </a:p>
        </p:txBody>
      </p:sp>
      <p:sp>
        <p:nvSpPr>
          <p:cNvPr id="21" name="Shape 19"/>
          <p:cNvSpPr/>
          <p:nvPr/>
        </p:nvSpPr>
        <p:spPr>
          <a:xfrm>
            <a:off x="9491472" y="186537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22" name="Shape 20"/>
          <p:cNvSpPr/>
          <p:nvPr/>
        </p:nvSpPr>
        <p:spPr>
          <a:xfrm>
            <a:off x="9619488" y="1993392"/>
            <a:ext cx="50292" cy="310896"/>
          </a:xfrm>
          <a:prstGeom prst="roundRect">
            <a:avLst>
              <a:gd name="adj" fmla="val 909091"/>
            </a:avLst>
          </a:prstGeom>
          <a:solidFill>
            <a:srgbClr val="1F6F4A"/>
          </a:solidFill>
          <a:ln w="12700">
            <a:solidFill>
              <a:srgbClr val="333333"/>
            </a:solidFill>
            <a:prstDash val="solid"/>
          </a:ln>
        </p:spPr>
      </p:sp>
      <p:sp>
        <p:nvSpPr>
          <p:cNvPr id="23" name="Text 21"/>
          <p:cNvSpPr/>
          <p:nvPr/>
        </p:nvSpPr>
        <p:spPr>
          <a:xfrm>
            <a:off x="9765792" y="202996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/history</a:t>
            </a:r>
            <a:endParaRPr lang="en-US" sz="980" dirty="0"/>
          </a:p>
        </p:txBody>
      </p:sp>
      <p:sp>
        <p:nvSpPr>
          <p:cNvPr id="24" name="Text 22"/>
          <p:cNvSpPr/>
          <p:nvPr/>
        </p:nvSpPr>
        <p:spPr>
          <a:xfrm>
            <a:off x="566928" y="2615184"/>
            <a:ext cx="5120640" cy="219456"/>
          </a:xfrm>
          <a:prstGeom prst="rect">
            <a:avLst/>
          </a:prstGeom>
          <a:noFill/>
          <a:ln/>
        </p:spPr>
        <p:txBody>
          <a:bodyPr wrap="square" rtlCol="0" anchor="t"/>
          <a:lstStyle/>
          <a:p>
            <a:pPr indent="0" marL="0">
              <a:buNone/>
            </a:pPr>
            <a:r>
              <a:rPr lang="en-US" sz="950" b="1" spc="100" kern="0" dirty="0">
                <a:solidFill>
                  <a:srgbClr val="2B7FA8"/>
                </a:solidFill>
                <a:latin typeface="Segoe UI" pitchFamily="34" charset="0"/>
                <a:ea typeface="Segoe UI" pitchFamily="34" charset="-122"/>
                <a:cs typeface="Segoe UI" pitchFamily="34" charset="-120"/>
              </a:rPr>
              <a:t>SERVER  ·  Next.js 16 route handlers</a:t>
            </a:r>
            <a:endParaRPr lang="en-US" sz="950" dirty="0"/>
          </a:p>
        </p:txBody>
      </p:sp>
      <p:sp>
        <p:nvSpPr>
          <p:cNvPr id="25" name="Shape 23"/>
          <p:cNvSpPr/>
          <p:nvPr/>
        </p:nvSpPr>
        <p:spPr>
          <a:xfrm>
            <a:off x="566928" y="287121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26" name="Shape 24"/>
          <p:cNvSpPr/>
          <p:nvPr/>
        </p:nvSpPr>
        <p:spPr>
          <a:xfrm>
            <a:off x="694944" y="2999232"/>
            <a:ext cx="50292" cy="310896"/>
          </a:xfrm>
          <a:prstGeom prst="roundRect">
            <a:avLst>
              <a:gd name="adj" fmla="val 909091"/>
            </a:avLst>
          </a:prstGeom>
          <a:solidFill>
            <a:srgbClr val="2B7FA8"/>
          </a:solidFill>
          <a:ln w="12700">
            <a:solidFill>
              <a:srgbClr val="333333"/>
            </a:solidFill>
            <a:prstDash val="solid"/>
          </a:ln>
        </p:spPr>
      </p:sp>
      <p:sp>
        <p:nvSpPr>
          <p:cNvPr id="27" name="Text 25"/>
          <p:cNvSpPr/>
          <p:nvPr/>
        </p:nvSpPr>
        <p:spPr>
          <a:xfrm>
            <a:off x="841248" y="303580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/api/auth/*</a:t>
            </a:r>
            <a:endParaRPr lang="en-US" sz="980" dirty="0"/>
          </a:p>
        </p:txBody>
      </p:sp>
      <p:sp>
        <p:nvSpPr>
          <p:cNvPr id="28" name="Shape 26"/>
          <p:cNvSpPr/>
          <p:nvPr/>
        </p:nvSpPr>
        <p:spPr>
          <a:xfrm>
            <a:off x="2798064" y="287121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29" name="Shape 27"/>
          <p:cNvSpPr/>
          <p:nvPr/>
        </p:nvSpPr>
        <p:spPr>
          <a:xfrm>
            <a:off x="2926080" y="2999232"/>
            <a:ext cx="50292" cy="310896"/>
          </a:xfrm>
          <a:prstGeom prst="roundRect">
            <a:avLst>
              <a:gd name="adj" fmla="val 909091"/>
            </a:avLst>
          </a:prstGeom>
          <a:solidFill>
            <a:srgbClr val="2B7FA8"/>
          </a:solidFill>
          <a:ln w="12700">
            <a:solidFill>
              <a:srgbClr val="333333"/>
            </a:solidFill>
            <a:prstDash val="solid"/>
          </a:ln>
        </p:spPr>
      </p:sp>
      <p:sp>
        <p:nvSpPr>
          <p:cNvPr id="30" name="Text 28"/>
          <p:cNvSpPr/>
          <p:nvPr/>
        </p:nvSpPr>
        <p:spPr>
          <a:xfrm>
            <a:off x="3072384" y="303580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/api/plan · /api/checkin</a:t>
            </a:r>
            <a:endParaRPr lang="en-US" sz="980" dirty="0"/>
          </a:p>
        </p:txBody>
      </p:sp>
      <p:sp>
        <p:nvSpPr>
          <p:cNvPr id="31" name="Shape 29"/>
          <p:cNvSpPr/>
          <p:nvPr/>
        </p:nvSpPr>
        <p:spPr>
          <a:xfrm>
            <a:off x="5029200" y="287121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2" name="Shape 30"/>
          <p:cNvSpPr/>
          <p:nvPr/>
        </p:nvSpPr>
        <p:spPr>
          <a:xfrm>
            <a:off x="5157216" y="2999232"/>
            <a:ext cx="50292" cy="310896"/>
          </a:xfrm>
          <a:prstGeom prst="roundRect">
            <a:avLst>
              <a:gd name="adj" fmla="val 909091"/>
            </a:avLst>
          </a:prstGeom>
          <a:solidFill>
            <a:srgbClr val="2B7FA8"/>
          </a:solidFill>
          <a:ln w="12700">
            <a:solidFill>
              <a:srgbClr val="333333"/>
            </a:solidFill>
            <a:prstDash val="solid"/>
          </a:ln>
        </p:spPr>
      </p:sp>
      <p:sp>
        <p:nvSpPr>
          <p:cNvPr id="33" name="Text 31"/>
          <p:cNvSpPr/>
          <p:nvPr/>
        </p:nvSpPr>
        <p:spPr>
          <a:xfrm>
            <a:off x="5303520" y="303580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/api/summary · /api/coach</a:t>
            </a:r>
            <a:endParaRPr lang="en-US" sz="980" dirty="0"/>
          </a:p>
        </p:txBody>
      </p:sp>
      <p:sp>
        <p:nvSpPr>
          <p:cNvPr id="34" name="Shape 32"/>
          <p:cNvSpPr/>
          <p:nvPr/>
        </p:nvSpPr>
        <p:spPr>
          <a:xfrm>
            <a:off x="7260336" y="287121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5" name="Shape 33"/>
          <p:cNvSpPr/>
          <p:nvPr/>
        </p:nvSpPr>
        <p:spPr>
          <a:xfrm>
            <a:off x="7388352" y="2999232"/>
            <a:ext cx="50292" cy="310896"/>
          </a:xfrm>
          <a:prstGeom prst="roundRect">
            <a:avLst>
              <a:gd name="adj" fmla="val 909091"/>
            </a:avLst>
          </a:prstGeom>
          <a:solidFill>
            <a:srgbClr val="2B7FA8"/>
          </a:solidFill>
          <a:ln w="12700">
            <a:solidFill>
              <a:srgbClr val="333333"/>
            </a:solidFill>
            <a:prstDash val="solid"/>
          </a:ln>
        </p:spPr>
      </p:sp>
      <p:sp>
        <p:nvSpPr>
          <p:cNvPr id="36" name="Text 34"/>
          <p:cNvSpPr/>
          <p:nvPr/>
        </p:nvSpPr>
        <p:spPr>
          <a:xfrm>
            <a:off x="7534656" y="303580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/api/reminders/*</a:t>
            </a:r>
            <a:endParaRPr lang="en-US" sz="980" dirty="0"/>
          </a:p>
        </p:txBody>
      </p:sp>
      <p:sp>
        <p:nvSpPr>
          <p:cNvPr id="37" name="Shape 35"/>
          <p:cNvSpPr/>
          <p:nvPr/>
        </p:nvSpPr>
        <p:spPr>
          <a:xfrm>
            <a:off x="9491472" y="287121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8" name="Shape 36"/>
          <p:cNvSpPr/>
          <p:nvPr/>
        </p:nvSpPr>
        <p:spPr>
          <a:xfrm>
            <a:off x="9619488" y="2999232"/>
            <a:ext cx="50292" cy="310896"/>
          </a:xfrm>
          <a:prstGeom prst="roundRect">
            <a:avLst>
              <a:gd name="adj" fmla="val 909091"/>
            </a:avLst>
          </a:prstGeom>
          <a:solidFill>
            <a:srgbClr val="2B7FA8"/>
          </a:solidFill>
          <a:ln w="12700">
            <a:solidFill>
              <a:srgbClr val="333333"/>
            </a:solidFill>
            <a:prstDash val="solid"/>
          </a:ln>
        </p:spPr>
      </p:sp>
      <p:sp>
        <p:nvSpPr>
          <p:cNvPr id="39" name="Text 37"/>
          <p:cNvSpPr/>
          <p:nvPr/>
        </p:nvSpPr>
        <p:spPr>
          <a:xfrm>
            <a:off x="9765792" y="303580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/telephony/* (webhooks)</a:t>
            </a:r>
            <a:endParaRPr lang="en-US" sz="980" dirty="0"/>
          </a:p>
        </p:txBody>
      </p:sp>
      <p:sp>
        <p:nvSpPr>
          <p:cNvPr id="40" name="Text 38"/>
          <p:cNvSpPr/>
          <p:nvPr/>
        </p:nvSpPr>
        <p:spPr>
          <a:xfrm>
            <a:off x="566928" y="3621024"/>
            <a:ext cx="5120640" cy="219456"/>
          </a:xfrm>
          <a:prstGeom prst="rect">
            <a:avLst/>
          </a:prstGeom>
          <a:noFill/>
          <a:ln/>
        </p:spPr>
        <p:txBody>
          <a:bodyPr wrap="square" rtlCol="0" anchor="t"/>
          <a:lstStyle/>
          <a:p>
            <a:pPr indent="0" marL="0">
              <a:buNone/>
            </a:pPr>
            <a:r>
              <a:rPr lang="en-US" sz="950" b="1" spc="100" kern="0" dirty="0">
                <a:solidFill>
                  <a:srgbClr val="C2703B"/>
                </a:solidFill>
                <a:latin typeface="Segoe UI" pitchFamily="34" charset="0"/>
                <a:ea typeface="Segoe UI" pitchFamily="34" charset="-122"/>
                <a:cs typeface="Segoe UI" pitchFamily="34" charset="-120"/>
              </a:rPr>
              <a:t>DOMAIN  ·  pure TypeScript, no model calls</a:t>
            </a:r>
            <a:endParaRPr lang="en-US" sz="950" dirty="0"/>
          </a:p>
        </p:txBody>
      </p:sp>
      <p:sp>
        <p:nvSpPr>
          <p:cNvPr id="41" name="Shape 39"/>
          <p:cNvSpPr/>
          <p:nvPr/>
        </p:nvSpPr>
        <p:spPr>
          <a:xfrm>
            <a:off x="566928" y="387705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2" name="Shape 40"/>
          <p:cNvSpPr/>
          <p:nvPr/>
        </p:nvSpPr>
        <p:spPr>
          <a:xfrm>
            <a:off x="694944" y="4005072"/>
            <a:ext cx="50292" cy="310896"/>
          </a:xfrm>
          <a:prstGeom prst="roundRect">
            <a:avLst>
              <a:gd name="adj" fmla="val 909091"/>
            </a:avLst>
          </a:prstGeom>
          <a:solidFill>
            <a:srgbClr val="C2703B"/>
          </a:solidFill>
          <a:ln w="12700">
            <a:solidFill>
              <a:srgbClr val="333333"/>
            </a:solidFill>
            <a:prstDash val="solid"/>
          </a:ln>
        </p:spPr>
      </p:sp>
      <p:sp>
        <p:nvSpPr>
          <p:cNvPr id="43" name="Text 41"/>
          <p:cNvSpPr/>
          <p:nvPr/>
        </p:nvSpPr>
        <p:spPr>
          <a:xfrm>
            <a:off x="841248" y="404164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adherence.ts</a:t>
            </a:r>
            <a:endParaRPr lang="en-US" sz="980" dirty="0"/>
          </a:p>
        </p:txBody>
      </p:sp>
      <p:sp>
        <p:nvSpPr>
          <p:cNvPr id="44" name="Shape 42"/>
          <p:cNvSpPr/>
          <p:nvPr/>
        </p:nvSpPr>
        <p:spPr>
          <a:xfrm>
            <a:off x="2798064" y="387705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5" name="Shape 43"/>
          <p:cNvSpPr/>
          <p:nvPr/>
        </p:nvSpPr>
        <p:spPr>
          <a:xfrm>
            <a:off x="2926080" y="4005072"/>
            <a:ext cx="50292" cy="310896"/>
          </a:xfrm>
          <a:prstGeom prst="roundRect">
            <a:avLst>
              <a:gd name="adj" fmla="val 909091"/>
            </a:avLst>
          </a:prstGeom>
          <a:solidFill>
            <a:srgbClr val="C2703B"/>
          </a:solidFill>
          <a:ln w="12700">
            <a:solidFill>
              <a:srgbClr val="333333"/>
            </a:solidFill>
            <a:prstDash val="solid"/>
          </a:ln>
        </p:spPr>
      </p:sp>
      <p:sp>
        <p:nvSpPr>
          <p:cNvPr id="46" name="Text 44"/>
          <p:cNvSpPr/>
          <p:nvPr/>
        </p:nvSpPr>
        <p:spPr>
          <a:xfrm>
            <a:off x="3072384" y="404164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nutrition.ts</a:t>
            </a:r>
            <a:endParaRPr lang="en-US" sz="980" dirty="0"/>
          </a:p>
        </p:txBody>
      </p:sp>
      <p:sp>
        <p:nvSpPr>
          <p:cNvPr id="47" name="Shape 45"/>
          <p:cNvSpPr/>
          <p:nvPr/>
        </p:nvSpPr>
        <p:spPr>
          <a:xfrm>
            <a:off x="5029200" y="387705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48" name="Shape 46"/>
          <p:cNvSpPr/>
          <p:nvPr/>
        </p:nvSpPr>
        <p:spPr>
          <a:xfrm>
            <a:off x="5157216" y="4005072"/>
            <a:ext cx="50292" cy="310896"/>
          </a:xfrm>
          <a:prstGeom prst="roundRect">
            <a:avLst>
              <a:gd name="adj" fmla="val 909091"/>
            </a:avLst>
          </a:prstGeom>
          <a:solidFill>
            <a:srgbClr val="C2703B"/>
          </a:solidFill>
          <a:ln w="12700">
            <a:solidFill>
              <a:srgbClr val="333333"/>
            </a:solidFill>
            <a:prstDash val="solid"/>
          </a:ln>
        </p:spPr>
      </p:sp>
      <p:sp>
        <p:nvSpPr>
          <p:cNvPr id="49" name="Text 47"/>
          <p:cNvSpPr/>
          <p:nvPr/>
        </p:nvSpPr>
        <p:spPr>
          <a:xfrm>
            <a:off x="5303520" y="404164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services/plans.ts</a:t>
            </a:r>
            <a:endParaRPr lang="en-US" sz="980" dirty="0"/>
          </a:p>
        </p:txBody>
      </p:sp>
      <p:sp>
        <p:nvSpPr>
          <p:cNvPr id="50" name="Shape 48"/>
          <p:cNvSpPr/>
          <p:nvPr/>
        </p:nvSpPr>
        <p:spPr>
          <a:xfrm>
            <a:off x="7260336" y="387705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51" name="Shape 49"/>
          <p:cNvSpPr/>
          <p:nvPr/>
        </p:nvSpPr>
        <p:spPr>
          <a:xfrm>
            <a:off x="7388352" y="4005072"/>
            <a:ext cx="50292" cy="310896"/>
          </a:xfrm>
          <a:prstGeom prst="roundRect">
            <a:avLst>
              <a:gd name="adj" fmla="val 909091"/>
            </a:avLst>
          </a:prstGeom>
          <a:solidFill>
            <a:srgbClr val="C2703B"/>
          </a:solidFill>
          <a:ln w="12700">
            <a:solidFill>
              <a:srgbClr val="333333"/>
            </a:solidFill>
            <a:prstDash val="solid"/>
          </a:ln>
        </p:spPr>
      </p:sp>
      <p:sp>
        <p:nvSpPr>
          <p:cNvPr id="52" name="Text 50"/>
          <p:cNvSpPr/>
          <p:nvPr/>
        </p:nvSpPr>
        <p:spPr>
          <a:xfrm>
            <a:off x="7534656" y="404164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services/reminders.ts</a:t>
            </a:r>
            <a:endParaRPr lang="en-US" sz="980" dirty="0"/>
          </a:p>
        </p:txBody>
      </p:sp>
      <p:sp>
        <p:nvSpPr>
          <p:cNvPr id="53" name="Shape 51"/>
          <p:cNvSpPr/>
          <p:nvPr/>
        </p:nvSpPr>
        <p:spPr>
          <a:xfrm>
            <a:off x="9491472" y="387705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54" name="Shape 52"/>
          <p:cNvSpPr/>
          <p:nvPr/>
        </p:nvSpPr>
        <p:spPr>
          <a:xfrm>
            <a:off x="9619488" y="4005072"/>
            <a:ext cx="50292" cy="310896"/>
          </a:xfrm>
          <a:prstGeom prst="roundRect">
            <a:avLst>
              <a:gd name="adj" fmla="val 909091"/>
            </a:avLst>
          </a:prstGeom>
          <a:solidFill>
            <a:srgbClr val="C2703B"/>
          </a:solidFill>
          <a:ln w="12700">
            <a:solidFill>
              <a:srgbClr val="333333"/>
            </a:solidFill>
            <a:prstDash val="solid"/>
          </a:ln>
        </p:spPr>
      </p:sp>
      <p:sp>
        <p:nvSpPr>
          <p:cNvPr id="55" name="Text 53"/>
          <p:cNvSpPr/>
          <p:nvPr/>
        </p:nvSpPr>
        <p:spPr>
          <a:xfrm>
            <a:off x="9765792" y="404164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voice/scheduler.ts</a:t>
            </a:r>
            <a:endParaRPr lang="en-US" sz="980" dirty="0"/>
          </a:p>
        </p:txBody>
      </p:sp>
      <p:sp>
        <p:nvSpPr>
          <p:cNvPr id="56" name="Text 54"/>
          <p:cNvSpPr/>
          <p:nvPr/>
        </p:nvSpPr>
        <p:spPr>
          <a:xfrm>
            <a:off x="566928" y="4626864"/>
            <a:ext cx="5120640" cy="219456"/>
          </a:xfrm>
          <a:prstGeom prst="rect">
            <a:avLst/>
          </a:prstGeom>
          <a:noFill/>
          <a:ln/>
        </p:spPr>
        <p:txBody>
          <a:bodyPr wrap="square" rtlCol="0" anchor="t"/>
          <a:lstStyle/>
          <a:p>
            <a:pPr indent="0" marL="0">
              <a:buNone/>
            </a:pPr>
            <a:r>
              <a:rPr lang="en-US" sz="950" b="1" spc="100" kern="0" dirty="0">
                <a:solidFill>
                  <a:srgbClr val="9C3F6D"/>
                </a:solidFill>
                <a:latin typeface="Segoe UI" pitchFamily="34" charset="0"/>
                <a:ea typeface="Segoe UI" pitchFamily="34" charset="-122"/>
                <a:cs typeface="Segoe UI" pitchFamily="34" charset="-120"/>
              </a:rPr>
              <a:t>DATA  ·  Prisma 7 + SQLite</a:t>
            </a:r>
            <a:endParaRPr lang="en-US" sz="950" dirty="0"/>
          </a:p>
        </p:txBody>
      </p:sp>
      <p:sp>
        <p:nvSpPr>
          <p:cNvPr id="57" name="Shape 55"/>
          <p:cNvSpPr/>
          <p:nvPr/>
        </p:nvSpPr>
        <p:spPr>
          <a:xfrm>
            <a:off x="566928" y="488289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58" name="Shape 56"/>
          <p:cNvSpPr/>
          <p:nvPr/>
        </p:nvSpPr>
        <p:spPr>
          <a:xfrm>
            <a:off x="694944" y="5010912"/>
            <a:ext cx="50292" cy="310896"/>
          </a:xfrm>
          <a:prstGeom prst="roundRect">
            <a:avLst>
              <a:gd name="adj" fmla="val 909091"/>
            </a:avLst>
          </a:prstGeom>
          <a:solidFill>
            <a:srgbClr val="9C3F6D"/>
          </a:solidFill>
          <a:ln w="12700">
            <a:solidFill>
              <a:srgbClr val="333333"/>
            </a:solidFill>
            <a:prstDash val="solid"/>
          </a:ln>
        </p:spPr>
      </p:sp>
      <p:sp>
        <p:nvSpPr>
          <p:cNvPr id="59" name="Text 57"/>
          <p:cNvSpPr/>
          <p:nvPr/>
        </p:nvSpPr>
        <p:spPr>
          <a:xfrm>
            <a:off x="841248" y="504748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User · Session</a:t>
            </a:r>
            <a:endParaRPr lang="en-US" sz="980" dirty="0"/>
          </a:p>
        </p:txBody>
      </p:sp>
      <p:sp>
        <p:nvSpPr>
          <p:cNvPr id="60" name="Shape 58"/>
          <p:cNvSpPr/>
          <p:nvPr/>
        </p:nvSpPr>
        <p:spPr>
          <a:xfrm>
            <a:off x="2798064" y="488289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61" name="Shape 59"/>
          <p:cNvSpPr/>
          <p:nvPr/>
        </p:nvSpPr>
        <p:spPr>
          <a:xfrm>
            <a:off x="2926080" y="5010912"/>
            <a:ext cx="50292" cy="310896"/>
          </a:xfrm>
          <a:prstGeom prst="roundRect">
            <a:avLst>
              <a:gd name="adj" fmla="val 909091"/>
            </a:avLst>
          </a:prstGeom>
          <a:solidFill>
            <a:srgbClr val="9C3F6D"/>
          </a:solidFill>
          <a:ln w="12700">
            <a:solidFill>
              <a:srgbClr val="333333"/>
            </a:solidFill>
            <a:prstDash val="solid"/>
          </a:ln>
        </p:spPr>
      </p:sp>
      <p:sp>
        <p:nvSpPr>
          <p:cNvPr id="62" name="Text 60"/>
          <p:cNvSpPr/>
          <p:nvPr/>
        </p:nvSpPr>
        <p:spPr>
          <a:xfrm>
            <a:off x="3072384" y="504748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Plan · PlanItem</a:t>
            </a:r>
            <a:endParaRPr lang="en-US" sz="980" dirty="0"/>
          </a:p>
        </p:txBody>
      </p:sp>
      <p:sp>
        <p:nvSpPr>
          <p:cNvPr id="63" name="Shape 61"/>
          <p:cNvSpPr/>
          <p:nvPr/>
        </p:nvSpPr>
        <p:spPr>
          <a:xfrm>
            <a:off x="5029200" y="488289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64" name="Shape 62"/>
          <p:cNvSpPr/>
          <p:nvPr/>
        </p:nvSpPr>
        <p:spPr>
          <a:xfrm>
            <a:off x="5157216" y="5010912"/>
            <a:ext cx="50292" cy="310896"/>
          </a:xfrm>
          <a:prstGeom prst="roundRect">
            <a:avLst>
              <a:gd name="adj" fmla="val 909091"/>
            </a:avLst>
          </a:prstGeom>
          <a:solidFill>
            <a:srgbClr val="9C3F6D"/>
          </a:solidFill>
          <a:ln w="12700">
            <a:solidFill>
              <a:srgbClr val="333333"/>
            </a:solidFill>
            <a:prstDash val="solid"/>
          </a:ln>
        </p:spPr>
      </p:sp>
      <p:sp>
        <p:nvSpPr>
          <p:cNvPr id="65" name="Text 63"/>
          <p:cNvSpPr/>
          <p:nvPr/>
        </p:nvSpPr>
        <p:spPr>
          <a:xfrm>
            <a:off x="5303520" y="504748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CheckIn · Feedback</a:t>
            </a:r>
            <a:endParaRPr lang="en-US" sz="980" dirty="0"/>
          </a:p>
        </p:txBody>
      </p:sp>
      <p:sp>
        <p:nvSpPr>
          <p:cNvPr id="66" name="Shape 64"/>
          <p:cNvSpPr/>
          <p:nvPr/>
        </p:nvSpPr>
        <p:spPr>
          <a:xfrm>
            <a:off x="7260336" y="488289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67" name="Shape 65"/>
          <p:cNvSpPr/>
          <p:nvPr/>
        </p:nvSpPr>
        <p:spPr>
          <a:xfrm>
            <a:off x="7388352" y="5010912"/>
            <a:ext cx="50292" cy="310896"/>
          </a:xfrm>
          <a:prstGeom prst="roundRect">
            <a:avLst>
              <a:gd name="adj" fmla="val 909091"/>
            </a:avLst>
          </a:prstGeom>
          <a:solidFill>
            <a:srgbClr val="9C3F6D"/>
          </a:solidFill>
          <a:ln w="12700">
            <a:solidFill>
              <a:srgbClr val="333333"/>
            </a:solidFill>
            <a:prstDash val="solid"/>
          </a:ln>
        </p:spPr>
      </p:sp>
      <p:sp>
        <p:nvSpPr>
          <p:cNvPr id="68" name="Text 66"/>
          <p:cNvSpPr/>
          <p:nvPr/>
        </p:nvSpPr>
        <p:spPr>
          <a:xfrm>
            <a:off x="7534656" y="504748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DailySummary</a:t>
            </a:r>
            <a:endParaRPr lang="en-US" sz="980" dirty="0"/>
          </a:p>
        </p:txBody>
      </p:sp>
      <p:sp>
        <p:nvSpPr>
          <p:cNvPr id="69" name="Shape 67"/>
          <p:cNvSpPr/>
          <p:nvPr/>
        </p:nvSpPr>
        <p:spPr>
          <a:xfrm>
            <a:off x="9491472" y="4882896"/>
            <a:ext cx="2084832" cy="566928"/>
          </a:xfrm>
          <a:prstGeom prst="roundRect">
            <a:avLst>
              <a:gd name="adj" fmla="val 14516"/>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70" name="Shape 68"/>
          <p:cNvSpPr/>
          <p:nvPr/>
        </p:nvSpPr>
        <p:spPr>
          <a:xfrm>
            <a:off x="9619488" y="5010912"/>
            <a:ext cx="50292" cy="310896"/>
          </a:xfrm>
          <a:prstGeom prst="roundRect">
            <a:avLst>
              <a:gd name="adj" fmla="val 909091"/>
            </a:avLst>
          </a:prstGeom>
          <a:solidFill>
            <a:srgbClr val="9C3F6D"/>
          </a:solidFill>
          <a:ln w="12700">
            <a:solidFill>
              <a:srgbClr val="333333"/>
            </a:solidFill>
            <a:prstDash val="solid"/>
          </a:ln>
        </p:spPr>
      </p:sp>
      <p:sp>
        <p:nvSpPr>
          <p:cNvPr id="71" name="Text 69"/>
          <p:cNvSpPr/>
          <p:nvPr/>
        </p:nvSpPr>
        <p:spPr>
          <a:xfrm>
            <a:off x="9765792" y="5047488"/>
            <a:ext cx="1737360" cy="274320"/>
          </a:xfrm>
          <a:prstGeom prst="rect">
            <a:avLst/>
          </a:prstGeom>
          <a:noFill/>
          <a:ln/>
        </p:spPr>
        <p:txBody>
          <a:bodyPr wrap="square" rtlCol="0" anchor="t"/>
          <a:lstStyle/>
          <a:p>
            <a:pPr indent="0" marL="0">
              <a:buNone/>
            </a:pPr>
            <a:r>
              <a:rPr lang="en-US" sz="980" dirty="0">
                <a:solidFill>
                  <a:srgbClr val="17211C"/>
                </a:solidFill>
                <a:latin typeface="Segoe UI" pitchFamily="34" charset="0"/>
                <a:ea typeface="Segoe UI" pitchFamily="34" charset="-122"/>
                <a:cs typeface="Segoe UI" pitchFamily="34" charset="-120"/>
              </a:rPr>
              <a:t>Reminder</a:t>
            </a:r>
            <a:endParaRPr lang="en-US" sz="980" dirty="0"/>
          </a:p>
        </p:txBody>
      </p:sp>
      <p:sp>
        <p:nvSpPr>
          <p:cNvPr id="72" name="Text 70"/>
          <p:cNvSpPr/>
          <p:nvPr/>
        </p:nvSpPr>
        <p:spPr>
          <a:xfrm>
            <a:off x="566928" y="5742432"/>
            <a:ext cx="2743200" cy="219456"/>
          </a:xfrm>
          <a:prstGeom prst="rect">
            <a:avLst/>
          </a:prstGeom>
          <a:noFill/>
          <a:ln/>
        </p:spPr>
        <p:txBody>
          <a:bodyPr wrap="square" rtlCol="0" anchor="t"/>
          <a:lstStyle/>
          <a:p>
            <a:pPr indent="0" marL="0">
              <a:buNone/>
            </a:pPr>
            <a:r>
              <a:rPr lang="en-US" sz="950" b="1" spc="100" kern="0" dirty="0">
                <a:solidFill>
                  <a:srgbClr val="64726A"/>
                </a:solidFill>
                <a:latin typeface="Segoe UI" pitchFamily="34" charset="0"/>
                <a:ea typeface="Segoe UI" pitchFamily="34" charset="-122"/>
                <a:cs typeface="Segoe UI" pitchFamily="34" charset="-120"/>
              </a:rPr>
              <a:t>INTEGRATIONS</a:t>
            </a:r>
            <a:endParaRPr lang="en-US" sz="950" dirty="0"/>
          </a:p>
        </p:txBody>
      </p:sp>
      <p:sp>
        <p:nvSpPr>
          <p:cNvPr id="73" name="Shape 71"/>
          <p:cNvSpPr/>
          <p:nvPr/>
        </p:nvSpPr>
        <p:spPr>
          <a:xfrm>
            <a:off x="2103120" y="5650992"/>
            <a:ext cx="3108960" cy="548640"/>
          </a:xfrm>
          <a:prstGeom prst="roundRect">
            <a:avLst>
              <a:gd name="adj" fmla="val 15000"/>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74" name="Shape 72"/>
          <p:cNvSpPr/>
          <p:nvPr/>
        </p:nvSpPr>
        <p:spPr>
          <a:xfrm>
            <a:off x="2231136" y="5769864"/>
            <a:ext cx="50292" cy="310896"/>
          </a:xfrm>
          <a:prstGeom prst="roundRect">
            <a:avLst>
              <a:gd name="adj" fmla="val 909091"/>
            </a:avLst>
          </a:prstGeom>
          <a:solidFill>
            <a:srgbClr val="1F6F4A"/>
          </a:solidFill>
          <a:ln w="12700">
            <a:solidFill>
              <a:srgbClr val="333333"/>
            </a:solidFill>
            <a:prstDash val="solid"/>
          </a:ln>
        </p:spPr>
      </p:sp>
      <p:sp>
        <p:nvSpPr>
          <p:cNvPr id="75" name="Text 73"/>
          <p:cNvSpPr/>
          <p:nvPr/>
        </p:nvSpPr>
        <p:spPr>
          <a:xfrm>
            <a:off x="2377440" y="5724144"/>
            <a:ext cx="2743200" cy="219456"/>
          </a:xfrm>
          <a:prstGeom prst="rect">
            <a:avLst/>
          </a:prstGeom>
          <a:noFill/>
          <a:ln/>
        </p:spPr>
        <p:txBody>
          <a:bodyPr wrap="square" rtlCol="0" anchor="t"/>
          <a:lstStyle/>
          <a:p>
            <a:pPr indent="0" marL="0">
              <a:buNone/>
            </a:pPr>
            <a:r>
              <a:rPr lang="en-US" sz="1000" b="1" dirty="0">
                <a:solidFill>
                  <a:srgbClr val="17211C"/>
                </a:solidFill>
                <a:latin typeface="Segoe UI" pitchFamily="34" charset="0"/>
                <a:ea typeface="Segoe UI" pitchFamily="34" charset="-122"/>
                <a:cs typeface="Segoe UI" pitchFamily="34" charset="-120"/>
              </a:rPr>
              <a:t>OpenAI  gpt-4o-mini</a:t>
            </a:r>
            <a:endParaRPr lang="en-US" sz="1000" dirty="0"/>
          </a:p>
        </p:txBody>
      </p:sp>
      <p:sp>
        <p:nvSpPr>
          <p:cNvPr id="76" name="Text 74"/>
          <p:cNvSpPr/>
          <p:nvPr/>
        </p:nvSpPr>
        <p:spPr>
          <a:xfrm>
            <a:off x="2377440" y="5925312"/>
            <a:ext cx="274320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plan · summary · coach · Gujarati script</a:t>
            </a:r>
            <a:endParaRPr lang="en-US" sz="860" dirty="0"/>
          </a:p>
        </p:txBody>
      </p:sp>
      <p:sp>
        <p:nvSpPr>
          <p:cNvPr id="77" name="Shape 75"/>
          <p:cNvSpPr/>
          <p:nvPr/>
        </p:nvSpPr>
        <p:spPr>
          <a:xfrm>
            <a:off x="5349240" y="5650992"/>
            <a:ext cx="3108960" cy="548640"/>
          </a:xfrm>
          <a:prstGeom prst="roundRect">
            <a:avLst>
              <a:gd name="adj" fmla="val 15000"/>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78" name="Shape 76"/>
          <p:cNvSpPr/>
          <p:nvPr/>
        </p:nvSpPr>
        <p:spPr>
          <a:xfrm>
            <a:off x="5477256" y="5769864"/>
            <a:ext cx="50292" cy="310896"/>
          </a:xfrm>
          <a:prstGeom prst="roundRect">
            <a:avLst>
              <a:gd name="adj" fmla="val 909091"/>
            </a:avLst>
          </a:prstGeom>
          <a:solidFill>
            <a:srgbClr val="2B7FA8"/>
          </a:solidFill>
          <a:ln w="12700">
            <a:solidFill>
              <a:srgbClr val="333333"/>
            </a:solidFill>
            <a:prstDash val="solid"/>
          </a:ln>
        </p:spPr>
      </p:sp>
      <p:sp>
        <p:nvSpPr>
          <p:cNvPr id="79" name="Text 77"/>
          <p:cNvSpPr/>
          <p:nvPr/>
        </p:nvSpPr>
        <p:spPr>
          <a:xfrm>
            <a:off x="5623560" y="5724144"/>
            <a:ext cx="2743200" cy="219456"/>
          </a:xfrm>
          <a:prstGeom prst="rect">
            <a:avLst/>
          </a:prstGeom>
          <a:noFill/>
          <a:ln/>
        </p:spPr>
        <p:txBody>
          <a:bodyPr wrap="square" rtlCol="0" anchor="t"/>
          <a:lstStyle/>
          <a:p>
            <a:pPr indent="0" marL="0">
              <a:buNone/>
            </a:pPr>
            <a:r>
              <a:rPr lang="en-US" sz="1000" b="1" dirty="0">
                <a:solidFill>
                  <a:srgbClr val="17211C"/>
                </a:solidFill>
                <a:latin typeface="Segoe UI" pitchFamily="34" charset="0"/>
                <a:ea typeface="Segoe UI" pitchFamily="34" charset="-122"/>
                <a:cs typeface="Segoe UI" pitchFamily="34" charset="-120"/>
              </a:rPr>
              <a:t>Sarvam  bulbul:v3 / saaras:v3</a:t>
            </a:r>
            <a:endParaRPr lang="en-US" sz="1000" dirty="0"/>
          </a:p>
        </p:txBody>
      </p:sp>
      <p:sp>
        <p:nvSpPr>
          <p:cNvPr id="80" name="Text 78"/>
          <p:cNvSpPr/>
          <p:nvPr/>
        </p:nvSpPr>
        <p:spPr>
          <a:xfrm>
            <a:off x="5623560" y="5925312"/>
            <a:ext cx="274320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Gujarati TTS at 8 kHz · optional STT</a:t>
            </a:r>
            <a:endParaRPr lang="en-US" sz="860" dirty="0"/>
          </a:p>
        </p:txBody>
      </p:sp>
      <p:sp>
        <p:nvSpPr>
          <p:cNvPr id="81" name="Shape 79"/>
          <p:cNvSpPr/>
          <p:nvPr/>
        </p:nvSpPr>
        <p:spPr>
          <a:xfrm>
            <a:off x="8595360" y="5650992"/>
            <a:ext cx="3108960" cy="548640"/>
          </a:xfrm>
          <a:prstGeom prst="roundRect">
            <a:avLst>
              <a:gd name="adj" fmla="val 15000"/>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82" name="Shape 80"/>
          <p:cNvSpPr/>
          <p:nvPr/>
        </p:nvSpPr>
        <p:spPr>
          <a:xfrm>
            <a:off x="8723376" y="5769864"/>
            <a:ext cx="50292" cy="310896"/>
          </a:xfrm>
          <a:prstGeom prst="roundRect">
            <a:avLst>
              <a:gd name="adj" fmla="val 909091"/>
            </a:avLst>
          </a:prstGeom>
          <a:solidFill>
            <a:srgbClr val="9C3F6D"/>
          </a:solidFill>
          <a:ln w="12700">
            <a:solidFill>
              <a:srgbClr val="333333"/>
            </a:solidFill>
            <a:prstDash val="solid"/>
          </a:ln>
        </p:spPr>
      </p:sp>
      <p:sp>
        <p:nvSpPr>
          <p:cNvPr id="83" name="Text 81"/>
          <p:cNvSpPr/>
          <p:nvPr/>
        </p:nvSpPr>
        <p:spPr>
          <a:xfrm>
            <a:off x="8869680" y="5724144"/>
            <a:ext cx="2743200" cy="219456"/>
          </a:xfrm>
          <a:prstGeom prst="rect">
            <a:avLst/>
          </a:prstGeom>
          <a:noFill/>
          <a:ln/>
        </p:spPr>
        <p:txBody>
          <a:bodyPr wrap="square" rtlCol="0" anchor="t"/>
          <a:lstStyle/>
          <a:p>
            <a:pPr indent="0" marL="0">
              <a:buNone/>
            </a:pPr>
            <a:r>
              <a:rPr lang="en-US" sz="1000" b="1" dirty="0">
                <a:solidFill>
                  <a:srgbClr val="17211C"/>
                </a:solidFill>
                <a:latin typeface="Segoe UI" pitchFamily="34" charset="0"/>
                <a:ea typeface="Segoe UI" pitchFamily="34" charset="-122"/>
                <a:cs typeface="Segoe UI" pitchFamily="34" charset="-120"/>
              </a:rPr>
              <a:t>Vobiz  Voice API + XML</a:t>
            </a:r>
            <a:endParaRPr lang="en-US" sz="1000" dirty="0"/>
          </a:p>
        </p:txBody>
      </p:sp>
      <p:sp>
        <p:nvSpPr>
          <p:cNvPr id="84" name="Text 82"/>
          <p:cNvSpPr/>
          <p:nvPr/>
        </p:nvSpPr>
        <p:spPr>
          <a:xfrm>
            <a:off x="8869680" y="5925312"/>
            <a:ext cx="274320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outbound PSTN call · ngrok tunnel in dev</a:t>
            </a:r>
            <a:endParaRPr lang="en-US" sz="86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4"/>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6F4A"/>
          </a:solidFill>
          <a:ln/>
        </p:spPr>
      </p:sp>
      <p:sp>
        <p:nvSpPr>
          <p:cNvPr id="3" name="Text 1"/>
          <p:cNvSpPr/>
          <p:nvPr/>
        </p:nvSpPr>
        <p:spPr>
          <a:xfrm>
            <a:off x="566928" y="310896"/>
            <a:ext cx="7315200" cy="237744"/>
          </a:xfrm>
          <a:prstGeom prst="rect">
            <a:avLst/>
          </a:prstGeom>
          <a:noFill/>
          <a:ln/>
        </p:spPr>
        <p:txBody>
          <a:bodyPr wrap="square" rtlCol="0" anchor="t"/>
          <a:lstStyle/>
          <a:p>
            <a:pPr indent="0" marL="0">
              <a:buNone/>
            </a:pPr>
            <a:r>
              <a:rPr lang="en-US" sz="1100" b="1" spc="140" kern="0" dirty="0">
                <a:solidFill>
                  <a:srgbClr val="1F6F4A"/>
                </a:solidFill>
                <a:latin typeface="Segoe UI" pitchFamily="34" charset="0"/>
                <a:ea typeface="Segoe UI" pitchFamily="34" charset="-122"/>
                <a:cs typeface="Segoe UI" pitchFamily="34" charset="-120"/>
              </a:rPr>
              <a:t>SAFETY, RESILIENCE &amp; DELIVERABLES</a:t>
            </a:r>
            <a:endParaRPr lang="en-US" sz="1100" dirty="0"/>
          </a:p>
        </p:txBody>
      </p:sp>
      <p:sp>
        <p:nvSpPr>
          <p:cNvPr id="4" name="Text 2"/>
          <p:cNvSpPr/>
          <p:nvPr/>
        </p:nvSpPr>
        <p:spPr>
          <a:xfrm>
            <a:off x="548640" y="566928"/>
            <a:ext cx="10241280" cy="566928"/>
          </a:xfrm>
          <a:prstGeom prst="rect">
            <a:avLst/>
          </a:prstGeom>
          <a:noFill/>
          <a:ln/>
        </p:spPr>
        <p:txBody>
          <a:bodyPr wrap="square" rtlCol="0" anchor="t"/>
          <a:lstStyle/>
          <a:p>
            <a:pPr indent="0" marL="0">
              <a:buNone/>
            </a:pPr>
            <a:r>
              <a:rPr lang="en-US" sz="3000" b="1" dirty="0">
                <a:solidFill>
                  <a:srgbClr val="17211C"/>
                </a:solidFill>
                <a:latin typeface="Segoe UI" pitchFamily="34" charset="0"/>
                <a:ea typeface="Segoe UI" pitchFamily="34" charset="-122"/>
                <a:cs typeface="Segoe UI" pitchFamily="34" charset="-120"/>
              </a:rPr>
              <a:t>Built to survive the demo — and the guardrail</a:t>
            </a:r>
            <a:endParaRPr lang="en-US" sz="3000" dirty="0"/>
          </a:p>
        </p:txBody>
      </p:sp>
      <p:sp>
        <p:nvSpPr>
          <p:cNvPr id="5" name="Text 3"/>
          <p:cNvSpPr/>
          <p:nvPr/>
        </p:nvSpPr>
        <p:spPr>
          <a:xfrm>
            <a:off x="566928" y="1133856"/>
            <a:ext cx="10424160" cy="329184"/>
          </a:xfrm>
          <a:prstGeom prst="rect">
            <a:avLst/>
          </a:prstGeom>
          <a:noFill/>
          <a:ln/>
        </p:spPr>
        <p:txBody>
          <a:bodyPr wrap="square" rtlCol="0" anchor="t"/>
          <a:lstStyle/>
          <a:p>
            <a:pPr indent="0" marL="0">
              <a:buNone/>
            </a:pPr>
            <a:r>
              <a:rPr lang="en-US" sz="1350" dirty="0">
                <a:solidFill>
                  <a:srgbClr val="64726A"/>
                </a:solidFill>
                <a:latin typeface="Segoe UI" pitchFamily="34" charset="0"/>
                <a:ea typeface="Segoe UI" pitchFamily="34" charset="-122"/>
                <a:cs typeface="Segoe UI" pitchFamily="34" charset="-120"/>
              </a:rPr>
              <a:t>General wellness only, enforced in code. Every third-party failure has a visible fallback.</a:t>
            </a:r>
            <a:endParaRPr lang="en-US" sz="1350" dirty="0"/>
          </a:p>
        </p:txBody>
      </p:sp>
      <p:sp>
        <p:nvSpPr>
          <p:cNvPr id="6" name="Text 4"/>
          <p:cNvSpPr/>
          <p:nvPr/>
        </p:nvSpPr>
        <p:spPr>
          <a:xfrm>
            <a:off x="11414455" y="6355080"/>
            <a:ext cx="365760" cy="274320"/>
          </a:xfrm>
          <a:prstGeom prst="rect">
            <a:avLst/>
          </a:prstGeom>
          <a:noFill/>
          <a:ln/>
        </p:spPr>
        <p:txBody>
          <a:bodyPr wrap="square" rtlCol="0" anchor="t"/>
          <a:lstStyle/>
          <a:p>
            <a:pPr algn="r" indent="0" marL="0">
              <a:buNone/>
            </a:pPr>
            <a:r>
              <a:rPr lang="en-US" sz="1100" dirty="0">
                <a:solidFill>
                  <a:srgbClr val="64726A"/>
                </a:solidFill>
                <a:latin typeface="Segoe UI" pitchFamily="34" charset="0"/>
                <a:ea typeface="Segoe UI" pitchFamily="34" charset="-122"/>
                <a:cs typeface="Segoe UI" pitchFamily="34" charset="-120"/>
              </a:rPr>
              <a:t>10</a:t>
            </a:r>
            <a:endParaRPr lang="en-US" sz="1100" dirty="0"/>
          </a:p>
        </p:txBody>
      </p:sp>
      <p:sp>
        <p:nvSpPr>
          <p:cNvPr id="7" name="Text 5"/>
          <p:cNvSpPr/>
          <p:nvPr/>
        </p:nvSpPr>
        <p:spPr>
          <a:xfrm>
            <a:off x="566928" y="6355080"/>
            <a:ext cx="2743200" cy="274320"/>
          </a:xfrm>
          <a:prstGeom prst="rect">
            <a:avLst/>
          </a:prstGeom>
          <a:noFill/>
          <a:ln/>
        </p:spPr>
        <p:txBody>
          <a:bodyPr wrap="square" rtlCol="0" anchor="t"/>
          <a:lstStyle/>
          <a:p>
            <a:pPr indent="0" marL="0">
              <a:buNone/>
            </a:pPr>
            <a:r>
              <a:rPr lang="en-US" sz="1000" dirty="0">
                <a:solidFill>
                  <a:srgbClr val="64726A"/>
                </a:solidFill>
                <a:latin typeface="Segoe UI" pitchFamily="34" charset="0"/>
                <a:ea typeface="Segoe UI" pitchFamily="34" charset="-122"/>
                <a:cs typeface="Segoe UI" pitchFamily="34" charset="-120"/>
              </a:rPr>
              <a:t>WellPath AI</a:t>
            </a:r>
            <a:endParaRPr lang="en-US" sz="1000" dirty="0"/>
          </a:p>
        </p:txBody>
      </p:sp>
      <p:sp>
        <p:nvSpPr>
          <p:cNvPr id="8" name="Shape 6"/>
          <p:cNvSpPr/>
          <p:nvPr/>
        </p:nvSpPr>
        <p:spPr>
          <a:xfrm>
            <a:off x="566928" y="1645920"/>
            <a:ext cx="5532120" cy="2286000"/>
          </a:xfrm>
          <a:prstGeom prst="roundRect">
            <a:avLst>
              <a:gd name="adj" fmla="val 36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9" name="Shape 7"/>
          <p:cNvSpPr/>
          <p:nvPr/>
        </p:nvSpPr>
        <p:spPr>
          <a:xfrm>
            <a:off x="804672" y="1847088"/>
            <a:ext cx="50292" cy="384048"/>
          </a:xfrm>
          <a:prstGeom prst="roundRect">
            <a:avLst>
              <a:gd name="adj" fmla="val 909091"/>
            </a:avLst>
          </a:prstGeom>
          <a:solidFill>
            <a:srgbClr val="B4452F"/>
          </a:solidFill>
          <a:ln w="12700">
            <a:solidFill>
              <a:srgbClr val="333333"/>
            </a:solidFill>
            <a:prstDash val="solid"/>
          </a:ln>
        </p:spPr>
      </p:sp>
      <p:sp>
        <p:nvSpPr>
          <p:cNvPr id="10" name="Text 8"/>
          <p:cNvSpPr/>
          <p:nvPr/>
        </p:nvSpPr>
        <p:spPr>
          <a:xfrm>
            <a:off x="1005840" y="1819656"/>
            <a:ext cx="4754880" cy="292608"/>
          </a:xfrm>
          <a:prstGeom prst="rect">
            <a:avLst/>
          </a:prstGeom>
          <a:noFill/>
          <a:ln/>
        </p:spPr>
        <p:txBody>
          <a:bodyPr wrap="square" rtlCol="0" anchor="t"/>
          <a:lstStyle/>
          <a:p>
            <a:pPr indent="0" marL="0">
              <a:buNone/>
            </a:pPr>
            <a:r>
              <a:rPr lang="en-US" sz="1450" b="1" dirty="0">
                <a:solidFill>
                  <a:srgbClr val="17211C"/>
                </a:solidFill>
                <a:latin typeface="Segoe UI" pitchFamily="34" charset="0"/>
                <a:ea typeface="Segoe UI" pitchFamily="34" charset="-122"/>
                <a:cs typeface="Segoe UI" pitchFamily="34" charset="-120"/>
              </a:rPr>
              <a:t>Guardrails — enforced, not promised</a:t>
            </a:r>
            <a:endParaRPr lang="en-US" sz="1450" dirty="0"/>
          </a:p>
        </p:txBody>
      </p:sp>
      <p:sp>
        <p:nvSpPr>
          <p:cNvPr id="11" name="Text 9"/>
          <p:cNvSpPr/>
          <p:nvPr/>
        </p:nvSpPr>
        <p:spPr>
          <a:xfrm>
            <a:off x="822960" y="2286000"/>
            <a:ext cx="182880" cy="219456"/>
          </a:xfrm>
          <a:prstGeom prst="rect">
            <a:avLst/>
          </a:prstGeom>
          <a:noFill/>
          <a:ln/>
        </p:spPr>
        <p:txBody>
          <a:bodyPr wrap="square" rtlCol="0" anchor="t"/>
          <a:lstStyle/>
          <a:p>
            <a:pPr indent="0" marL="0">
              <a:buNone/>
            </a:pPr>
            <a:r>
              <a:rPr lang="en-US" sz="1000" b="1" dirty="0">
                <a:solidFill>
                  <a:srgbClr val="B4452F"/>
                </a:solidFill>
                <a:latin typeface="Segoe UI" pitchFamily="34" charset="0"/>
                <a:ea typeface="Segoe UI" pitchFamily="34" charset="-122"/>
                <a:cs typeface="Segoe UI" pitchFamily="34" charset="-120"/>
              </a:rPr>
              <a:t>—</a:t>
            </a:r>
            <a:endParaRPr lang="en-US" sz="1000" dirty="0"/>
          </a:p>
        </p:txBody>
      </p:sp>
      <p:sp>
        <p:nvSpPr>
          <p:cNvPr id="12" name="Text 10"/>
          <p:cNvSpPr/>
          <p:nvPr/>
        </p:nvSpPr>
        <p:spPr>
          <a:xfrm>
            <a:off x="1051560" y="2286000"/>
            <a:ext cx="4846320" cy="384048"/>
          </a:xfrm>
          <a:prstGeom prst="rect">
            <a:avLst/>
          </a:prstGeom>
          <a:noFill/>
          <a:ln/>
        </p:spPr>
        <p:txBody>
          <a:bodyPr wrap="square" rtlCol="0" anchor="t"/>
          <a:lstStyle/>
          <a:p>
            <a:pPr indent="0" marL="0">
              <a:lnSpc>
                <a:spcPts val="1350"/>
              </a:lnSpc>
              <a:buNone/>
            </a:pPr>
            <a:r>
              <a:rPr lang="en-US" sz="980" dirty="0">
                <a:solidFill>
                  <a:srgbClr val="64726A"/>
                </a:solidFill>
                <a:latin typeface="Segoe UI" pitchFamily="34" charset="0"/>
                <a:ea typeface="Segoe UI" pitchFamily="34" charset="-122"/>
                <a:cs typeface="Segoe UI" pitchFamily="34" charset="-120"/>
              </a:rPr>
              <a:t>Safety preamble on every prompt — no diagnosis, no medication, no clinical claims, ~1200 kcal floor.</a:t>
            </a:r>
            <a:endParaRPr lang="en-US" sz="980" dirty="0"/>
          </a:p>
        </p:txBody>
      </p:sp>
      <p:sp>
        <p:nvSpPr>
          <p:cNvPr id="13" name="Text 11"/>
          <p:cNvSpPr/>
          <p:nvPr/>
        </p:nvSpPr>
        <p:spPr>
          <a:xfrm>
            <a:off x="822960" y="2688336"/>
            <a:ext cx="182880" cy="219456"/>
          </a:xfrm>
          <a:prstGeom prst="rect">
            <a:avLst/>
          </a:prstGeom>
          <a:noFill/>
          <a:ln/>
        </p:spPr>
        <p:txBody>
          <a:bodyPr wrap="square" rtlCol="0" anchor="t"/>
          <a:lstStyle/>
          <a:p>
            <a:pPr indent="0" marL="0">
              <a:buNone/>
            </a:pPr>
            <a:r>
              <a:rPr lang="en-US" sz="1000" b="1" dirty="0">
                <a:solidFill>
                  <a:srgbClr val="B4452F"/>
                </a:solidFill>
                <a:latin typeface="Segoe UI" pitchFamily="34" charset="0"/>
                <a:ea typeface="Segoe UI" pitchFamily="34" charset="-122"/>
                <a:cs typeface="Segoe UI" pitchFamily="34" charset="-120"/>
              </a:rPr>
              <a:t>—</a:t>
            </a:r>
            <a:endParaRPr lang="en-US" sz="1000" dirty="0"/>
          </a:p>
        </p:txBody>
      </p:sp>
      <p:sp>
        <p:nvSpPr>
          <p:cNvPr id="14" name="Text 12"/>
          <p:cNvSpPr/>
          <p:nvPr/>
        </p:nvSpPr>
        <p:spPr>
          <a:xfrm>
            <a:off x="1051560" y="2688336"/>
            <a:ext cx="4846320" cy="384048"/>
          </a:xfrm>
          <a:prstGeom prst="rect">
            <a:avLst/>
          </a:prstGeom>
          <a:noFill/>
          <a:ln/>
        </p:spPr>
        <p:txBody>
          <a:bodyPr wrap="square" rtlCol="0" anchor="t"/>
          <a:lstStyle/>
          <a:p>
            <a:pPr indent="0" marL="0">
              <a:lnSpc>
                <a:spcPts val="1350"/>
              </a:lnSpc>
              <a:buNone/>
            </a:pPr>
            <a:r>
              <a:rPr lang="en-US" sz="980" dirty="0">
                <a:solidFill>
                  <a:srgbClr val="64726A"/>
                </a:solidFill>
                <a:latin typeface="Segoe UI" pitchFamily="34" charset="0"/>
                <a:ea typeface="Segoe UI" pitchFamily="34" charset="-122"/>
                <a:cs typeface="Segoe UI" pitchFamily="34" charset="-120"/>
              </a:rPr>
              <a:t>Red-flag screen blocks urgent input (chest pain, self-harm, disordered eating) before it reaches the model — and never stores it.</a:t>
            </a:r>
            <a:endParaRPr lang="en-US" sz="980" dirty="0"/>
          </a:p>
        </p:txBody>
      </p:sp>
      <p:sp>
        <p:nvSpPr>
          <p:cNvPr id="15" name="Text 13"/>
          <p:cNvSpPr/>
          <p:nvPr/>
        </p:nvSpPr>
        <p:spPr>
          <a:xfrm>
            <a:off x="822960" y="3090672"/>
            <a:ext cx="182880" cy="219456"/>
          </a:xfrm>
          <a:prstGeom prst="rect">
            <a:avLst/>
          </a:prstGeom>
          <a:noFill/>
          <a:ln/>
        </p:spPr>
        <p:txBody>
          <a:bodyPr wrap="square" rtlCol="0" anchor="t"/>
          <a:lstStyle/>
          <a:p>
            <a:pPr indent="0" marL="0">
              <a:buNone/>
            </a:pPr>
            <a:r>
              <a:rPr lang="en-US" sz="1000" b="1" dirty="0">
                <a:solidFill>
                  <a:srgbClr val="B4452F"/>
                </a:solidFill>
                <a:latin typeface="Segoe UI" pitchFamily="34" charset="0"/>
                <a:ea typeface="Segoe UI" pitchFamily="34" charset="-122"/>
                <a:cs typeface="Segoe UI" pitchFamily="34" charset="-120"/>
              </a:rPr>
              <a:t>—</a:t>
            </a:r>
            <a:endParaRPr lang="en-US" sz="1000" dirty="0"/>
          </a:p>
        </p:txBody>
      </p:sp>
      <p:sp>
        <p:nvSpPr>
          <p:cNvPr id="16" name="Text 14"/>
          <p:cNvSpPr/>
          <p:nvPr/>
        </p:nvSpPr>
        <p:spPr>
          <a:xfrm>
            <a:off x="1051560" y="3090672"/>
            <a:ext cx="4846320" cy="384048"/>
          </a:xfrm>
          <a:prstGeom prst="rect">
            <a:avLst/>
          </a:prstGeom>
          <a:noFill/>
          <a:ln/>
        </p:spPr>
        <p:txBody>
          <a:bodyPr wrap="square" rtlCol="0" anchor="t"/>
          <a:lstStyle/>
          <a:p>
            <a:pPr indent="0" marL="0">
              <a:lnSpc>
                <a:spcPts val="1350"/>
              </a:lnSpc>
              <a:buNone/>
            </a:pPr>
            <a:r>
              <a:rPr lang="en-US" sz="980" dirty="0">
                <a:solidFill>
                  <a:srgbClr val="64726A"/>
                </a:solidFill>
                <a:latin typeface="Segoe UI" pitchFamily="34" charset="0"/>
                <a:ea typeface="Segoe UI" pitchFamily="34" charset="-122"/>
                <a:cs typeface="Segoe UI" pitchFamily="34" charset="-120"/>
              </a:rPr>
              <a:t>Allergen gate audits generated meals against an alias table; a violation regenerates, then falls back.</a:t>
            </a:r>
            <a:endParaRPr lang="en-US" sz="980" dirty="0"/>
          </a:p>
        </p:txBody>
      </p:sp>
      <p:sp>
        <p:nvSpPr>
          <p:cNvPr id="17" name="Text 15"/>
          <p:cNvSpPr/>
          <p:nvPr/>
        </p:nvSpPr>
        <p:spPr>
          <a:xfrm>
            <a:off x="822960" y="3493008"/>
            <a:ext cx="182880" cy="219456"/>
          </a:xfrm>
          <a:prstGeom prst="rect">
            <a:avLst/>
          </a:prstGeom>
          <a:noFill/>
          <a:ln/>
        </p:spPr>
        <p:txBody>
          <a:bodyPr wrap="square" rtlCol="0" anchor="t"/>
          <a:lstStyle/>
          <a:p>
            <a:pPr indent="0" marL="0">
              <a:buNone/>
            </a:pPr>
            <a:r>
              <a:rPr lang="en-US" sz="1000" b="1" dirty="0">
                <a:solidFill>
                  <a:srgbClr val="B4452F"/>
                </a:solidFill>
                <a:latin typeface="Segoe UI" pitchFamily="34" charset="0"/>
                <a:ea typeface="Segoe UI" pitchFamily="34" charset="-122"/>
                <a:cs typeface="Segoe UI" pitchFamily="34" charset="-120"/>
              </a:rPr>
              <a:t>—</a:t>
            </a:r>
            <a:endParaRPr lang="en-US" sz="1000" dirty="0"/>
          </a:p>
        </p:txBody>
      </p:sp>
      <p:sp>
        <p:nvSpPr>
          <p:cNvPr id="18" name="Text 16"/>
          <p:cNvSpPr/>
          <p:nvPr/>
        </p:nvSpPr>
        <p:spPr>
          <a:xfrm>
            <a:off x="1051560" y="3493008"/>
            <a:ext cx="4846320" cy="384048"/>
          </a:xfrm>
          <a:prstGeom prst="rect">
            <a:avLst/>
          </a:prstGeom>
          <a:noFill/>
          <a:ln/>
        </p:spPr>
        <p:txBody>
          <a:bodyPr wrap="square" rtlCol="0" anchor="t"/>
          <a:lstStyle/>
          <a:p>
            <a:pPr indent="0" marL="0">
              <a:lnSpc>
                <a:spcPts val="1350"/>
              </a:lnSpc>
              <a:buNone/>
            </a:pPr>
            <a:r>
              <a:rPr lang="en-US" sz="980" dirty="0">
                <a:solidFill>
                  <a:srgbClr val="64726A"/>
                </a:solidFill>
                <a:latin typeface="Segoe UI" pitchFamily="34" charset="0"/>
                <a:ea typeface="Segoe UI" pitchFamily="34" charset="-122"/>
                <a:cs typeface="Segoe UI" pitchFamily="34" charset="-120"/>
              </a:rPr>
              <a:t>Ownership checked per object — another account's plan item returns 404, not data.</a:t>
            </a:r>
            <a:endParaRPr lang="en-US" sz="980" dirty="0"/>
          </a:p>
        </p:txBody>
      </p:sp>
      <p:sp>
        <p:nvSpPr>
          <p:cNvPr id="19" name="Shape 17"/>
          <p:cNvSpPr/>
          <p:nvPr/>
        </p:nvSpPr>
        <p:spPr>
          <a:xfrm>
            <a:off x="6291072" y="1645920"/>
            <a:ext cx="5340096" cy="2286000"/>
          </a:xfrm>
          <a:prstGeom prst="roundRect">
            <a:avLst>
              <a:gd name="adj" fmla="val 3600"/>
            </a:avLst>
          </a:prstGeom>
          <a:solidFill>
            <a:srgbClr val="FFFFFF"/>
          </a:solidFill>
          <a:ln w="12700">
            <a:solidFill>
              <a:srgbClr val="E2E6DF"/>
            </a:solidFill>
            <a:prstDash val="solid"/>
          </a:ln>
          <a:effectLst>
            <a:outerShdw sx="100000" sy="100000" kx="0" ky="0" algn="bl" rotWithShape="0" blurRad="127000" dist="19050" dir="5400000">
              <a:srgbClr val="000000">
                <a:alpha val="7000"/>
              </a:srgbClr>
            </a:outerShdw>
          </a:effectLst>
        </p:spPr>
      </p:sp>
      <p:sp>
        <p:nvSpPr>
          <p:cNvPr id="20" name="Shape 18"/>
          <p:cNvSpPr/>
          <p:nvPr/>
        </p:nvSpPr>
        <p:spPr>
          <a:xfrm>
            <a:off x="6528816" y="1847088"/>
            <a:ext cx="50292" cy="384048"/>
          </a:xfrm>
          <a:prstGeom prst="roundRect">
            <a:avLst>
              <a:gd name="adj" fmla="val 909091"/>
            </a:avLst>
          </a:prstGeom>
          <a:solidFill>
            <a:srgbClr val="9A6A17"/>
          </a:solidFill>
          <a:ln w="12700">
            <a:solidFill>
              <a:srgbClr val="333333"/>
            </a:solidFill>
            <a:prstDash val="solid"/>
          </a:ln>
        </p:spPr>
      </p:sp>
      <p:sp>
        <p:nvSpPr>
          <p:cNvPr id="21" name="Text 19"/>
          <p:cNvSpPr/>
          <p:nvPr/>
        </p:nvSpPr>
        <p:spPr>
          <a:xfrm>
            <a:off x="6729984" y="1819656"/>
            <a:ext cx="4754880" cy="292608"/>
          </a:xfrm>
          <a:prstGeom prst="rect">
            <a:avLst/>
          </a:prstGeom>
          <a:noFill/>
          <a:ln/>
        </p:spPr>
        <p:txBody>
          <a:bodyPr wrap="square" rtlCol="0" anchor="t"/>
          <a:lstStyle/>
          <a:p>
            <a:pPr indent="0" marL="0">
              <a:buNone/>
            </a:pPr>
            <a:r>
              <a:rPr lang="en-US" sz="1450" b="1" dirty="0">
                <a:solidFill>
                  <a:srgbClr val="17211C"/>
                </a:solidFill>
                <a:latin typeface="Segoe UI" pitchFamily="34" charset="0"/>
                <a:ea typeface="Segoe UI" pitchFamily="34" charset="-122"/>
                <a:cs typeface="Segoe UI" pitchFamily="34" charset="-120"/>
              </a:rPr>
              <a:t>Fallback proof — if a service dies</a:t>
            </a:r>
            <a:endParaRPr lang="en-US" sz="1450" dirty="0"/>
          </a:p>
        </p:txBody>
      </p:sp>
      <p:sp>
        <p:nvSpPr>
          <p:cNvPr id="22" name="Text 20"/>
          <p:cNvSpPr/>
          <p:nvPr/>
        </p:nvSpPr>
        <p:spPr>
          <a:xfrm>
            <a:off x="6547104" y="2286000"/>
            <a:ext cx="1965960" cy="365760"/>
          </a:xfrm>
          <a:prstGeom prst="rect">
            <a:avLst/>
          </a:prstGeom>
          <a:noFill/>
          <a:ln/>
        </p:spPr>
        <p:txBody>
          <a:bodyPr wrap="square" rtlCol="0" anchor="t"/>
          <a:lstStyle/>
          <a:p>
            <a:pPr indent="0" marL="0">
              <a:lnSpc>
                <a:spcPts val="1200"/>
              </a:lnSpc>
              <a:buNone/>
            </a:pPr>
            <a:r>
              <a:rPr lang="en-US" sz="950" b="1" dirty="0">
                <a:solidFill>
                  <a:srgbClr val="9A6A17"/>
                </a:solidFill>
                <a:latin typeface="Segoe UI" pitchFamily="34" charset="0"/>
                <a:ea typeface="Segoe UI" pitchFamily="34" charset="-122"/>
                <a:cs typeface="Segoe UI" pitchFamily="34" charset="-120"/>
              </a:rPr>
              <a:t>OpenAI down / rate-limited</a:t>
            </a:r>
            <a:endParaRPr lang="en-US" sz="950" dirty="0"/>
          </a:p>
        </p:txBody>
      </p:sp>
      <p:sp>
        <p:nvSpPr>
          <p:cNvPr id="23" name="Text 21"/>
          <p:cNvSpPr/>
          <p:nvPr/>
        </p:nvSpPr>
        <p:spPr>
          <a:xfrm>
            <a:off x="8595360" y="2286000"/>
            <a:ext cx="2880360" cy="384048"/>
          </a:xfrm>
          <a:prstGeom prst="rect">
            <a:avLst/>
          </a:prstGeom>
          <a:noFill/>
          <a:ln/>
        </p:spPr>
        <p:txBody>
          <a:bodyPr wrap="square" rtlCol="0" anchor="t"/>
          <a:lstStyle/>
          <a:p>
            <a:pPr indent="0" marL="0">
              <a:lnSpc>
                <a:spcPts val="1250"/>
              </a:lnSpc>
              <a:buNone/>
            </a:pPr>
            <a:r>
              <a:rPr lang="en-US" sz="900" dirty="0">
                <a:solidFill>
                  <a:srgbClr val="64726A"/>
                </a:solidFill>
                <a:latin typeface="Segoe UI" pitchFamily="34" charset="0"/>
                <a:ea typeface="Segoe UI" pitchFamily="34" charset="-122"/>
                <a:cs typeface="Segoe UI" pitchFamily="34" charset="-120"/>
              </a:rPr>
              <a:t>Rule-based planner produces a real, allergen-safe day using the same adjustment rules.</a:t>
            </a:r>
            <a:endParaRPr lang="en-US" sz="900" dirty="0"/>
          </a:p>
        </p:txBody>
      </p:sp>
      <p:sp>
        <p:nvSpPr>
          <p:cNvPr id="24" name="Text 22"/>
          <p:cNvSpPr/>
          <p:nvPr/>
        </p:nvSpPr>
        <p:spPr>
          <a:xfrm>
            <a:off x="6547104" y="2688336"/>
            <a:ext cx="1965960" cy="365760"/>
          </a:xfrm>
          <a:prstGeom prst="rect">
            <a:avLst/>
          </a:prstGeom>
          <a:noFill/>
          <a:ln/>
        </p:spPr>
        <p:txBody>
          <a:bodyPr wrap="square" rtlCol="0" anchor="t"/>
          <a:lstStyle/>
          <a:p>
            <a:pPr indent="0" marL="0">
              <a:lnSpc>
                <a:spcPts val="1200"/>
              </a:lnSpc>
              <a:buNone/>
            </a:pPr>
            <a:r>
              <a:rPr lang="en-US" sz="950" b="1" dirty="0">
                <a:solidFill>
                  <a:srgbClr val="9A6A17"/>
                </a:solidFill>
                <a:latin typeface="Segoe UI" pitchFamily="34" charset="0"/>
                <a:ea typeface="Segoe UI" pitchFamily="34" charset="-122"/>
                <a:cs typeface="Segoe UI" pitchFamily="34" charset="-120"/>
              </a:rPr>
              <a:t>Model returns bad JSON</a:t>
            </a:r>
            <a:endParaRPr lang="en-US" sz="950" dirty="0"/>
          </a:p>
        </p:txBody>
      </p:sp>
      <p:sp>
        <p:nvSpPr>
          <p:cNvPr id="25" name="Text 23"/>
          <p:cNvSpPr/>
          <p:nvPr/>
        </p:nvSpPr>
        <p:spPr>
          <a:xfrm>
            <a:off x="8595360" y="2688336"/>
            <a:ext cx="2880360" cy="384048"/>
          </a:xfrm>
          <a:prstGeom prst="rect">
            <a:avLst/>
          </a:prstGeom>
          <a:noFill/>
          <a:ln/>
        </p:spPr>
        <p:txBody>
          <a:bodyPr wrap="square" rtlCol="0" anchor="t"/>
          <a:lstStyle/>
          <a:p>
            <a:pPr indent="0" marL="0">
              <a:lnSpc>
                <a:spcPts val="1250"/>
              </a:lnSpc>
              <a:buNone/>
            </a:pPr>
            <a:r>
              <a:rPr lang="en-US" sz="900" dirty="0">
                <a:solidFill>
                  <a:srgbClr val="64726A"/>
                </a:solidFill>
                <a:latin typeface="Segoe UI" pitchFamily="34" charset="0"/>
                <a:ea typeface="Segoe UI" pitchFamily="34" charset="-122"/>
                <a:cs typeface="Segoe UI" pitchFamily="34" charset="-120"/>
              </a:rPr>
              <a:t>Zod validation + corrective retry; loose times like "8:00 AM" are normalised, not rejected.</a:t>
            </a:r>
            <a:endParaRPr lang="en-US" sz="900" dirty="0"/>
          </a:p>
        </p:txBody>
      </p:sp>
      <p:sp>
        <p:nvSpPr>
          <p:cNvPr id="26" name="Text 24"/>
          <p:cNvSpPr/>
          <p:nvPr/>
        </p:nvSpPr>
        <p:spPr>
          <a:xfrm>
            <a:off x="6547104" y="3090672"/>
            <a:ext cx="1965960" cy="365760"/>
          </a:xfrm>
          <a:prstGeom prst="rect">
            <a:avLst/>
          </a:prstGeom>
          <a:noFill/>
          <a:ln/>
        </p:spPr>
        <p:txBody>
          <a:bodyPr wrap="square" rtlCol="0" anchor="t"/>
          <a:lstStyle/>
          <a:p>
            <a:pPr indent="0" marL="0">
              <a:lnSpc>
                <a:spcPts val="1200"/>
              </a:lnSpc>
              <a:buNone/>
            </a:pPr>
            <a:r>
              <a:rPr lang="en-US" sz="950" b="1" dirty="0">
                <a:solidFill>
                  <a:srgbClr val="9A6A17"/>
                </a:solidFill>
                <a:latin typeface="Segoe UI" pitchFamily="34" charset="0"/>
                <a:ea typeface="Segoe UI" pitchFamily="34" charset="-122"/>
                <a:cs typeface="Segoe UI" pitchFamily="34" charset="-120"/>
              </a:rPr>
              <a:t>Sarvam or Vobiz unreachable</a:t>
            </a:r>
            <a:endParaRPr lang="en-US" sz="950" dirty="0"/>
          </a:p>
        </p:txBody>
      </p:sp>
      <p:sp>
        <p:nvSpPr>
          <p:cNvPr id="27" name="Text 25"/>
          <p:cNvSpPr/>
          <p:nvPr/>
        </p:nvSpPr>
        <p:spPr>
          <a:xfrm>
            <a:off x="8595360" y="3090672"/>
            <a:ext cx="2880360" cy="384048"/>
          </a:xfrm>
          <a:prstGeom prst="rect">
            <a:avLst/>
          </a:prstGeom>
          <a:noFill/>
          <a:ln/>
        </p:spPr>
        <p:txBody>
          <a:bodyPr wrap="square" rtlCol="0" anchor="t"/>
          <a:lstStyle/>
          <a:p>
            <a:pPr indent="0" marL="0">
              <a:lnSpc>
                <a:spcPts val="1250"/>
              </a:lnSpc>
              <a:buNone/>
            </a:pPr>
            <a:r>
              <a:rPr lang="en-US" sz="900" dirty="0">
                <a:solidFill>
                  <a:srgbClr val="64726A"/>
                </a:solidFill>
                <a:latin typeface="Segoe UI" pitchFamily="34" charset="0"/>
                <a:ea typeface="Segoe UI" pitchFamily="34" charset="-122"/>
                <a:cs typeface="Segoe UI" pitchFamily="34" charset="-120"/>
              </a:rPr>
              <a:t>Call is skipped and surfaced in the UI; the plan, check-ins and dashboard are unaffected.</a:t>
            </a:r>
            <a:endParaRPr lang="en-US" sz="900" dirty="0"/>
          </a:p>
        </p:txBody>
      </p:sp>
      <p:sp>
        <p:nvSpPr>
          <p:cNvPr id="28" name="Text 26"/>
          <p:cNvSpPr/>
          <p:nvPr/>
        </p:nvSpPr>
        <p:spPr>
          <a:xfrm>
            <a:off x="6547104" y="3493008"/>
            <a:ext cx="1965960" cy="365760"/>
          </a:xfrm>
          <a:prstGeom prst="rect">
            <a:avLst/>
          </a:prstGeom>
          <a:noFill/>
          <a:ln/>
        </p:spPr>
        <p:txBody>
          <a:bodyPr wrap="square" rtlCol="0" anchor="t"/>
          <a:lstStyle/>
          <a:p>
            <a:pPr indent="0" marL="0">
              <a:lnSpc>
                <a:spcPts val="1200"/>
              </a:lnSpc>
              <a:buNone/>
            </a:pPr>
            <a:r>
              <a:rPr lang="en-US" sz="950" b="1" dirty="0">
                <a:solidFill>
                  <a:srgbClr val="9A6A17"/>
                </a:solidFill>
                <a:latin typeface="Segoe UI" pitchFamily="34" charset="0"/>
                <a:ea typeface="Segoe UI" pitchFamily="34" charset="-122"/>
                <a:cs typeface="Segoe UI" pitchFamily="34" charset="-120"/>
              </a:rPr>
              <a:t>No tunnel available</a:t>
            </a:r>
            <a:endParaRPr lang="en-US" sz="950" dirty="0"/>
          </a:p>
        </p:txBody>
      </p:sp>
      <p:sp>
        <p:nvSpPr>
          <p:cNvPr id="29" name="Text 27"/>
          <p:cNvSpPr/>
          <p:nvPr/>
        </p:nvSpPr>
        <p:spPr>
          <a:xfrm>
            <a:off x="8595360" y="3493008"/>
            <a:ext cx="2880360" cy="384048"/>
          </a:xfrm>
          <a:prstGeom prst="rect">
            <a:avLst/>
          </a:prstGeom>
          <a:noFill/>
          <a:ln/>
        </p:spPr>
        <p:txBody>
          <a:bodyPr wrap="square" rtlCol="0" anchor="t"/>
          <a:lstStyle/>
          <a:p>
            <a:pPr indent="0" marL="0">
              <a:lnSpc>
                <a:spcPts val="1250"/>
              </a:lnSpc>
              <a:buNone/>
            </a:pPr>
            <a:r>
              <a:rPr lang="en-US" sz="900" dirty="0">
                <a:solidFill>
                  <a:srgbClr val="64726A"/>
                </a:solidFill>
                <a:latin typeface="Segoe UI" pitchFamily="34" charset="0"/>
                <a:ea typeface="Segoe UI" pitchFamily="34" charset="-122"/>
                <a:cs typeface="Segoe UI" pitchFamily="34" charset="-120"/>
              </a:rPr>
              <a:t>In-browser audio preview plays the exact Gujarati WAV that would have been dialled.</a:t>
            </a:r>
            <a:endParaRPr lang="en-US" sz="900" dirty="0"/>
          </a:p>
        </p:txBody>
      </p:sp>
      <p:sp>
        <p:nvSpPr>
          <p:cNvPr id="30" name="Shape 28"/>
          <p:cNvSpPr/>
          <p:nvPr/>
        </p:nvSpPr>
        <p:spPr>
          <a:xfrm>
            <a:off x="566928" y="4096512"/>
            <a:ext cx="11064240" cy="1234440"/>
          </a:xfrm>
          <a:prstGeom prst="roundRect">
            <a:avLst>
              <a:gd name="adj" fmla="val 6667"/>
            </a:avLst>
          </a:prstGeom>
          <a:solidFill>
            <a:srgbClr val="FFFFFF"/>
          </a:solidFill>
          <a:ln w="12700">
            <a:solidFill>
              <a:srgbClr val="E2E6DF"/>
            </a:solidFill>
            <a:prstDash val="solid"/>
          </a:ln>
          <a:effectLst>
            <a:outerShdw sx="100000" sy="100000" kx="0" ky="0" algn="bl" rotWithShape="0" blurRad="101600" dist="50800" dir="16200000">
              <a:srgbClr val="000000">
                <a:alpha val="75000"/>
              </a:srgbClr>
            </a:outerShdw>
          </a:effectLst>
        </p:spPr>
      </p:sp>
      <p:sp>
        <p:nvSpPr>
          <p:cNvPr id="31" name="Text 29"/>
          <p:cNvSpPr/>
          <p:nvPr/>
        </p:nvSpPr>
        <p:spPr>
          <a:xfrm>
            <a:off x="804672" y="4224528"/>
            <a:ext cx="3657600" cy="219456"/>
          </a:xfrm>
          <a:prstGeom prst="rect">
            <a:avLst/>
          </a:prstGeom>
          <a:noFill/>
          <a:ln/>
        </p:spPr>
        <p:txBody>
          <a:bodyPr wrap="square" rtlCol="0" anchor="t"/>
          <a:lstStyle/>
          <a:p>
            <a:pPr indent="0" marL="0">
              <a:buNone/>
            </a:pPr>
            <a:r>
              <a:rPr lang="en-US" sz="950" b="1" spc="100" kern="0" dirty="0">
                <a:solidFill>
                  <a:srgbClr val="1F6F4A"/>
                </a:solidFill>
                <a:latin typeface="Segoe UI" pitchFamily="34" charset="0"/>
                <a:ea typeface="Segoe UI" pitchFamily="34" charset="-122"/>
                <a:cs typeface="Segoe UI" pitchFamily="34" charset="-120"/>
              </a:rPr>
              <a:t>MANDATORY DELIVERABLES</a:t>
            </a:r>
            <a:endParaRPr lang="en-US" sz="950" dirty="0"/>
          </a:p>
        </p:txBody>
      </p:sp>
      <p:sp>
        <p:nvSpPr>
          <p:cNvPr id="32" name="Shape 30"/>
          <p:cNvSpPr/>
          <p:nvPr/>
        </p:nvSpPr>
        <p:spPr>
          <a:xfrm>
            <a:off x="804672" y="4526280"/>
            <a:ext cx="237744" cy="237744"/>
          </a:xfrm>
          <a:prstGeom prst="ellipse">
            <a:avLst/>
          </a:prstGeom>
          <a:solidFill>
            <a:srgbClr val="E8F2EC"/>
          </a:solidFill>
          <a:ln w="12700">
            <a:solidFill>
              <a:srgbClr val="333333"/>
            </a:solidFill>
            <a:prstDash val="solid"/>
          </a:ln>
        </p:spPr>
      </p:sp>
      <p:sp>
        <p:nvSpPr>
          <p:cNvPr id="33" name="Text 31"/>
          <p:cNvSpPr/>
          <p:nvPr/>
        </p:nvSpPr>
        <p:spPr>
          <a:xfrm>
            <a:off x="804672"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34" name="Text 32"/>
          <p:cNvSpPr/>
          <p:nvPr/>
        </p:nvSpPr>
        <p:spPr>
          <a:xfrm>
            <a:off x="804672"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Working product</a:t>
            </a:r>
            <a:endParaRPr lang="en-US" sz="980" dirty="0"/>
          </a:p>
        </p:txBody>
      </p:sp>
      <p:sp>
        <p:nvSpPr>
          <p:cNvPr id="35" name="Text 33"/>
          <p:cNvSpPr/>
          <p:nvPr/>
        </p:nvSpPr>
        <p:spPr>
          <a:xfrm>
            <a:off x="804672"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runs locally, 8787</a:t>
            </a:r>
            <a:endParaRPr lang="en-US" sz="860" dirty="0"/>
          </a:p>
        </p:txBody>
      </p:sp>
      <p:sp>
        <p:nvSpPr>
          <p:cNvPr id="36" name="Shape 34"/>
          <p:cNvSpPr/>
          <p:nvPr/>
        </p:nvSpPr>
        <p:spPr>
          <a:xfrm>
            <a:off x="2368296" y="4526280"/>
            <a:ext cx="237744" cy="237744"/>
          </a:xfrm>
          <a:prstGeom prst="ellipse">
            <a:avLst/>
          </a:prstGeom>
          <a:solidFill>
            <a:srgbClr val="E8F2EC"/>
          </a:solidFill>
          <a:ln w="12700">
            <a:solidFill>
              <a:srgbClr val="333333"/>
            </a:solidFill>
            <a:prstDash val="solid"/>
          </a:ln>
        </p:spPr>
      </p:sp>
      <p:sp>
        <p:nvSpPr>
          <p:cNvPr id="37" name="Text 35"/>
          <p:cNvSpPr/>
          <p:nvPr/>
        </p:nvSpPr>
        <p:spPr>
          <a:xfrm>
            <a:off x="2368296"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38" name="Text 36"/>
          <p:cNvSpPr/>
          <p:nvPr/>
        </p:nvSpPr>
        <p:spPr>
          <a:xfrm>
            <a:off x="2368296"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Core AI demo</a:t>
            </a:r>
            <a:endParaRPr lang="en-US" sz="980" dirty="0"/>
          </a:p>
        </p:txBody>
      </p:sp>
      <p:sp>
        <p:nvSpPr>
          <p:cNvPr id="39" name="Text 37"/>
          <p:cNvSpPr/>
          <p:nvPr/>
        </p:nvSpPr>
        <p:spPr>
          <a:xfrm>
            <a:off x="2368296"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slide 06, reproducible</a:t>
            </a:r>
            <a:endParaRPr lang="en-US" sz="860" dirty="0"/>
          </a:p>
        </p:txBody>
      </p:sp>
      <p:sp>
        <p:nvSpPr>
          <p:cNvPr id="40" name="Shape 38"/>
          <p:cNvSpPr/>
          <p:nvPr/>
        </p:nvSpPr>
        <p:spPr>
          <a:xfrm>
            <a:off x="3931920" y="4526280"/>
            <a:ext cx="237744" cy="237744"/>
          </a:xfrm>
          <a:prstGeom prst="ellipse">
            <a:avLst/>
          </a:prstGeom>
          <a:solidFill>
            <a:srgbClr val="E8F2EC"/>
          </a:solidFill>
          <a:ln w="12700">
            <a:solidFill>
              <a:srgbClr val="333333"/>
            </a:solidFill>
            <a:prstDash val="solid"/>
          </a:ln>
        </p:spPr>
      </p:sp>
      <p:sp>
        <p:nvSpPr>
          <p:cNvPr id="41" name="Text 39"/>
          <p:cNvSpPr/>
          <p:nvPr/>
        </p:nvSpPr>
        <p:spPr>
          <a:xfrm>
            <a:off x="3931920"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42" name="Text 40"/>
          <p:cNvSpPr/>
          <p:nvPr/>
        </p:nvSpPr>
        <p:spPr>
          <a:xfrm>
            <a:off x="3931920"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Source code</a:t>
            </a:r>
            <a:endParaRPr lang="en-US" sz="980" dirty="0"/>
          </a:p>
        </p:txBody>
      </p:sp>
      <p:sp>
        <p:nvSpPr>
          <p:cNvPr id="43" name="Text 41"/>
          <p:cNvSpPr/>
          <p:nvPr/>
        </p:nvSpPr>
        <p:spPr>
          <a:xfrm>
            <a:off x="3931920"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GitHub, 64 files</a:t>
            </a:r>
            <a:endParaRPr lang="en-US" sz="860" dirty="0"/>
          </a:p>
        </p:txBody>
      </p:sp>
      <p:sp>
        <p:nvSpPr>
          <p:cNvPr id="44" name="Shape 42"/>
          <p:cNvSpPr/>
          <p:nvPr/>
        </p:nvSpPr>
        <p:spPr>
          <a:xfrm>
            <a:off x="5495544" y="4526280"/>
            <a:ext cx="237744" cy="237744"/>
          </a:xfrm>
          <a:prstGeom prst="ellipse">
            <a:avLst/>
          </a:prstGeom>
          <a:solidFill>
            <a:srgbClr val="E8F2EC"/>
          </a:solidFill>
          <a:ln w="12700">
            <a:solidFill>
              <a:srgbClr val="333333"/>
            </a:solidFill>
            <a:prstDash val="solid"/>
          </a:ln>
        </p:spPr>
      </p:sp>
      <p:sp>
        <p:nvSpPr>
          <p:cNvPr id="45" name="Text 43"/>
          <p:cNvSpPr/>
          <p:nvPr/>
        </p:nvSpPr>
        <p:spPr>
          <a:xfrm>
            <a:off x="5495544"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46" name="Text 44"/>
          <p:cNvSpPr/>
          <p:nvPr/>
        </p:nvSpPr>
        <p:spPr>
          <a:xfrm>
            <a:off x="5495544"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README</a:t>
            </a:r>
            <a:endParaRPr lang="en-US" sz="980" dirty="0"/>
          </a:p>
        </p:txBody>
      </p:sp>
      <p:sp>
        <p:nvSpPr>
          <p:cNvPr id="47" name="Text 45"/>
          <p:cNvSpPr/>
          <p:nvPr/>
        </p:nvSpPr>
        <p:spPr>
          <a:xfrm>
            <a:off x="5495544"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setup · stack · limits</a:t>
            </a:r>
            <a:endParaRPr lang="en-US" sz="860" dirty="0"/>
          </a:p>
        </p:txBody>
      </p:sp>
      <p:sp>
        <p:nvSpPr>
          <p:cNvPr id="48" name="Shape 46"/>
          <p:cNvSpPr/>
          <p:nvPr/>
        </p:nvSpPr>
        <p:spPr>
          <a:xfrm>
            <a:off x="7059168" y="4526280"/>
            <a:ext cx="237744" cy="237744"/>
          </a:xfrm>
          <a:prstGeom prst="ellipse">
            <a:avLst/>
          </a:prstGeom>
          <a:solidFill>
            <a:srgbClr val="E8F2EC"/>
          </a:solidFill>
          <a:ln w="12700">
            <a:solidFill>
              <a:srgbClr val="333333"/>
            </a:solidFill>
            <a:prstDash val="solid"/>
          </a:ln>
        </p:spPr>
      </p:sp>
      <p:sp>
        <p:nvSpPr>
          <p:cNvPr id="49" name="Text 47"/>
          <p:cNvSpPr/>
          <p:nvPr/>
        </p:nvSpPr>
        <p:spPr>
          <a:xfrm>
            <a:off x="7059168"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50" name="Text 48"/>
          <p:cNvSpPr/>
          <p:nvPr/>
        </p:nvSpPr>
        <p:spPr>
          <a:xfrm>
            <a:off x="7059168"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Architecture</a:t>
            </a:r>
            <a:endParaRPr lang="en-US" sz="980" dirty="0"/>
          </a:p>
        </p:txBody>
      </p:sp>
      <p:sp>
        <p:nvSpPr>
          <p:cNvPr id="51" name="Text 49"/>
          <p:cNvSpPr/>
          <p:nvPr/>
        </p:nvSpPr>
        <p:spPr>
          <a:xfrm>
            <a:off x="7059168"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slide 09</a:t>
            </a:r>
            <a:endParaRPr lang="en-US" sz="860" dirty="0"/>
          </a:p>
        </p:txBody>
      </p:sp>
      <p:sp>
        <p:nvSpPr>
          <p:cNvPr id="52" name="Shape 50"/>
          <p:cNvSpPr/>
          <p:nvPr/>
        </p:nvSpPr>
        <p:spPr>
          <a:xfrm>
            <a:off x="8622792" y="4526280"/>
            <a:ext cx="237744" cy="237744"/>
          </a:xfrm>
          <a:prstGeom prst="ellipse">
            <a:avLst/>
          </a:prstGeom>
          <a:solidFill>
            <a:srgbClr val="E8F2EC"/>
          </a:solidFill>
          <a:ln w="12700">
            <a:solidFill>
              <a:srgbClr val="333333"/>
            </a:solidFill>
            <a:prstDash val="solid"/>
          </a:ln>
        </p:spPr>
      </p:sp>
      <p:sp>
        <p:nvSpPr>
          <p:cNvPr id="53" name="Text 51"/>
          <p:cNvSpPr/>
          <p:nvPr/>
        </p:nvSpPr>
        <p:spPr>
          <a:xfrm>
            <a:off x="8622792"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54" name="Text 52"/>
          <p:cNvSpPr/>
          <p:nvPr/>
        </p:nvSpPr>
        <p:spPr>
          <a:xfrm>
            <a:off x="8622792"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Safe demo data</a:t>
            </a:r>
            <a:endParaRPr lang="en-US" sz="980" dirty="0"/>
          </a:p>
        </p:txBody>
      </p:sp>
      <p:sp>
        <p:nvSpPr>
          <p:cNvPr id="55" name="Text 53"/>
          <p:cNvSpPr/>
          <p:nvPr/>
        </p:nvSpPr>
        <p:spPr>
          <a:xfrm>
            <a:off x="8622792"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100% synthetic</a:t>
            </a:r>
            <a:endParaRPr lang="en-US" sz="860" dirty="0"/>
          </a:p>
        </p:txBody>
      </p:sp>
      <p:sp>
        <p:nvSpPr>
          <p:cNvPr id="56" name="Shape 54"/>
          <p:cNvSpPr/>
          <p:nvPr/>
        </p:nvSpPr>
        <p:spPr>
          <a:xfrm>
            <a:off x="10186416" y="4526280"/>
            <a:ext cx="237744" cy="237744"/>
          </a:xfrm>
          <a:prstGeom prst="ellipse">
            <a:avLst/>
          </a:prstGeom>
          <a:solidFill>
            <a:srgbClr val="E8F2EC"/>
          </a:solidFill>
          <a:ln w="12700">
            <a:solidFill>
              <a:srgbClr val="333333"/>
            </a:solidFill>
            <a:prstDash val="solid"/>
          </a:ln>
        </p:spPr>
      </p:sp>
      <p:sp>
        <p:nvSpPr>
          <p:cNvPr id="57" name="Text 55"/>
          <p:cNvSpPr/>
          <p:nvPr/>
        </p:nvSpPr>
        <p:spPr>
          <a:xfrm>
            <a:off x="10186416" y="4558284"/>
            <a:ext cx="237744" cy="182880"/>
          </a:xfrm>
          <a:prstGeom prst="rect">
            <a:avLst/>
          </a:prstGeom>
          <a:noFill/>
          <a:ln/>
        </p:spPr>
        <p:txBody>
          <a:bodyPr wrap="square" rtlCol="0" anchor="t"/>
          <a:lstStyle/>
          <a:p>
            <a:pPr algn="ctr" indent="0" marL="0">
              <a:buNone/>
            </a:pPr>
            <a:r>
              <a:rPr lang="en-US" sz="1050" b="1" dirty="0">
                <a:solidFill>
                  <a:srgbClr val="1F6F4A"/>
                </a:solidFill>
                <a:latin typeface="Segoe UI" pitchFamily="34" charset="0"/>
                <a:ea typeface="Segoe UI" pitchFamily="34" charset="-122"/>
                <a:cs typeface="Segoe UI" pitchFamily="34" charset="-120"/>
              </a:rPr>
              <a:t>✓</a:t>
            </a:r>
            <a:endParaRPr lang="en-US" sz="1050" dirty="0"/>
          </a:p>
        </p:txBody>
      </p:sp>
      <p:sp>
        <p:nvSpPr>
          <p:cNvPr id="58" name="Text 56"/>
          <p:cNvSpPr/>
          <p:nvPr/>
        </p:nvSpPr>
        <p:spPr>
          <a:xfrm>
            <a:off x="10186416" y="4828032"/>
            <a:ext cx="1463040" cy="219456"/>
          </a:xfrm>
          <a:prstGeom prst="rect">
            <a:avLst/>
          </a:prstGeom>
          <a:noFill/>
          <a:ln/>
        </p:spPr>
        <p:txBody>
          <a:bodyPr wrap="square" rtlCol="0" anchor="t"/>
          <a:lstStyle/>
          <a:p>
            <a:pPr indent="0" marL="0">
              <a:buNone/>
            </a:pPr>
            <a:r>
              <a:rPr lang="en-US" sz="980" b="1" dirty="0">
                <a:solidFill>
                  <a:srgbClr val="17211C"/>
                </a:solidFill>
                <a:latin typeface="Segoe UI" pitchFamily="34" charset="0"/>
                <a:ea typeface="Segoe UI" pitchFamily="34" charset="-122"/>
                <a:cs typeface="Segoe UI" pitchFamily="34" charset="-120"/>
              </a:rPr>
              <a:t>Fallback proof</a:t>
            </a:r>
            <a:endParaRPr lang="en-US" sz="980" dirty="0"/>
          </a:p>
        </p:txBody>
      </p:sp>
      <p:sp>
        <p:nvSpPr>
          <p:cNvPr id="59" name="Text 57"/>
          <p:cNvSpPr/>
          <p:nvPr/>
        </p:nvSpPr>
        <p:spPr>
          <a:xfrm>
            <a:off x="10186416" y="5029200"/>
            <a:ext cx="1463040" cy="219456"/>
          </a:xfrm>
          <a:prstGeom prst="rect">
            <a:avLst/>
          </a:prstGeom>
          <a:noFill/>
          <a:ln/>
        </p:spPr>
        <p:txBody>
          <a:bodyPr wrap="square" rtlCol="0" anchor="t"/>
          <a:lstStyle/>
          <a:p>
            <a:pPr indent="0" marL="0">
              <a:buNone/>
            </a:pPr>
            <a:r>
              <a:rPr lang="en-US" sz="860" dirty="0">
                <a:solidFill>
                  <a:srgbClr val="64726A"/>
                </a:solidFill>
                <a:latin typeface="Segoe UI" pitchFamily="34" charset="0"/>
                <a:ea typeface="Segoe UI" pitchFamily="34" charset="-122"/>
                <a:cs typeface="Segoe UI" pitchFamily="34" charset="-120"/>
              </a:rPr>
              <a:t>slide 10 + screenshots</a:t>
            </a:r>
            <a:endParaRPr lang="en-US" sz="860" dirty="0"/>
          </a:p>
        </p:txBody>
      </p:sp>
      <p:sp>
        <p:nvSpPr>
          <p:cNvPr id="60" name="Shape 58"/>
          <p:cNvSpPr/>
          <p:nvPr/>
        </p:nvSpPr>
        <p:spPr>
          <a:xfrm>
            <a:off x="566928" y="5449824"/>
            <a:ext cx="11064240" cy="786384"/>
          </a:xfrm>
          <a:prstGeom prst="roundRect">
            <a:avLst>
              <a:gd name="adj" fmla="val 10465"/>
            </a:avLst>
          </a:prstGeom>
          <a:solidFill>
            <a:srgbClr val="0F3D28"/>
          </a:solidFill>
          <a:ln w="12700">
            <a:solidFill>
              <a:srgbClr val="0F3D28"/>
            </a:solidFill>
            <a:prstDash val="solid"/>
          </a:ln>
          <a:effectLst>
            <a:outerShdw sx="100000" sy="100000" kx="0" ky="0" algn="bl" rotWithShape="0" blurRad="101600" dist="50800" dir="16200000">
              <a:srgbClr val="000000">
                <a:alpha val="75000"/>
              </a:srgbClr>
            </a:outerShdw>
          </a:effectLst>
        </p:spPr>
      </p:sp>
      <p:sp>
        <p:nvSpPr>
          <p:cNvPr id="61" name="Text 59"/>
          <p:cNvSpPr/>
          <p:nvPr/>
        </p:nvSpPr>
        <p:spPr>
          <a:xfrm>
            <a:off x="841248" y="5577840"/>
            <a:ext cx="1463040" cy="237744"/>
          </a:xfrm>
          <a:prstGeom prst="rect">
            <a:avLst/>
          </a:prstGeom>
          <a:noFill/>
          <a:ln/>
        </p:spPr>
        <p:txBody>
          <a:bodyPr wrap="square" rtlCol="0" anchor="t"/>
          <a:lstStyle/>
          <a:p>
            <a:pPr indent="0" marL="0">
              <a:buNone/>
            </a:pPr>
            <a:r>
              <a:rPr lang="en-US" sz="1050" b="1" dirty="0">
                <a:solidFill>
                  <a:srgbClr val="7FC2A0"/>
                </a:solidFill>
                <a:latin typeface="Segoe UI" pitchFamily="34" charset="0"/>
                <a:ea typeface="Segoe UI" pitchFamily="34" charset="-122"/>
                <a:cs typeface="Segoe UI" pitchFamily="34" charset="-120"/>
              </a:rPr>
              <a:t>AI disclosure</a:t>
            </a:r>
            <a:endParaRPr lang="en-US" sz="1050" dirty="0"/>
          </a:p>
        </p:txBody>
      </p:sp>
      <p:sp>
        <p:nvSpPr>
          <p:cNvPr id="62" name="Text 60"/>
          <p:cNvSpPr/>
          <p:nvPr/>
        </p:nvSpPr>
        <p:spPr>
          <a:xfrm>
            <a:off x="2240280" y="5596128"/>
            <a:ext cx="9235440" cy="548640"/>
          </a:xfrm>
          <a:prstGeom prst="rect">
            <a:avLst/>
          </a:prstGeom>
          <a:noFill/>
          <a:ln/>
        </p:spPr>
        <p:txBody>
          <a:bodyPr wrap="square" rtlCol="0" anchor="t"/>
          <a:lstStyle/>
          <a:p>
            <a:pPr indent="0" marL="0">
              <a:lnSpc>
                <a:spcPts val="1400"/>
              </a:lnSpc>
              <a:buNone/>
            </a:pPr>
            <a:r>
              <a:rPr lang="en-US" sz="1000" dirty="0">
                <a:solidFill>
                  <a:srgbClr val="C7E4D4"/>
                </a:solidFill>
                <a:latin typeface="Segoe UI" pitchFamily="34" charset="0"/>
                <a:ea typeface="Segoe UI" pitchFamily="34" charset="-122"/>
                <a:cs typeface="Segoe UI" pitchFamily="34" charset="-120"/>
              </a:rPr>
              <a:t>OpenAI gpt-4o-mini (planning, summaries, coaching, Gujarati script)  ·  Sarvam bulbul:v3 TTS + saaras:v3 STT  ·  Vobiz Voice API.  All demo data is synthetic. The team is responsible for all generated output.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Hack The Stack — August 2026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WellPath AI — Personal Wellness Planning &amp; Adherence Coach</dc:title>
  <dc:subject>PptxGenJS Presentation</dc:subject>
  <dc:creator>WellPath AI</dc:creator>
  <cp:lastModifiedBy>WellPath AI</cp:lastModifiedBy>
  <cp:revision>1</cp:revision>
  <dcterms:created xsi:type="dcterms:W3CDTF">2026-08-08T08:59:34Z</dcterms:created>
  <dcterms:modified xsi:type="dcterms:W3CDTF">2026-08-08T08:59:34Z</dcterms:modified>
</cp:coreProperties>
</file>