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DF55125-5841-4EAF-8D51-D839DD2990F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6F03E3-850E-4EDC-AB73-0AE1EF6152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B6B7DE-00C0-4E09-9784-E7F9BB1CA5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E5DC41-93B7-43D2-A912-92B15A6042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0D4DA1-7446-40A9-83B7-EDFF1838A4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45F0C84-7FA1-4EA5-B4C8-D9F93478CE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40080" y="475560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D3DCD6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1417320" y="567000"/>
            <a:ext cx="7314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59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PROBLEM &amp; USER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1389960" y="80460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The plan is not the problem. The loop is.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658440" y="6272640"/>
            <a:ext cx="502560" cy="31680"/>
          </a:xfrm>
          <a:prstGeom prst="rect">
            <a:avLst/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12960" rIns="90000" bIns="-12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325880" y="614484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WellPath AI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658440" y="1627560"/>
            <a:ext cx="3702960" cy="411444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960120" y="1920240"/>
            <a:ext cx="749520" cy="749520"/>
          </a:xfrm>
          <a:prstGeom prst="ellipse">
            <a:avLst/>
          </a:prstGeom>
          <a:solidFill>
            <a:srgbClr val="E8F2EC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60120" y="2084760"/>
            <a:ext cx="749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960120" y="2797920"/>
            <a:ext cx="31086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Aarav, 31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60120" y="3182040"/>
            <a:ext cx="31086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Desk job · vegetarian · mild knee pain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25 minutes free a day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960120" y="3913560"/>
            <a:ext cx="3108600" cy="18000"/>
          </a:xfrm>
          <a:prstGeom prst="rect">
            <a:avLst/>
          </a:prstGeom>
          <a:solidFill>
            <a:srgbClr val="E4E8E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960120" y="4114800"/>
            <a:ext cx="31086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25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“I know what to do.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I just don't do it.”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960120" y="507492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He has had four plans. None survived week two.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3"/>
          <p:cNvSpPr/>
          <p:nvPr/>
        </p:nvSpPr>
        <p:spPr>
          <a:xfrm>
            <a:off x="4663440" y="1627560"/>
            <a:ext cx="685764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4901040" y="1901880"/>
            <a:ext cx="45360" cy="365400"/>
          </a:xfrm>
          <a:prstGeom prst="roundRect">
            <a:avLst>
              <a:gd name="adj" fmla="val 1000000"/>
            </a:avLst>
          </a:prstGeom>
          <a:solidFill>
            <a:srgbClr val="C2703B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5"/>
          <p:cNvSpPr/>
          <p:nvPr/>
        </p:nvSpPr>
        <p:spPr>
          <a:xfrm>
            <a:off x="5139000" y="1810440"/>
            <a:ext cx="6034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The plan ignores him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6"/>
          <p:cNvSpPr/>
          <p:nvPr/>
        </p:nvSpPr>
        <p:spPr>
          <a:xfrm>
            <a:off x="5139000" y="2130480"/>
            <a:ext cx="6126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Schedule, cuisine, allergies, a bad knee — none of it reaches a generic plan.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7"/>
          <p:cNvSpPr/>
          <p:nvPr/>
        </p:nvSpPr>
        <p:spPr>
          <a:xfrm>
            <a:off x="4663440" y="2688480"/>
            <a:ext cx="685764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8"/>
          <p:cNvSpPr/>
          <p:nvPr/>
        </p:nvSpPr>
        <p:spPr>
          <a:xfrm>
            <a:off x="4901040" y="2962800"/>
            <a:ext cx="45360" cy="365400"/>
          </a:xfrm>
          <a:prstGeom prst="roundRect">
            <a:avLst>
              <a:gd name="adj" fmla="val 1000000"/>
            </a:avLst>
          </a:prstGeom>
          <a:solidFill>
            <a:srgbClr val="2B7FA8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9"/>
          <p:cNvSpPr/>
          <p:nvPr/>
        </p:nvSpPr>
        <p:spPr>
          <a:xfrm>
            <a:off x="5139000" y="2871360"/>
            <a:ext cx="6034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Nothing is recorded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0"/>
          <p:cNvSpPr/>
          <p:nvPr/>
        </p:nvSpPr>
        <p:spPr>
          <a:xfrm>
            <a:off x="5139000" y="3191400"/>
            <a:ext cx="6126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No log of what was eaten, drunk or skipped. No honest signal to act on.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1"/>
          <p:cNvSpPr/>
          <p:nvPr/>
        </p:nvSpPr>
        <p:spPr>
          <a:xfrm>
            <a:off x="4663440" y="3749040"/>
            <a:ext cx="685764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2"/>
          <p:cNvSpPr/>
          <p:nvPr/>
        </p:nvSpPr>
        <p:spPr>
          <a:xfrm>
            <a:off x="4901040" y="4023360"/>
            <a:ext cx="45360" cy="365400"/>
          </a:xfrm>
          <a:prstGeom prst="roundRect">
            <a:avLst>
              <a:gd name="adj" fmla="val 1000000"/>
            </a:avLst>
          </a:prstGeom>
          <a:solidFill>
            <a:srgbClr val="9C3F6D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3"/>
          <p:cNvSpPr/>
          <p:nvPr/>
        </p:nvSpPr>
        <p:spPr>
          <a:xfrm>
            <a:off x="5139000" y="3931920"/>
            <a:ext cx="6034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Nothing adapts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4"/>
          <p:cNvSpPr/>
          <p:nvPr/>
        </p:nvSpPr>
        <p:spPr>
          <a:xfrm>
            <a:off x="5139000" y="4251960"/>
            <a:ext cx="6126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The 6 a.m. workout he has skipped four times is on the plan again tomorrow.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5"/>
          <p:cNvSpPr/>
          <p:nvPr/>
        </p:nvSpPr>
        <p:spPr>
          <a:xfrm>
            <a:off x="4663440" y="4809600"/>
            <a:ext cx="6857640" cy="932400"/>
          </a:xfrm>
          <a:prstGeom prst="roundRect">
            <a:avLst>
              <a:gd name="adj" fmla="val 7843"/>
            </a:avLst>
          </a:prstGeom>
          <a:solidFill>
            <a:srgbClr val="0F3D28"/>
          </a:solidFill>
          <a:ln w="12700">
            <a:solidFill>
              <a:srgbClr val="0F3D28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26"/>
          <p:cNvSpPr/>
          <p:nvPr/>
        </p:nvSpPr>
        <p:spPr>
          <a:xfrm>
            <a:off x="4983480" y="51390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Adherence is the product. The plan is just the input.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640080" y="475560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D3DCD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1417320" y="567000"/>
            <a:ext cx="7314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59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AI APPROACH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"/>
          <p:cNvSpPr/>
          <p:nvPr/>
        </p:nvSpPr>
        <p:spPr>
          <a:xfrm>
            <a:off x="1389960" y="80460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The model reads the record, not just the profile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3"/>
          <p:cNvSpPr/>
          <p:nvPr/>
        </p:nvSpPr>
        <p:spPr>
          <a:xfrm>
            <a:off x="658440" y="6272640"/>
            <a:ext cx="502560" cy="31680"/>
          </a:xfrm>
          <a:prstGeom prst="rect">
            <a:avLst/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12960" rIns="90000" bIns="-12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4"/>
          <p:cNvSpPr/>
          <p:nvPr/>
        </p:nvSpPr>
        <p:spPr>
          <a:xfrm>
            <a:off x="1325880" y="614484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WellPath AI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5"/>
          <p:cNvSpPr/>
          <p:nvPr/>
        </p:nvSpPr>
        <p:spPr>
          <a:xfrm>
            <a:off x="658440" y="1627560"/>
            <a:ext cx="3565800" cy="260568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932760" y="182880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What goes 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7"/>
          <p:cNvSpPr/>
          <p:nvPr/>
        </p:nvSpPr>
        <p:spPr>
          <a:xfrm>
            <a:off x="951120" y="2295000"/>
            <a:ext cx="82080" cy="82080"/>
          </a:xfrm>
          <a:prstGeom prst="ellipse">
            <a:avLst/>
          </a:prstGeom>
          <a:solidFill>
            <a:srgbClr val="6B7A7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8"/>
          <p:cNvSpPr/>
          <p:nvPr/>
        </p:nvSpPr>
        <p:spPr>
          <a:xfrm>
            <a:off x="1161360" y="2212920"/>
            <a:ext cx="27885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Profile — diet, allergies, limits, free minutes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9"/>
          <p:cNvSpPr/>
          <p:nvPr/>
        </p:nvSpPr>
        <p:spPr>
          <a:xfrm>
            <a:off x="951120" y="2770560"/>
            <a:ext cx="82080" cy="82080"/>
          </a:xfrm>
          <a:prstGeom prst="ellipse">
            <a:avLst/>
          </a:prstGeom>
          <a:solidFill>
            <a:srgbClr val="6B7A7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0"/>
          <p:cNvSpPr/>
          <p:nvPr/>
        </p:nvSpPr>
        <p:spPr>
          <a:xfrm>
            <a:off x="1161360" y="2688480"/>
            <a:ext cx="27885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Item-by-item check-in record, last 3 days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1"/>
          <p:cNvSpPr/>
          <p:nvPr/>
        </p:nvSpPr>
        <p:spPr>
          <a:xfrm>
            <a:off x="951120" y="3246120"/>
            <a:ext cx="82080" cy="82080"/>
          </a:xfrm>
          <a:prstGeom prst="ellipse">
            <a:avLst/>
          </a:prstGeom>
          <a:solidFill>
            <a:srgbClr val="6B7A7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2"/>
          <p:cNvSpPr/>
          <p:nvPr/>
        </p:nvSpPr>
        <p:spPr>
          <a:xfrm>
            <a:off x="1161360" y="3163680"/>
            <a:ext cx="27885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Skip notes in the user's own words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3"/>
          <p:cNvSpPr/>
          <p:nvPr/>
        </p:nvSpPr>
        <p:spPr>
          <a:xfrm>
            <a:off x="951120" y="3721680"/>
            <a:ext cx="82080" cy="82080"/>
          </a:xfrm>
          <a:prstGeom prst="ellipse">
            <a:avLst/>
          </a:prstGeom>
          <a:solidFill>
            <a:srgbClr val="6B7A7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4"/>
          <p:cNvSpPr/>
          <p:nvPr/>
        </p:nvSpPr>
        <p:spPr>
          <a:xfrm>
            <a:off x="1161360" y="3639240"/>
            <a:ext cx="27885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Energy · difficulty · hunger ratings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5"/>
          <p:cNvSpPr/>
          <p:nvPr/>
        </p:nvSpPr>
        <p:spPr>
          <a:xfrm>
            <a:off x="4498920" y="1627560"/>
            <a:ext cx="3565800" cy="260568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6"/>
          <p:cNvSpPr/>
          <p:nvPr/>
        </p:nvSpPr>
        <p:spPr>
          <a:xfrm>
            <a:off x="4773240" y="182880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What must come out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7"/>
          <p:cNvSpPr/>
          <p:nvPr/>
        </p:nvSpPr>
        <p:spPr>
          <a:xfrm>
            <a:off x="4791600" y="2295000"/>
            <a:ext cx="82080" cy="82080"/>
          </a:xfrm>
          <a:prstGeom prst="ellipse">
            <a:avLst/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8"/>
          <p:cNvSpPr/>
          <p:nvPr/>
        </p:nvSpPr>
        <p:spPr>
          <a:xfrm>
            <a:off x="5001840" y="2212920"/>
            <a:ext cx="27885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A why on every single item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9"/>
          <p:cNvSpPr/>
          <p:nvPr/>
        </p:nvSpPr>
        <p:spPr>
          <a:xfrm>
            <a:off x="4791600" y="2770560"/>
            <a:ext cx="82080" cy="82080"/>
          </a:xfrm>
          <a:prstGeom prst="ellipse">
            <a:avLst/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0"/>
          <p:cNvSpPr/>
          <p:nvPr/>
        </p:nvSpPr>
        <p:spPr>
          <a:xfrm>
            <a:off x="5001840" y="2688480"/>
            <a:ext cx="27885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A rationale for the whole day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1"/>
          <p:cNvSpPr/>
          <p:nvPr/>
        </p:nvSpPr>
        <p:spPr>
          <a:xfrm>
            <a:off x="4791600" y="3246120"/>
            <a:ext cx="82080" cy="82080"/>
          </a:xfrm>
          <a:prstGeom prst="ellipse">
            <a:avLst/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2"/>
          <p:cNvSpPr/>
          <p:nvPr/>
        </p:nvSpPr>
        <p:spPr>
          <a:xfrm>
            <a:off x="5001840" y="3163680"/>
            <a:ext cx="27885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An adjustmentNote naming the change AND its evidence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3"/>
          <p:cNvSpPr/>
          <p:nvPr/>
        </p:nvSpPr>
        <p:spPr>
          <a:xfrm>
            <a:off x="4791600" y="3721680"/>
            <a:ext cx="82080" cy="82080"/>
          </a:xfrm>
          <a:prstGeom prst="ellipse">
            <a:avLst/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4"/>
          <p:cNvSpPr/>
          <p:nvPr/>
        </p:nvSpPr>
        <p:spPr>
          <a:xfrm>
            <a:off x="5001840" y="3639240"/>
            <a:ext cx="278856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Never re-issue a missed item unchanged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5"/>
          <p:cNvSpPr/>
          <p:nvPr/>
        </p:nvSpPr>
        <p:spPr>
          <a:xfrm>
            <a:off x="4316040" y="2797920"/>
            <a:ext cx="328680" cy="1825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6"/>
          <p:cNvSpPr/>
          <p:nvPr/>
        </p:nvSpPr>
        <p:spPr>
          <a:xfrm>
            <a:off x="8339400" y="1627560"/>
            <a:ext cx="3200040" cy="2605680"/>
          </a:xfrm>
          <a:prstGeom prst="roundRect">
            <a:avLst>
              <a:gd name="adj" fmla="val 2807"/>
            </a:avLst>
          </a:prstGeom>
          <a:solidFill>
            <a:srgbClr val="E8F2EC"/>
          </a:solidFill>
          <a:ln w="12700">
            <a:solidFill>
              <a:srgbClr val="C8DED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7"/>
          <p:cNvSpPr/>
          <p:nvPr/>
        </p:nvSpPr>
        <p:spPr>
          <a:xfrm>
            <a:off x="8613720" y="182880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3D28"/>
                </a:solidFill>
                <a:effectLst/>
                <a:uFillTx/>
                <a:latin typeface="Segoe UI"/>
                <a:ea typeface="Segoe UI"/>
              </a:rPr>
              <a:t>Never a blank day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8"/>
          <p:cNvSpPr/>
          <p:nvPr/>
        </p:nvSpPr>
        <p:spPr>
          <a:xfrm>
            <a:off x="8613720" y="221292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—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9"/>
          <p:cNvSpPr/>
          <p:nvPr/>
        </p:nvSpPr>
        <p:spPr>
          <a:xfrm>
            <a:off x="8823960" y="221292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2F6B4C"/>
                </a:solidFill>
                <a:effectLst/>
                <a:uFillTx/>
                <a:latin typeface="Segoe UI"/>
                <a:ea typeface="Segoe UI"/>
              </a:rPr>
              <a:t>Zod-validated JSON, corrective retry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0"/>
          <p:cNvSpPr/>
          <p:nvPr/>
        </p:nvSpPr>
        <p:spPr>
          <a:xfrm>
            <a:off x="8613720" y="268848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—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1"/>
          <p:cNvSpPr/>
          <p:nvPr/>
        </p:nvSpPr>
        <p:spPr>
          <a:xfrm>
            <a:off x="8823960" y="268848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2F6B4C"/>
                </a:solidFill>
                <a:effectLst/>
                <a:uFillTx/>
                <a:latin typeface="Segoe UI"/>
                <a:ea typeface="Segoe UI"/>
              </a:rPr>
              <a:t>Deterministic allergen gate over every meal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2"/>
          <p:cNvSpPr/>
          <p:nvPr/>
        </p:nvSpPr>
        <p:spPr>
          <a:xfrm>
            <a:off x="8613720" y="316368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—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3"/>
          <p:cNvSpPr/>
          <p:nvPr/>
        </p:nvSpPr>
        <p:spPr>
          <a:xfrm>
            <a:off x="8823960" y="316368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2F6B4C"/>
                </a:solidFill>
                <a:effectLst/>
                <a:uFillTx/>
                <a:latin typeface="Segoe UI"/>
                <a:ea typeface="Segoe UI"/>
              </a:rPr>
              <a:t>Rule-based planner takes over on any failure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4"/>
          <p:cNvSpPr/>
          <p:nvPr/>
        </p:nvSpPr>
        <p:spPr>
          <a:xfrm>
            <a:off x="8613720" y="363924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—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5"/>
          <p:cNvSpPr/>
          <p:nvPr/>
        </p:nvSpPr>
        <p:spPr>
          <a:xfrm>
            <a:off x="8823960" y="363924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2F6B4C"/>
                </a:solidFill>
                <a:effectLst/>
                <a:uFillTx/>
                <a:latin typeface="Segoe UI"/>
                <a:ea typeface="Segoe UI"/>
              </a:rPr>
              <a:t>Adherence is computed, never generated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36"/>
          <p:cNvSpPr/>
          <p:nvPr/>
        </p:nvSpPr>
        <p:spPr>
          <a:xfrm>
            <a:off x="658440" y="4443840"/>
            <a:ext cx="10881000" cy="1298160"/>
          </a:xfrm>
          <a:prstGeom prst="roundRect">
            <a:avLst>
              <a:gd name="adj" fmla="val 5634"/>
            </a:avLst>
          </a:prstGeom>
          <a:solidFill>
            <a:srgbClr val="17211C"/>
          </a:solidFill>
          <a:ln w="12700">
            <a:solidFill>
              <a:srgbClr val="17211C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37"/>
          <p:cNvSpPr/>
          <p:nvPr/>
        </p:nvSpPr>
        <p:spPr>
          <a:xfrm>
            <a:off x="960120" y="4617720"/>
            <a:ext cx="5486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119" strike="noStrike">
                <a:solidFill>
                  <a:srgbClr val="7FC2A0"/>
                </a:solidFill>
                <a:effectLst/>
                <a:uFillTx/>
                <a:latin typeface="Segoe UI"/>
                <a:ea typeface="Segoe UI"/>
              </a:rPr>
              <a:t>REAL OUTPUT  ·  plan.adjustmentNote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38"/>
          <p:cNvSpPr/>
          <p:nvPr/>
        </p:nvSpPr>
        <p:spPr>
          <a:xfrm>
            <a:off x="960120" y="4919400"/>
            <a:ext cx="102409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2299"/>
              </a:lnSpc>
              <a:tabLst>
                <a:tab pos="0" algn="l"/>
              </a:tabLst>
            </a:pPr>
            <a:r>
              <a:rPr lang="en-US" sz="1550" b="0" i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“Moved your workout from 08:00 to 19:00 — you skipped it on both mornings but noted evenings after 7 would work better.”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 0"/>
          <p:cNvSpPr/>
          <p:nvPr/>
        </p:nvSpPr>
        <p:spPr>
          <a:xfrm>
            <a:off x="640080" y="475560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D3DCD6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"/>
          <p:cNvSpPr/>
          <p:nvPr/>
        </p:nvSpPr>
        <p:spPr>
          <a:xfrm>
            <a:off x="1417320" y="567000"/>
            <a:ext cx="7314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59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LIVE DEMO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"/>
          <p:cNvSpPr/>
          <p:nvPr/>
        </p:nvSpPr>
        <p:spPr>
          <a:xfrm>
            <a:off x="1389960" y="80460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Three clicks, three proof points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3"/>
          <p:cNvSpPr/>
          <p:nvPr/>
        </p:nvSpPr>
        <p:spPr>
          <a:xfrm>
            <a:off x="658440" y="6272640"/>
            <a:ext cx="502560" cy="31680"/>
          </a:xfrm>
          <a:prstGeom prst="rect">
            <a:avLst/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12960" rIns="90000" bIns="-12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4"/>
          <p:cNvSpPr/>
          <p:nvPr/>
        </p:nvSpPr>
        <p:spPr>
          <a:xfrm>
            <a:off x="1325880" y="614484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WellPath AI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5"/>
          <p:cNvSpPr/>
          <p:nvPr/>
        </p:nvSpPr>
        <p:spPr>
          <a:xfrm>
            <a:off x="658440" y="1627560"/>
            <a:ext cx="3428640" cy="2651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6"/>
          <p:cNvSpPr/>
          <p:nvPr/>
        </p:nvSpPr>
        <p:spPr>
          <a:xfrm>
            <a:off x="932760" y="1874520"/>
            <a:ext cx="456840" cy="456840"/>
          </a:xfrm>
          <a:prstGeom prst="ellipse">
            <a:avLst/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7"/>
          <p:cNvSpPr/>
          <p:nvPr/>
        </p:nvSpPr>
        <p:spPr>
          <a:xfrm>
            <a:off x="932760" y="1974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8"/>
          <p:cNvSpPr/>
          <p:nvPr/>
        </p:nvSpPr>
        <p:spPr>
          <a:xfrm>
            <a:off x="932760" y="248724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Profile → plan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9"/>
          <p:cNvSpPr/>
          <p:nvPr/>
        </p:nvSpPr>
        <p:spPr>
          <a:xfrm>
            <a:off x="932760" y="2853000"/>
            <a:ext cx="2880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Register with a mobile, fill the profile, generate.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0"/>
          <p:cNvSpPr/>
          <p:nvPr/>
        </p:nvSpPr>
        <p:spPr>
          <a:xfrm>
            <a:off x="932760" y="3401640"/>
            <a:ext cx="2834280" cy="18000"/>
          </a:xfrm>
          <a:prstGeom prst="rect">
            <a:avLst/>
          </a:prstGeom>
          <a:solidFill>
            <a:srgbClr val="E4E8E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1"/>
          <p:cNvSpPr/>
          <p:nvPr/>
        </p:nvSpPr>
        <p:spPr>
          <a:xfrm>
            <a:off x="932760" y="3529440"/>
            <a:ext cx="2880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A full day of meals, hydration and movement — every item with a Why this? line.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2"/>
          <p:cNvSpPr/>
          <p:nvPr/>
        </p:nvSpPr>
        <p:spPr>
          <a:xfrm>
            <a:off x="4334400" y="1627560"/>
            <a:ext cx="3428640" cy="2651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3"/>
          <p:cNvSpPr/>
          <p:nvPr/>
        </p:nvSpPr>
        <p:spPr>
          <a:xfrm>
            <a:off x="4608720" y="1874520"/>
            <a:ext cx="456840" cy="456840"/>
          </a:xfrm>
          <a:prstGeom prst="ellipse">
            <a:avLst/>
          </a:prstGeom>
          <a:solidFill>
            <a:srgbClr val="C2703B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4"/>
          <p:cNvSpPr/>
          <p:nvPr/>
        </p:nvSpPr>
        <p:spPr>
          <a:xfrm>
            <a:off x="4608720" y="1974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5"/>
          <p:cNvSpPr/>
          <p:nvPr/>
        </p:nvSpPr>
        <p:spPr>
          <a:xfrm>
            <a:off x="4608720" y="248724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Miss → adapt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6"/>
          <p:cNvSpPr/>
          <p:nvPr/>
        </p:nvSpPr>
        <p:spPr>
          <a:xfrm>
            <a:off x="4608720" y="2853000"/>
            <a:ext cx="2880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Skip the workout, leave a note, generate tomorrow.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7"/>
          <p:cNvSpPr/>
          <p:nvPr/>
        </p:nvSpPr>
        <p:spPr>
          <a:xfrm>
            <a:off x="4608720" y="3401640"/>
            <a:ext cx="2834280" cy="18000"/>
          </a:xfrm>
          <a:prstGeom prst="rect">
            <a:avLst/>
          </a:prstGeom>
          <a:solidFill>
            <a:srgbClr val="E4E8E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8"/>
          <p:cNvSpPr/>
          <p:nvPr/>
        </p:nvSpPr>
        <p:spPr>
          <a:xfrm>
            <a:off x="4608720" y="3529440"/>
            <a:ext cx="2880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2703B"/>
                </a:solidFill>
                <a:effectLst/>
                <a:uFillTx/>
                <a:latin typeface="Segoe UI"/>
                <a:ea typeface="Segoe UI"/>
              </a:rPr>
              <a:t>The green What changed block names the miss and moves the item.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9"/>
          <p:cNvSpPr/>
          <p:nvPr/>
        </p:nvSpPr>
        <p:spPr>
          <a:xfrm>
            <a:off x="8010000" y="1627560"/>
            <a:ext cx="3428640" cy="2651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0"/>
          <p:cNvSpPr/>
          <p:nvPr/>
        </p:nvSpPr>
        <p:spPr>
          <a:xfrm>
            <a:off x="8284320" y="1874520"/>
            <a:ext cx="456840" cy="456840"/>
          </a:xfrm>
          <a:prstGeom prst="ellipse">
            <a:avLst/>
          </a:prstGeom>
          <a:solidFill>
            <a:srgbClr val="2B7FA8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1"/>
          <p:cNvSpPr/>
          <p:nvPr/>
        </p:nvSpPr>
        <p:spPr>
          <a:xfrm>
            <a:off x="8284320" y="197496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2"/>
          <p:cNvSpPr/>
          <p:nvPr/>
        </p:nvSpPr>
        <p:spPr>
          <a:xfrm>
            <a:off x="8284320" y="248724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Due → phone rings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3"/>
          <p:cNvSpPr/>
          <p:nvPr/>
        </p:nvSpPr>
        <p:spPr>
          <a:xfrm>
            <a:off x="8284320" y="2853000"/>
            <a:ext cx="2880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Reminder calls on, then Call now.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4"/>
          <p:cNvSpPr/>
          <p:nvPr/>
        </p:nvSpPr>
        <p:spPr>
          <a:xfrm>
            <a:off x="8284320" y="3401640"/>
            <a:ext cx="2834280" cy="18000"/>
          </a:xfrm>
          <a:prstGeom prst="rect">
            <a:avLst/>
          </a:prstGeom>
          <a:solidFill>
            <a:srgbClr val="E4E8E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5"/>
          <p:cNvSpPr/>
          <p:nvPr/>
        </p:nvSpPr>
        <p:spPr>
          <a:xfrm>
            <a:off x="8284320" y="3529440"/>
            <a:ext cx="2880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B7FA8"/>
                </a:solidFill>
                <a:effectLst/>
                <a:uFillTx/>
                <a:latin typeface="Segoe UI"/>
                <a:ea typeface="Segoe UI"/>
              </a:rPr>
              <a:t>Two seconds of silence, then the Gujarati reminder, then it hangs up.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6"/>
          <p:cNvSpPr/>
          <p:nvPr/>
        </p:nvSpPr>
        <p:spPr>
          <a:xfrm>
            <a:off x="658440" y="4517280"/>
            <a:ext cx="10881000" cy="1225080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7"/>
          <p:cNvSpPr/>
          <p:nvPr/>
        </p:nvSpPr>
        <p:spPr>
          <a:xfrm>
            <a:off x="914400" y="4754880"/>
            <a:ext cx="45360" cy="731160"/>
          </a:xfrm>
          <a:prstGeom prst="roundRect">
            <a:avLst>
              <a:gd name="adj" fmla="val 1000000"/>
            </a:avLst>
          </a:prstGeom>
          <a:solidFill>
            <a:srgbClr val="9A6A17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8"/>
          <p:cNvSpPr/>
          <p:nvPr/>
        </p:nvSpPr>
        <p:spPr>
          <a:xfrm>
            <a:off x="1152000" y="4718160"/>
            <a:ext cx="5943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And the plan will not simply hand itself over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9"/>
          <p:cNvSpPr/>
          <p:nvPr/>
        </p:nvSpPr>
        <p:spPr>
          <a:xfrm>
            <a:off x="1152000" y="5047560"/>
            <a:ext cx="10149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A new day is only generated once the previous day reaches 80% completion. Below that the day is locked, the shortfall is shown, and the score is live — finish the day and it unlocks itself.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640080" y="475560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D3DCD6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1417320" y="567000"/>
            <a:ext cx="7314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59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ARCHITECTURE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"/>
          <p:cNvSpPr/>
          <p:nvPr/>
        </p:nvSpPr>
        <p:spPr>
          <a:xfrm>
            <a:off x="1389960" y="80460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One process, one file, three services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3"/>
          <p:cNvSpPr/>
          <p:nvPr/>
        </p:nvSpPr>
        <p:spPr>
          <a:xfrm>
            <a:off x="658440" y="6272640"/>
            <a:ext cx="502560" cy="31680"/>
          </a:xfrm>
          <a:prstGeom prst="rect">
            <a:avLst/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12960" rIns="90000" bIns="-12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1325880" y="614484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WellPath AI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658440" y="1865520"/>
            <a:ext cx="1188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19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CLIENT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6"/>
          <p:cNvSpPr/>
          <p:nvPr/>
        </p:nvSpPr>
        <p:spPr>
          <a:xfrm>
            <a:off x="1920240" y="162756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7"/>
          <p:cNvSpPr/>
          <p:nvPr/>
        </p:nvSpPr>
        <p:spPr>
          <a:xfrm>
            <a:off x="2084760" y="182880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8"/>
          <p:cNvSpPr/>
          <p:nvPr/>
        </p:nvSpPr>
        <p:spPr>
          <a:xfrm>
            <a:off x="2249280" y="18655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Next.js 16 · React 19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9"/>
          <p:cNvSpPr/>
          <p:nvPr/>
        </p:nvSpPr>
        <p:spPr>
          <a:xfrm>
            <a:off x="4297680" y="162756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0"/>
          <p:cNvSpPr/>
          <p:nvPr/>
        </p:nvSpPr>
        <p:spPr>
          <a:xfrm>
            <a:off x="4462200" y="182880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1"/>
          <p:cNvSpPr/>
          <p:nvPr/>
        </p:nvSpPr>
        <p:spPr>
          <a:xfrm>
            <a:off x="4626720" y="18655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Server components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2"/>
          <p:cNvSpPr/>
          <p:nvPr/>
        </p:nvSpPr>
        <p:spPr>
          <a:xfrm>
            <a:off x="6675120" y="162756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3"/>
          <p:cNvSpPr/>
          <p:nvPr/>
        </p:nvSpPr>
        <p:spPr>
          <a:xfrm>
            <a:off x="6839640" y="182880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4"/>
          <p:cNvSpPr/>
          <p:nvPr/>
        </p:nvSpPr>
        <p:spPr>
          <a:xfrm>
            <a:off x="7004160" y="18655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Tailwind v4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5"/>
          <p:cNvSpPr/>
          <p:nvPr/>
        </p:nvSpPr>
        <p:spPr>
          <a:xfrm>
            <a:off x="658440" y="2724840"/>
            <a:ext cx="1188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19" strike="noStrike">
                <a:solidFill>
                  <a:srgbClr val="2B7FA8"/>
                </a:solidFill>
                <a:effectLst/>
                <a:uFillTx/>
                <a:latin typeface="Segoe UI"/>
                <a:ea typeface="Segoe UI"/>
              </a:rPr>
              <a:t>SERVER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6"/>
          <p:cNvSpPr/>
          <p:nvPr/>
        </p:nvSpPr>
        <p:spPr>
          <a:xfrm>
            <a:off x="1920240" y="248724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7"/>
          <p:cNvSpPr/>
          <p:nvPr/>
        </p:nvSpPr>
        <p:spPr>
          <a:xfrm>
            <a:off x="2084760" y="268848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2B7FA8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8"/>
          <p:cNvSpPr/>
          <p:nvPr/>
        </p:nvSpPr>
        <p:spPr>
          <a:xfrm>
            <a:off x="2249280" y="272484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Route handlers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9"/>
          <p:cNvSpPr/>
          <p:nvPr/>
        </p:nvSpPr>
        <p:spPr>
          <a:xfrm>
            <a:off x="4297680" y="248724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0"/>
          <p:cNvSpPr/>
          <p:nvPr/>
        </p:nvSpPr>
        <p:spPr>
          <a:xfrm>
            <a:off x="4462200" y="268848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2B7FA8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1"/>
          <p:cNvSpPr/>
          <p:nvPr/>
        </p:nvSpPr>
        <p:spPr>
          <a:xfrm>
            <a:off x="4626720" y="272484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scrypt auth + sessions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2"/>
          <p:cNvSpPr/>
          <p:nvPr/>
        </p:nvSpPr>
        <p:spPr>
          <a:xfrm>
            <a:off x="6675120" y="248724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3"/>
          <p:cNvSpPr/>
          <p:nvPr/>
        </p:nvSpPr>
        <p:spPr>
          <a:xfrm>
            <a:off x="6839640" y="268848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2B7FA8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4"/>
          <p:cNvSpPr/>
          <p:nvPr/>
        </p:nvSpPr>
        <p:spPr>
          <a:xfrm>
            <a:off x="7004160" y="272484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/telephony webhooks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5"/>
          <p:cNvSpPr/>
          <p:nvPr/>
        </p:nvSpPr>
        <p:spPr>
          <a:xfrm>
            <a:off x="658440" y="3584520"/>
            <a:ext cx="1188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19" strike="noStrike">
                <a:solidFill>
                  <a:srgbClr val="C2703B"/>
                </a:solidFill>
                <a:effectLst/>
                <a:uFillTx/>
                <a:latin typeface="Segoe UI"/>
                <a:ea typeface="Segoe UI"/>
              </a:rPr>
              <a:t>DOMAIN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6"/>
          <p:cNvSpPr/>
          <p:nvPr/>
        </p:nvSpPr>
        <p:spPr>
          <a:xfrm>
            <a:off x="1920240" y="334656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7"/>
          <p:cNvSpPr/>
          <p:nvPr/>
        </p:nvSpPr>
        <p:spPr>
          <a:xfrm>
            <a:off x="2084760" y="354780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C2703B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8"/>
          <p:cNvSpPr/>
          <p:nvPr/>
        </p:nvSpPr>
        <p:spPr>
          <a:xfrm>
            <a:off x="2249280" y="35845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adherence.ts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9"/>
          <p:cNvSpPr/>
          <p:nvPr/>
        </p:nvSpPr>
        <p:spPr>
          <a:xfrm>
            <a:off x="4297680" y="334656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30"/>
          <p:cNvSpPr/>
          <p:nvPr/>
        </p:nvSpPr>
        <p:spPr>
          <a:xfrm>
            <a:off x="4462200" y="354780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C2703B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1"/>
          <p:cNvSpPr/>
          <p:nvPr/>
        </p:nvSpPr>
        <p:spPr>
          <a:xfrm>
            <a:off x="4626720" y="35845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planGate.ts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2"/>
          <p:cNvSpPr/>
          <p:nvPr/>
        </p:nvSpPr>
        <p:spPr>
          <a:xfrm>
            <a:off x="6675120" y="334656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33"/>
          <p:cNvSpPr/>
          <p:nvPr/>
        </p:nvSpPr>
        <p:spPr>
          <a:xfrm>
            <a:off x="6839640" y="354780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C2703B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4"/>
          <p:cNvSpPr/>
          <p:nvPr/>
        </p:nvSpPr>
        <p:spPr>
          <a:xfrm>
            <a:off x="7004160" y="35845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reminder scheduler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5"/>
          <p:cNvSpPr/>
          <p:nvPr/>
        </p:nvSpPr>
        <p:spPr>
          <a:xfrm>
            <a:off x="658440" y="4443840"/>
            <a:ext cx="1188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19" strike="noStrike">
                <a:solidFill>
                  <a:srgbClr val="9C3F6D"/>
                </a:solidFill>
                <a:effectLst/>
                <a:uFillTx/>
                <a:latin typeface="Segoe UI"/>
                <a:ea typeface="Segoe UI"/>
              </a:rPr>
              <a:t>DATA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6"/>
          <p:cNvSpPr/>
          <p:nvPr/>
        </p:nvSpPr>
        <p:spPr>
          <a:xfrm>
            <a:off x="1920240" y="420624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37"/>
          <p:cNvSpPr/>
          <p:nvPr/>
        </p:nvSpPr>
        <p:spPr>
          <a:xfrm>
            <a:off x="2084760" y="440748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9C3F6D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38"/>
          <p:cNvSpPr/>
          <p:nvPr/>
        </p:nvSpPr>
        <p:spPr>
          <a:xfrm>
            <a:off x="2249280" y="444384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Prisma 7 · SQLite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39"/>
          <p:cNvSpPr/>
          <p:nvPr/>
        </p:nvSpPr>
        <p:spPr>
          <a:xfrm>
            <a:off x="4297680" y="420624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40"/>
          <p:cNvSpPr/>
          <p:nvPr/>
        </p:nvSpPr>
        <p:spPr>
          <a:xfrm>
            <a:off x="4462200" y="440748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9C3F6D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1"/>
          <p:cNvSpPr/>
          <p:nvPr/>
        </p:nvSpPr>
        <p:spPr>
          <a:xfrm>
            <a:off x="4626720" y="444384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9 models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42"/>
          <p:cNvSpPr/>
          <p:nvPr/>
        </p:nvSpPr>
        <p:spPr>
          <a:xfrm>
            <a:off x="6675120" y="4206240"/>
            <a:ext cx="2212560" cy="6944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43"/>
          <p:cNvSpPr/>
          <p:nvPr/>
        </p:nvSpPr>
        <p:spPr>
          <a:xfrm>
            <a:off x="6839640" y="4407480"/>
            <a:ext cx="40680" cy="292320"/>
          </a:xfrm>
          <a:prstGeom prst="roundRect">
            <a:avLst>
              <a:gd name="adj" fmla="val 1111111"/>
            </a:avLst>
          </a:prstGeom>
          <a:solidFill>
            <a:srgbClr val="9C3F6D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44"/>
          <p:cNvSpPr/>
          <p:nvPr/>
        </p:nvSpPr>
        <p:spPr>
          <a:xfrm>
            <a:off x="7004160" y="444384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dev.db on disk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5"/>
          <p:cNvSpPr/>
          <p:nvPr/>
        </p:nvSpPr>
        <p:spPr>
          <a:xfrm>
            <a:off x="658440" y="5193720"/>
            <a:ext cx="1188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19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EXTERNAL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46"/>
          <p:cNvSpPr/>
          <p:nvPr/>
        </p:nvSpPr>
        <p:spPr>
          <a:xfrm>
            <a:off x="1920240" y="5029200"/>
            <a:ext cx="306288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47"/>
          <p:cNvSpPr/>
          <p:nvPr/>
        </p:nvSpPr>
        <p:spPr>
          <a:xfrm>
            <a:off x="2103120" y="5230440"/>
            <a:ext cx="40680" cy="347040"/>
          </a:xfrm>
          <a:prstGeom prst="roundRect">
            <a:avLst>
              <a:gd name="adj" fmla="val 1111111"/>
            </a:avLst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8"/>
          <p:cNvSpPr/>
          <p:nvPr/>
        </p:nvSpPr>
        <p:spPr>
          <a:xfrm>
            <a:off x="2267640" y="5193720"/>
            <a:ext cx="26514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OpenAI  gpt-4o-mini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49"/>
          <p:cNvSpPr/>
          <p:nvPr/>
        </p:nvSpPr>
        <p:spPr>
          <a:xfrm>
            <a:off x="2267640" y="5413320"/>
            <a:ext cx="2651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plan · summary · coach · Gujarati line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50"/>
          <p:cNvSpPr/>
          <p:nvPr/>
        </p:nvSpPr>
        <p:spPr>
          <a:xfrm>
            <a:off x="5148000" y="5029200"/>
            <a:ext cx="306288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51"/>
          <p:cNvSpPr/>
          <p:nvPr/>
        </p:nvSpPr>
        <p:spPr>
          <a:xfrm>
            <a:off x="5330880" y="5230440"/>
            <a:ext cx="40680" cy="347040"/>
          </a:xfrm>
          <a:prstGeom prst="roundRect">
            <a:avLst>
              <a:gd name="adj" fmla="val 1111111"/>
            </a:avLst>
          </a:prstGeom>
          <a:solidFill>
            <a:srgbClr val="2B7FA8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52"/>
          <p:cNvSpPr/>
          <p:nvPr/>
        </p:nvSpPr>
        <p:spPr>
          <a:xfrm>
            <a:off x="5495400" y="5193720"/>
            <a:ext cx="26514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Sarvam  bulbul:v3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53"/>
          <p:cNvSpPr/>
          <p:nvPr/>
        </p:nvSpPr>
        <p:spPr>
          <a:xfrm>
            <a:off x="5495400" y="5413320"/>
            <a:ext cx="2651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Gujarati speech at 8 kHz, telephony-native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54"/>
          <p:cNvSpPr/>
          <p:nvPr/>
        </p:nvSpPr>
        <p:spPr>
          <a:xfrm>
            <a:off x="8375760" y="5029200"/>
            <a:ext cx="3062880" cy="74952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55"/>
          <p:cNvSpPr/>
          <p:nvPr/>
        </p:nvSpPr>
        <p:spPr>
          <a:xfrm>
            <a:off x="8558640" y="5230440"/>
            <a:ext cx="40680" cy="347040"/>
          </a:xfrm>
          <a:prstGeom prst="roundRect">
            <a:avLst>
              <a:gd name="adj" fmla="val 1111111"/>
            </a:avLst>
          </a:prstGeom>
          <a:solidFill>
            <a:srgbClr val="9C3F6D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56"/>
          <p:cNvSpPr/>
          <p:nvPr/>
        </p:nvSpPr>
        <p:spPr>
          <a:xfrm>
            <a:off x="8723520" y="5193720"/>
            <a:ext cx="26514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Vobiz  Voice API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57"/>
          <p:cNvSpPr/>
          <p:nvPr/>
        </p:nvSpPr>
        <p:spPr>
          <a:xfrm>
            <a:off x="8723520" y="5413320"/>
            <a:ext cx="2651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2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outbound call · XML · ngrok in dev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58"/>
          <p:cNvSpPr/>
          <p:nvPr/>
        </p:nvSpPr>
        <p:spPr>
          <a:xfrm>
            <a:off x="1920240" y="5943600"/>
            <a:ext cx="9600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Every one of the three has a fallback. None of them can produce a blank day.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640080" y="475560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D3DCD6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1417320" y="567000"/>
            <a:ext cx="7314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159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IMPACT &amp; LIMITS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1389960" y="80460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What it changes — and what it deliberately will not do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658440" y="6272640"/>
            <a:ext cx="502560" cy="31680"/>
          </a:xfrm>
          <a:prstGeom prst="rect">
            <a:avLst/>
          </a:prstGeom>
          <a:solidFill>
            <a:srgbClr val="1F6F4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12960" rIns="90000" bIns="-12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1325880" y="614484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WellPath AI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658440" y="1627560"/>
            <a:ext cx="2742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19" strike="noStrike">
                <a:solidFill>
                  <a:srgbClr val="1F6F4A"/>
                </a:solidFill>
                <a:effectLst/>
                <a:uFillTx/>
                <a:latin typeface="Segoe UI"/>
                <a:ea typeface="Segoe UI"/>
              </a:rPr>
              <a:t>IMPACT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6"/>
          <p:cNvSpPr/>
          <p:nvPr/>
        </p:nvSpPr>
        <p:spPr>
          <a:xfrm>
            <a:off x="658440" y="1938600"/>
            <a:ext cx="539460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7"/>
          <p:cNvSpPr/>
          <p:nvPr/>
        </p:nvSpPr>
        <p:spPr>
          <a:xfrm>
            <a:off x="932760" y="2084760"/>
            <a:ext cx="4845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Reaches people an app cannot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8"/>
          <p:cNvSpPr/>
          <p:nvPr/>
        </p:nvSpPr>
        <p:spPr>
          <a:xfrm>
            <a:off x="932760" y="2359080"/>
            <a:ext cx="49374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A Gujarati voice call lands with users who will never open an English wellness app twice a day.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9"/>
          <p:cNvSpPr/>
          <p:nvPr/>
        </p:nvSpPr>
        <p:spPr>
          <a:xfrm>
            <a:off x="658440" y="2980800"/>
            <a:ext cx="539460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0"/>
          <p:cNvSpPr/>
          <p:nvPr/>
        </p:nvSpPr>
        <p:spPr>
          <a:xfrm>
            <a:off x="932760" y="3127320"/>
            <a:ext cx="4845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Turns a miss into information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1"/>
          <p:cNvSpPr/>
          <p:nvPr/>
        </p:nvSpPr>
        <p:spPr>
          <a:xfrm>
            <a:off x="932760" y="3401640"/>
            <a:ext cx="49374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A skipped item is evidence that rewrites tomorrow, not a red mark on a streak.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2"/>
          <p:cNvSpPr/>
          <p:nvPr/>
        </p:nvSpPr>
        <p:spPr>
          <a:xfrm>
            <a:off x="658440" y="4023360"/>
            <a:ext cx="539460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3"/>
          <p:cNvSpPr/>
          <p:nvPr/>
        </p:nvSpPr>
        <p:spPr>
          <a:xfrm>
            <a:off x="932760" y="4169520"/>
            <a:ext cx="4845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Explains every number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4"/>
          <p:cNvSpPr/>
          <p:nvPr/>
        </p:nvSpPr>
        <p:spPr>
          <a:xfrm>
            <a:off x="932760" y="4443840"/>
            <a:ext cx="49374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Adherence is computed from check-in rows, so the score on screen is the score the AI reasons over.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5"/>
          <p:cNvSpPr/>
          <p:nvPr/>
        </p:nvSpPr>
        <p:spPr>
          <a:xfrm>
            <a:off x="6346080" y="1627560"/>
            <a:ext cx="2742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19" strike="noStrike">
                <a:solidFill>
                  <a:srgbClr val="9A6A17"/>
                </a:solidFill>
                <a:effectLst/>
                <a:uFillTx/>
                <a:latin typeface="Segoe UI"/>
                <a:ea typeface="Segoe UI"/>
              </a:rPr>
              <a:t>LIMITS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6"/>
          <p:cNvSpPr/>
          <p:nvPr/>
        </p:nvSpPr>
        <p:spPr>
          <a:xfrm>
            <a:off x="6346080" y="1938600"/>
            <a:ext cx="519336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7"/>
          <p:cNvSpPr/>
          <p:nvPr/>
        </p:nvSpPr>
        <p:spPr>
          <a:xfrm>
            <a:off x="6620400" y="2084760"/>
            <a:ext cx="4663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Not medical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8"/>
          <p:cNvSpPr/>
          <p:nvPr/>
        </p:nvSpPr>
        <p:spPr>
          <a:xfrm>
            <a:off x="6620400" y="2359080"/>
            <a:ext cx="47545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No diagnosis, no medication, no symptom reading. Red-flag input is blocked before it reaches the model.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9"/>
          <p:cNvSpPr/>
          <p:nvPr/>
        </p:nvSpPr>
        <p:spPr>
          <a:xfrm>
            <a:off x="6346080" y="2980800"/>
            <a:ext cx="519336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0"/>
          <p:cNvSpPr/>
          <p:nvPr/>
        </p:nvSpPr>
        <p:spPr>
          <a:xfrm>
            <a:off x="6620400" y="3127320"/>
            <a:ext cx="4663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Single device today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1"/>
          <p:cNvSpPr/>
          <p:nvPr/>
        </p:nvSpPr>
        <p:spPr>
          <a:xfrm>
            <a:off x="6620400" y="3401640"/>
            <a:ext cx="47545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SQLite on disk, one process. Fine for a demo, not yet for scale.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22"/>
          <p:cNvSpPr/>
          <p:nvPr/>
        </p:nvSpPr>
        <p:spPr>
          <a:xfrm>
            <a:off x="6346080" y="4023360"/>
            <a:ext cx="519336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E2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3"/>
          <p:cNvSpPr/>
          <p:nvPr/>
        </p:nvSpPr>
        <p:spPr>
          <a:xfrm>
            <a:off x="6620400" y="4169520"/>
            <a:ext cx="4663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211C"/>
                </a:solidFill>
                <a:effectLst/>
                <a:uFillTx/>
                <a:latin typeface="Segoe UI"/>
                <a:ea typeface="Segoe UI"/>
              </a:rPr>
              <a:t>Calls need a tunnel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4"/>
          <p:cNvSpPr/>
          <p:nvPr/>
        </p:nvSpPr>
        <p:spPr>
          <a:xfrm>
            <a:off x="6620400" y="4443840"/>
            <a:ext cx="47545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ts val="1451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B7A72"/>
                </a:solidFill>
                <a:effectLst/>
                <a:uFillTx/>
                <a:latin typeface="Segoe UI"/>
                <a:ea typeface="Segoe UI"/>
              </a:rPr>
              <a:t>Vobiz must reach a public https URL; on a laptop that is ngrok.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5"/>
          <p:cNvSpPr/>
          <p:nvPr/>
        </p:nvSpPr>
        <p:spPr>
          <a:xfrm>
            <a:off x="658440" y="5139000"/>
            <a:ext cx="10881000" cy="712800"/>
          </a:xfrm>
          <a:prstGeom prst="roundRect">
            <a:avLst>
              <a:gd name="adj" fmla="val 10256"/>
            </a:avLst>
          </a:prstGeom>
          <a:solidFill>
            <a:srgbClr val="0F3D28"/>
          </a:solidFill>
          <a:ln w="12700">
            <a:solidFill>
              <a:srgbClr val="0F3D28"/>
            </a:solidFill>
            <a:round/>
          </a:ln>
          <a:effectLst>
            <a:outerShdw algn="bl" blurRad="101520" dir="16200000" dist="50760" kx="0" ky="0" rotWithShape="0" sx="100000" sy="100000">
              <a:srgbClr val="000000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6"/>
          <p:cNvSpPr/>
          <p:nvPr/>
        </p:nvSpPr>
        <p:spPr>
          <a:xfrm>
            <a:off x="960120" y="5358240"/>
            <a:ext cx="6949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General wellness only — it never claims to replace a qualified professional.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7"/>
          <p:cNvSpPr/>
          <p:nvPr/>
        </p:nvSpPr>
        <p:spPr>
          <a:xfrm>
            <a:off x="7680960" y="53766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FC7AB"/>
                </a:solidFill>
                <a:effectLst/>
                <a:uFillTx/>
                <a:latin typeface="Segoe UI"/>
                <a:ea typeface="Segoe UI"/>
              </a:rPr>
              <a:t>github.com/Dhruvil1308/Personal-Wellness-Planning-Adherence-Coach---Track-2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LibreOffice/26.2.4.2$Linux_X86_64 LibreOffice_project/620$Build-2</Application>
  <AppVersion>15.0000</AppVersion>
  <Words>0</Words>
  <Paragraphs>0</Paragraphs>
  <Company>Hack The Stack — August 2026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2026-08-08T09:42:01Z</dcterms:created>
  <dc:creator>PptxGenJS</dc:creator>
  <dc:description/>
  <dc:language>en-US</dc:language>
  <cp:lastModifiedBy>PptxGenJS</cp:lastModifiedBy>
  <dcterms:modified xsi:type="dcterms:W3CDTF">2026-08-08T09:42:01Z</dcterms:modified>
  <cp:revision>1</cp:revision>
  <dc:subject>PptxGenJS Presentation</dc:subject>
  <dc:title>WellPath AI — Finalist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On-screen Show (16:9)</vt:lpwstr>
  </property>
  <property fmtid="{D5CDD505-2E9C-101B-9397-08002B2CF9AE}" pid="4" name="Slides">
    <vt:i4>5</vt:i4>
  </property>
</Properties>
</file>